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gap directly: they know C, they don't yet know C++, and that's completely normal — this course exists because most crash courses skip straight to STL tricks and leave syntax gaps that bite later in interviews. Walk through the roadmap briefly: seven days, each day pairing naturally with the next day's topics. Set the expectation that Day 1 is deliberately slow — comfort with ordinary C++ programs before any DSA pattern is introduced. Mention this deck pairs with a companion practice pack (full question ladder, cheat sheet, and 7-day plan) for revision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longest day by slide count and that's intentional — it covers nine of the original thirty-three sections because everything downstream depends on this vocabulary feeling automatic. Set expectations up front: today will feel slower than a typical 'crash course' on purpose. Resist pressure to speed up even if some students already know parts of this from C; the specific C++ gotchas (integer division, the getline trap, = vs ==) are worth full attention even for confident students, since they're exactly the bugs that cost time in an actual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most of this slide on the comparison table — most students already sense C++ is 'better' but can't articulate why. Walk each row: printf/scanf vs cout/cin is mostly ergonomic, but std::string and std::vector are the two changes that will save the most debugging time later. Emphasise the 'not C with classes' framing explicitly — many students carry a vague, dismissive idea of C++ from secondhand opinions, and this reframes it as an upgrade rather than a different language to fear. No exercise here — this is context-setting.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have compiled before, some haven't — ask the room. The core misconception to correct: an IDE (VS Code) is not a compiler. Walk the pipeline diagram left to right slowly: source file, then compiler translates once, producing a standalone executable, which can then be run repeatedly. If anyone is on Windows, point out the .exe difference explicitly. Pause here if anyone hasn't compiled anything yet — get them to run the two-line command sequence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first win — get Hello World running before diving into theory. Go line by line exactly as listed; do not skip 'why does this line exist,' because assuming it's obvious is exactly the trap this course avoids. When you reach using namespace std;, don't rush past it as boilerplate — ask 'what happens without it?' and show std::cout as the answer. The explicit version on the right is worth typing live if possible, so students see both compile identically. Common doubt: 'why is std:: sometimes required and sometimes not?' — namespaces are a scope, not a naming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Comments are quick — most students transfer this understanding from C immediately. Spend the real time on Input → Process → Output; this three-beat rhythm will recur in almost every program for the rest of the course, so naming it explicitly here pays off. Walk the add-two-numbers example against the rhythm out loud: which lines are declarations, which are input, which are processing, which are output. Pause for the mini exercise (add product and difference) — it's short but confirms the rhythm actually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memory-box metaphor is the single most useful mental model in this whole day — return to it whenever a student is confused about why a value changed unexpectedly. Physically point at the box diagram: declaring reserves the box, initialising fills it immediately, assigning later replaces its contents. Emphasise the difference between int age; (empty box, danger) and int age = 20; (safe). Common doubt: 'what's actually inside an uninitialised box?' — whatever bytes were already there; it's not zero by default in local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reference slide — students won't retain the byte sizes on first pass, and that's fine; the important habit is 'when in doubt, sizeof() it.' Spend real time on why long long matters: many DSA answers overflow a 32-bit int (values above ~2.1 billion) and the failure is silent, not a crash — the number just wraps around to something wrong. On constants: ask 'why not just write 3.14159 everywhere?' and let students arrive at readability and single-point-of-change themselves. Clarify 'A' vs "A" with a quick show of hands on which one they'd have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the two-input example if possible — chaining cin &gt;&gt; a &gt;&gt; b surprises some C programmers used to separate scanf calls. Endl vs '\n' is a small point but worth making explicit: endl flushes the output buffer every time, which is measurably slower in long loops, so DSA code defaults to '\n'. The getline trap is the important part of this slide — demonstrate it live if you can: read an int, then immediately call getline(), and watch it silently grab an empty line. Then show cin.ignore() fixing it. This bug costs students real time in early assignments, so don't rush this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predicts 5/2 correctly if asked in words ('two point five') and then gets surprised when the code prints 2 — use that gap deliberately. Walk through why: both operands are int, so C++ performs integer division and truncates, it does not round. Then show 5.0/2 fixing it by making one operand a double. The modulus operator is usually intuitive from C, so don't over-explain it — just confirm the pattern with 7 % 3. This slide's callout is the one to circle back to anytime a later dry run produces an unexpected whole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table transfers directly from C, so move at a brisk pace until the precedence and assignment/comparison points. Prefix vs postfix (++x vs x++) is worth a live trace: show a variable used in a print statement alongside the increment to see the different orderings. The if (x = 5) mistake deserves a full pause — write it on the board, ask what students expect it to do, then reveal it compiles and is always true. This is one of the highest-value 'gotcha' moments in the whole course because it's silent — no error, no warning, just wrong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 implicit conversion is intuitive once integer division has already been covered. The real payload is static_cast&lt;double&gt;(a) / b as the standard, readable fix for the integer division problem from two slides ago; tie the two together explicitly. Mention old C-style casts like (double)a still compile but are discouraged in modern C++ because they hide what's being converted and can silently do the wrong thing on more complex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connecting today back to yesterday: operators and variables were the vocabulary, today is the first real grammar — decisions and repetition. If students are itching to start 'real DSA,' reassure them that dry-running loops on paper today is DSA practice, just without the label yet. The for-loop dry-run slide later today is worth protecting time for; it's the single highest-leverage habit in this whole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run the largest-of-three example on the board together, tracking each condition's true/false value before revealing the table — this builds the tracing habit that pays off hugely once loops and recursion appear. The = vs == callout deserves the same treatment as the operators slide: write if (x = 5) and ask what the room expects before revealing that it silently succeeds. Practice examples to assign: even/odd check, sign of a number, largest of two numbers — quick wins to build confidence before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is often new syntax even for C-trained students who mostly used if-else. Walk the fall-through behaviour explicitly by asking 'what happens if I remove this break?' and tracing execution into the next case. The mini calculator example is a good place to pause and let students extend it with a fourth operation (division) themselves — it's a natural next step and confirms the syntax landed. Discuss when switch is a better fit than if-else: exact-value matches on one variable, not ranges or compound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 while checks first, do-while runs first — is easy to state and easy to forget under pressure, so use a concrete scenario: a menu that must display once before asking 'run again?' as the natural do-while use case. Trace both loops on the board with i starting at 1 and watch them produce the same output here, then ask what would differ if the starting condition were already false (do-while still runs once; while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loop slide in the whole course — the for loop's three-part header trips up more students than any other single piece of syntax. Break it into init / condition / update and dry-run the trace table together, column by column, matching each row to a physical line of the loop executing. Don't move on until at least one student can predict the iteration count without counting on fingers. The practice list at the bottom is homework, not something to solve live — but do point out that reverse-a-number and palindrome-check are solved on the next slide as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reverse-a-number example very slowly — the % 10 / 10 peeling pattern is genuinely new and reappears constantly in later DSA problems (digit DP, number theory). Trace n = 253 by hand on the board across all three iterations before revealing the output. For the palindrome check, point out it reuses exactly the same peeling technique, just compares to the original at the end — this repetition is intentional, showing one idea powering two 'different-looking' problems. Leave the remaining practice problems (sum, multiplication table, factorial, primes)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short by design — the distinction is simple, but the consequences of confusing the two are not. Trace both loops on the board and have students call out the printed sequence before revealing it. A good verbal hook: break says 'I'm done here, leave entirely'; continue says 'skip this one, but I'm still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loops are where many students first feel lost, even though each individual loop is already familiar — the fix is tracing execution order explicitly rather than pattern-matching to a printed shape. Walk the grid example row by row: the inner loop completes fully before the outer loop advances once. Resist the urge to dwell on the printed patterns themselves — the goal stated on the slide is understanding execution order, not pattern mastery, so move on once that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themselves are a quick, comfortable review — most of today's real teaching time should go to pass-by-value vs pass-by-reference, which is genuinely new territory for C-trained students (C only has pass-by-value and simulated references via pointers). Frame it as the payoff day: everything from Day 1 and Day 2 was necessary scaffolding, and references are the first C++-specific idea that will directly matter once vectors and DSA structures are being passed around in Day 6 onward.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are usually a comfortable transfer from C, so this slide can move quickly through syntax and spend more time on the why: reusability, readability, and — the one that matters most for debugging — isolating logic so a bug lives in one small, testable place. Point out those functions can appear either before main() or after it if a prototype is declared first. Walk the example program and ask students to predict the output of each call before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most carefully-explained slide of Day 3 — do not rush it. Draw the memory-box diagrams live rather than only showing the pre-built ones: for pass-by-value, two separate boxes exist; for pass-by-reference, one box has two names. A good verbal anchor: 'a reference is not a copy of the value, it's another name for the exact same box.' Common doubt: 'so is a reference a pointer?' — conceptually related, syntactically much simpler; that connection is worth a one-sentence preview, not a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builds directly on the previous one, so open by asking 'what if I want to pass by reference for efficiency, but I never intend to modify the original?' — that question is exactly what const int&amp; answers. Emphasise the DSA framing at the bottom: passing large containers by value silently copies every element on every call, which becomes a real performance problem once inputs are large, and const &amp; is the fix that will appear in nearly every function signature from here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overloading and default arguments are lighter topics — cover them for recognition rather than mastery, since students will meet both constantly once they start using STL functions like sort() with optional comparators. A quick check: ask how the compiler decides which add() to call — by matching argument types, not by name alone. Point out default arguments must be the rightmost parameters in the list, though a full explanation of the rule isn't necessary at this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shorter day by slide count, which is deliberate — arrays are conceptually simple, so let the time saved go toward actually tracing index values on the board rather than rushing through more material. This is the first day that starts to feel like 'real DSA,' so it's a good moment to acknowledge that shift explicitly and build some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Arrays are the first real 'container' students meet, so ground everything in the box-diagram visual. The zero-based indexing point is worth stating twice: first element is index 0, last valid index is size − 1. Walk the off-by-one comparison side by side — i &lt;= 5 vs i &lt; 5 for a five-element array — and if possible, actually run the wrong version to show it doesn't always crash immediately, which is precisely what makes it dangerous. This mistake will reappear constantly through the rest of the course; naming it clearly now saves debugging time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the sum/max/linear-search block together rather than just reading it — ask students to predict maxVal's value after each iteration before revealing it. The reversing-in-place technique (swapping from both ends toward the middle) previews the two-pointer pattern that shows up constantly in interview problems, so it's worth flagging that connection explicitly even though the pattern itself isn't formally named until later in their DSA journey. Leave count-even/odd and second-largest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Matrices are just 'arrays of arrays' conceptually, but the double index matrix[row][col] trips students up initially — read it out loud as 'row, then column' every time you reference it. Trace the nested-loop traversal on the board, pointing at the physical grid diagram as the loop indices change. Row-wise vs column-wise traversal is just a loop-order swap — demonstrate by literally swapping the two for statements and asking what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unrelated-feeling topics share a day here — strings and pointers — so acknowledge the seam explicitly rather than pretending they flow naturally into each other. Strings should feel like a relief after arrays; pointers should feel deliberately limited in scope. If a student pushes for more pointer depth, it's fine to say plainly that it's coming later, once linked lists give it a real purpose — depth without a use case doesn't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std::string is usually a relief after arrays — point that out explicitly, since students who've fought with C-style char arrays before will appreciate the built-in safety immediately. Walk length()/size(), indexing, concatenation, and the character loop in sequence; each is a small, standalone idea. The cin &gt;&gt; vs getline() distinction from Day 1's I/O slide is worth a one-line callback here, since it applies to string input the same way. Assign the vowel-count and palindrome-check exercises; both reuse patterns already seen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mostly reference material — move through the four cctype functions quickly, since they're self-explanatory by name. Spend the real time on the worked example (counting letters vs digits in a mixed string), tracing it character by character on the board. This is a natural moment to remind students that string practice problems in interviews are rarely about the string operations themselves — they're about combining simple building blocks like this one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Pointers cause more anxiety than they deserve at this stage — frame this slide explicitly as 'the minimum you need, not the whole topic.' Draw the two-box diagram live: one box holds the value, a second box holds the first box's address, and *pointer means 'go to the address stored here and read what's inside.' Have students say out loud what *pointer equals before revealing the answer. Resist any student's request to go deeper into pointer arithmetic here — that depth belongs to the linked-list and tree material later in the roadmap, not this foundations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nullptr brief — it's a small, clear idea: a pointer that intentionally points to nothing, used to signal 'no value yet' or 'end of a chain,' which will matter far more once linked lists appear. The new/delete pair is worth demonstrating as a matched set — for every new, there must eventually be a matching delete, and forgetting it is a memory leak. Close by reinforcing the vector recommendation firmly: for everything in this course and in most interview problems, vector removes the need to manage memory manually, and that's the tool students should reach for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day where the C++ material and the DSA material formally meet — vector and Big-O are the two tools students will use in essentially every interview problem from here on. It's worth stating plainly that maps, sets, and stacks are still deliberately absent — the goal today is depth on the essentials, not breadth across the whole STL.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big transition point — vector is the container students will use constantly from here forward, so make sure push_back, size(), and the range-based for loop all feel solid before moving on. Live-code building a vector by pushing three values, then printing it with a range-based for loop, so students see construction and iteration back to back. The empty()-before-front()/back() warning is worth a concrete failure demo if time allows — call front() on an empty vector and show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 vs vector table is mostly a formalising slide — most students will already intuit vector is 'better' after the last slide, so use this time to make the trade-offs explicit and precise rather than vague. The const vector&lt;int&gt;&amp; passing pattern deserves emphasis: this exact signature — void f(const vector&lt;int&gt;&amp; v) — is something students will type dozens of times in DSA problems, so it's worth having them copy it down verbatim. Close with the three range-based-for variants (value, reference, const reference) and when to reach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light, reference-style slide — pair, sort, and reverse are simple to use even if the mechanics behind them (comparators, iterators) aren't explained in depth here. Demonstrate sort() live on a small unsorted vector so students see the before/after. Be explicit and reassuring about the deliberate omission of maps, sets, stacks, and queues — this isn't a gap, it's sequencing; those containers arrive with proper context once recursion and pattern practice are underway.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Complexity is often the most abstract topic so far — ground it immediately in code students have already written rather than starting from definitions. Point at the O(n) example and connect it back to the for-loop dry run from Day 2; point at O(n²) and connect it to the nested-loop pattern slide from Day 2. The O(log n) box is necessarily abstract without binary search yet covered — a brief 'the search space halves each step' is enough for now; the full mechanics arrive later in the roadmap. Emphasise that Big-O describes growth shape, not a stopwatch reading, and that constants are deliberately ignored at this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today as consolidation, not new content — almost everything here has already been taught; this day organises it into something revisable under time pressure. If the group is short on time, the mistakes-reference slide and the cheat sheet are the two to protect — they're what students will actually reopen the night before an interview. Close the course by pointing explicitly at the roadmap on the final slide so nobody mistakes 'end of this course' for 'end of DSA 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reference students will return to more than any other — resist the urge to read every row aloud; instead, ask the room which of these fifteen mistakes they've already personally made, and spend live time on those. Nearly every item here has already been taught earlier in the course as its own callout — this slide's value is having them all in one place for quick lookup before an interview, not introducing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nine-step framework is meant to be internalised as a habit, not memorised as a list — walk the worked example (largest of N integers) against the steps explicitly, pointing at which step produced which line of code. Dry run the example input (3, 7, 2, 9, 4) together on the board before revealing the answer key in the callout. This framework is worth revisiting explicitly the first time students sit down with an unfamiliar LeetCode problem — most panic comes from skipping steps 1 through 4 and jumping straight 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twelve problems are ordered roughly by increasing conceptual demand, not by LeetCode's own numbering — mention that explicitly so students don't feel obligated to solve them in numeric order. Two Sum deserves the most discussion time: have students attempt the brute-force O(n²) approach first and actually feel why it's slow before introducing the hash-map idea, rather than handing them the optimal solution immediately. The unordered_map itself isn't covered in this course — flag that it's a preview of what's coming, not something to fully understand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as a quick confidence check, not a graded test — the goal is surfacing which concepts still feel shaky before moving into independent practice. Give students two or three minutes of silent attempt time on Parts A and B before revealing the answer key together. If several students miss the same question, that's a signal to briefly revisit that slide rather than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will screenshot — walk the starter template line by line one final time, since by now every piece (headers, using namespace std, ios::sync_with_stdio) should be recognisable rather than new. Frame the fast-I/O lines honestly: optional for the tiny programs in this course, but standard practice once solving real DSA problems with larger inputs, so it's worth typing from muscle memory even before it's strictly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momentum, not new content — this slide is a recap, not a lecture. Read the roadmap items aloud once as a preview of the journey ahead, and be explicit that recursion is the very next stop, not covered here. The closing line is deliberately personal and encouraging — let it land as the send-off it's meant to be rather than rushing straight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05156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A SEVEN-DAY FOUNDATIONS COURSE</a:t>
            </a:r>
            <a:endParaRPr lang="en-US" sz="1200" dirty="0"/>
          </a:p>
        </p:txBody>
      </p:sp>
      <p:sp>
        <p:nvSpPr>
          <p:cNvPr id="3" name="Text 1"/>
          <p:cNvSpPr/>
          <p:nvPr/>
        </p:nvSpPr>
        <p:spPr>
          <a:xfrm>
            <a:off x="502920" y="1417320"/>
            <a:ext cx="6675120" cy="13716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 From Scratch</a:t>
            </a:r>
            <a:endParaRPr lang="en-US" sz="4600" dirty="0"/>
          </a:p>
        </p:txBody>
      </p:sp>
      <p:sp>
        <p:nvSpPr>
          <p:cNvPr id="4" name="Text 2"/>
          <p:cNvSpPr/>
          <p:nvPr/>
        </p:nvSpPr>
        <p:spPr>
          <a:xfrm>
            <a:off x="502920" y="2606040"/>
            <a:ext cx="6675120" cy="548640"/>
          </a:xfrm>
          <a:prstGeom prst="rect">
            <a:avLst/>
          </a:prstGeom>
          <a:noFill/>
          <a:ln/>
        </p:spPr>
        <p:txBody>
          <a:bodyPr wrap="square" rtlCol="0" anchor="ctr"/>
          <a:lstStyle/>
          <a:p>
            <a:pPr indent="0" marL="0">
              <a:buNone/>
            </a:pPr>
            <a:r>
              <a:rPr lang="en-US" sz="2200" dirty="0">
                <a:solidFill>
                  <a:srgbClr val="2FD8A2"/>
                </a:solidFill>
                <a:latin typeface="Cambria" pitchFamily="34" charset="0"/>
                <a:ea typeface="Cambria" pitchFamily="34" charset="-122"/>
                <a:cs typeface="Cambria" pitchFamily="34" charset="-120"/>
              </a:rPr>
              <a:t>College-Style Foundations for DSA</a:t>
            </a:r>
            <a:endParaRPr lang="en-US" sz="2200" dirty="0"/>
          </a:p>
        </p:txBody>
      </p:sp>
      <p:sp>
        <p:nvSpPr>
          <p:cNvPr id="5" name="Text 3"/>
          <p:cNvSpPr/>
          <p:nvPr/>
        </p:nvSpPr>
        <p:spPr>
          <a:xfrm>
            <a:off x="502920" y="3337560"/>
            <a:ext cx="6309360" cy="1188720"/>
          </a:xfrm>
          <a:prstGeom prst="rect">
            <a:avLst/>
          </a:prstGeom>
          <a:noFill/>
          <a:ln/>
        </p:spPr>
        <p:txBody>
          <a:bodyPr wrap="square" rtlCol="0" anchor="t"/>
          <a:lstStyle/>
          <a:p>
            <a:pPr indent="0" marL="0">
              <a:buNone/>
            </a:pPr>
            <a:r>
              <a:rPr lang="en-US" sz="1350" dirty="0">
                <a:solidFill>
                  <a:srgbClr val="C7CFE8"/>
                </a:solidFill>
                <a:latin typeface="Calibri" pitchFamily="34" charset="0"/>
                <a:ea typeface="Calibri" pitchFamily="34" charset="-122"/>
                <a:cs typeface="Calibri" pitchFamily="34" charset="-120"/>
              </a:rPr>
              <a:t>You know C. You've written loops and functions before. This course carries that foundation into C++ — properly, one building block at a time — so that when Data Structures and Algorithms begin, the language itself is never the obstacle.</a:t>
            </a:r>
            <a:endParaRPr lang="en-US" sz="1350" dirty="0"/>
          </a:p>
        </p:txBody>
      </p:sp>
      <p:sp>
        <p:nvSpPr>
          <p:cNvPr id="6" name="Shape 4"/>
          <p:cNvSpPr/>
          <p:nvPr/>
        </p:nvSpPr>
        <p:spPr>
          <a:xfrm>
            <a:off x="502920" y="4709160"/>
            <a:ext cx="2181758" cy="365760"/>
          </a:xfrm>
          <a:prstGeom prst="roundRect">
            <a:avLst>
              <a:gd name="adj" fmla="val 50000"/>
            </a:avLst>
          </a:prstGeom>
          <a:solidFill>
            <a:srgbClr val="141B33"/>
          </a:solidFill>
          <a:ln w="9525">
            <a:solidFill>
              <a:srgbClr val="2FD8A2"/>
            </a:solidFill>
            <a:prstDash val="solid"/>
          </a:ln>
        </p:spPr>
      </p:sp>
      <p:sp>
        <p:nvSpPr>
          <p:cNvPr id="7" name="Text 5"/>
          <p:cNvSpPr/>
          <p:nvPr/>
        </p:nvSpPr>
        <p:spPr>
          <a:xfrm>
            <a:off x="502920" y="4709160"/>
            <a:ext cx="2181758"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No rushed crash course</a:t>
            </a:r>
            <a:endParaRPr lang="en-US" sz="1050" dirty="0"/>
          </a:p>
        </p:txBody>
      </p:sp>
      <p:sp>
        <p:nvSpPr>
          <p:cNvPr id="8" name="Shape 6"/>
          <p:cNvSpPr/>
          <p:nvPr/>
        </p:nvSpPr>
        <p:spPr>
          <a:xfrm>
            <a:off x="2849270" y="4709160"/>
            <a:ext cx="2777033" cy="365760"/>
          </a:xfrm>
          <a:prstGeom prst="roundRect">
            <a:avLst>
              <a:gd name="adj" fmla="val 50000"/>
            </a:avLst>
          </a:prstGeom>
          <a:solidFill>
            <a:srgbClr val="141B33"/>
          </a:solidFill>
          <a:ln w="9525">
            <a:solidFill>
              <a:srgbClr val="2FD8A2"/>
            </a:solidFill>
            <a:prstDash val="solid"/>
          </a:ln>
        </p:spPr>
      </p:sp>
      <p:sp>
        <p:nvSpPr>
          <p:cNvPr id="9" name="Text 7"/>
          <p:cNvSpPr/>
          <p:nvPr/>
        </p:nvSpPr>
        <p:spPr>
          <a:xfrm>
            <a:off x="2849270" y="4709160"/>
            <a:ext cx="2777033"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Syntax + reasoning + dry runs</a:t>
            </a:r>
            <a:endParaRPr lang="en-US" sz="1050" dirty="0"/>
          </a:p>
        </p:txBody>
      </p:sp>
      <p:sp>
        <p:nvSpPr>
          <p:cNvPr id="10" name="Shape 8"/>
          <p:cNvSpPr/>
          <p:nvPr/>
        </p:nvSpPr>
        <p:spPr>
          <a:xfrm>
            <a:off x="5790895" y="4709160"/>
            <a:ext cx="2947111" cy="365760"/>
          </a:xfrm>
          <a:prstGeom prst="roundRect">
            <a:avLst>
              <a:gd name="adj" fmla="val 50000"/>
            </a:avLst>
          </a:prstGeom>
          <a:solidFill>
            <a:srgbClr val="141B33"/>
          </a:solidFill>
          <a:ln w="9525">
            <a:solidFill>
              <a:srgbClr val="2FD8A2"/>
            </a:solidFill>
            <a:prstDash val="solid"/>
          </a:ln>
        </p:spPr>
      </p:sp>
      <p:sp>
        <p:nvSpPr>
          <p:cNvPr id="11" name="Text 9"/>
          <p:cNvSpPr/>
          <p:nvPr/>
        </p:nvSpPr>
        <p:spPr>
          <a:xfrm>
            <a:off x="5790895" y="4709160"/>
            <a:ext cx="2947111"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Built for LeetCode &amp; interviews</a:t>
            </a:r>
            <a:endParaRPr lang="en-US" sz="1050" dirty="0"/>
          </a:p>
        </p:txBody>
      </p:sp>
      <p:sp>
        <p:nvSpPr>
          <p:cNvPr id="12" name="Shape 10"/>
          <p:cNvSpPr/>
          <p:nvPr/>
        </p:nvSpPr>
        <p:spPr>
          <a:xfrm>
            <a:off x="7452360" y="1051560"/>
            <a:ext cx="4251960" cy="4160520"/>
          </a:xfrm>
          <a:prstGeom prst="roundRect">
            <a:avLst>
              <a:gd name="adj" fmla="val 1978"/>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3" name="Shape 11"/>
          <p:cNvSpPr/>
          <p:nvPr/>
        </p:nvSpPr>
        <p:spPr>
          <a:xfrm>
            <a:off x="7452360" y="1051560"/>
            <a:ext cx="4251960" cy="292608"/>
          </a:xfrm>
          <a:prstGeom prst="rect">
            <a:avLst/>
          </a:prstGeom>
          <a:solidFill>
            <a:srgbClr val="141B33"/>
          </a:solidFill>
          <a:ln/>
        </p:spPr>
      </p:sp>
      <p:sp>
        <p:nvSpPr>
          <p:cNvPr id="14" name="Shape 12"/>
          <p:cNvSpPr/>
          <p:nvPr/>
        </p:nvSpPr>
        <p:spPr>
          <a:xfrm>
            <a:off x="7598664" y="1143000"/>
            <a:ext cx="109728" cy="109728"/>
          </a:xfrm>
          <a:prstGeom prst="ellipse">
            <a:avLst/>
          </a:prstGeom>
          <a:solidFill>
            <a:srgbClr val="FF6B6B"/>
          </a:solidFill>
          <a:ln/>
        </p:spPr>
      </p:sp>
      <p:sp>
        <p:nvSpPr>
          <p:cNvPr id="15" name="Shape 13"/>
          <p:cNvSpPr/>
          <p:nvPr/>
        </p:nvSpPr>
        <p:spPr>
          <a:xfrm>
            <a:off x="7772400" y="1143000"/>
            <a:ext cx="109728" cy="109728"/>
          </a:xfrm>
          <a:prstGeom prst="ellipse">
            <a:avLst/>
          </a:prstGeom>
          <a:solidFill>
            <a:srgbClr val="FFD166"/>
          </a:solidFill>
          <a:ln/>
        </p:spPr>
      </p:sp>
      <p:sp>
        <p:nvSpPr>
          <p:cNvPr id="16" name="Shape 14"/>
          <p:cNvSpPr/>
          <p:nvPr/>
        </p:nvSpPr>
        <p:spPr>
          <a:xfrm>
            <a:off x="7946136" y="1143000"/>
            <a:ext cx="109728" cy="109728"/>
          </a:xfrm>
          <a:prstGeom prst="ellipse">
            <a:avLst/>
          </a:prstGeom>
          <a:solidFill>
            <a:srgbClr val="2FD8A2"/>
          </a:solidFill>
          <a:ln/>
        </p:spPr>
      </p:sp>
      <p:sp>
        <p:nvSpPr>
          <p:cNvPr id="17" name="Text 15"/>
          <p:cNvSpPr/>
          <p:nvPr/>
        </p:nvSpPr>
        <p:spPr>
          <a:xfrm>
            <a:off x="7452360" y="1051560"/>
            <a:ext cx="406908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main.cpp</a:t>
            </a:r>
            <a:endParaRPr lang="en-US" sz="1000" dirty="0"/>
          </a:p>
        </p:txBody>
      </p:sp>
      <p:sp>
        <p:nvSpPr>
          <p:cNvPr id="18" name="Text 16"/>
          <p:cNvSpPr/>
          <p:nvPr/>
        </p:nvSpPr>
        <p:spPr>
          <a:xfrm>
            <a:off x="7671816" y="1463040"/>
            <a:ext cx="3813048" cy="3630168"/>
          </a:xfrm>
          <a:prstGeom prst="rect">
            <a:avLst/>
          </a:prstGeom>
          <a:noFill/>
          <a:ln/>
        </p:spPr>
        <p:txBody>
          <a:bodyPr wrap="square" lIns="0" tIns="0" rIns="0" bIns="0" rtlCol="0" anchor="t"/>
          <a:lstStyle/>
          <a:p>
            <a:pPr algn="l" indent="0" marL="0">
              <a:lnSpc>
                <a:spcPct val="122000"/>
              </a:lnSpc>
              <a:buNone/>
            </a:pPr>
            <a:r>
              <a:rPr lang="en-US" sz="1300" dirty="0">
                <a:solidFill>
                  <a:srgbClr val="FF8FB1"/>
                </a:solidFill>
                <a:latin typeface="Courier New" pitchFamily="34" charset="0"/>
                <a:ea typeface="Courier New" pitchFamily="34" charset="-122"/>
                <a:cs typeface="Courier New" pitchFamily="34" charset="-120"/>
              </a:rPr>
              <a:t>#include &lt;iostream&gt;</a:t>
            </a:r>
            <a:endParaRPr lang="en-US" sz="1300" dirty="0"/>
          </a:p>
          <a:p>
            <a:pPr algn="l" indent="0" marL="0">
              <a:lnSpc>
                <a:spcPct val="122000"/>
              </a:lnSpc>
              <a:buNone/>
            </a:pPr>
            <a:r>
              <a:rPr lang="en-US" sz="1300" dirty="0">
                <a:solidFill>
                  <a:srgbClr val="FF8FB1"/>
                </a:solidFill>
                <a:latin typeface="Courier New" pitchFamily="34" charset="0"/>
                <a:ea typeface="Courier New" pitchFamily="34" charset="-122"/>
                <a:cs typeface="Courier New" pitchFamily="34" charset="-120"/>
              </a:rPr>
              <a:t>#include &lt;vector&gt;</a:t>
            </a:r>
            <a:endParaRPr lang="en-US" sz="1300" dirty="0"/>
          </a:p>
          <a:p>
            <a:pPr algn="l" indent="0" marL="0">
              <a:lnSpc>
                <a:spcPct val="122000"/>
              </a:lnSpc>
              <a:buNone/>
            </a:pPr>
            <a:r>
              <a:rPr lang="en-US" sz="1300" dirty="0">
                <a:solidFill>
                  <a:srgbClr val="7FB2FF"/>
                </a:solidFill>
                <a:latin typeface="Courier New" pitchFamily="34" charset="0"/>
                <a:ea typeface="Courier New" pitchFamily="34" charset="-122"/>
                <a:cs typeface="Courier New" pitchFamily="34" charset="-120"/>
              </a:rPr>
              <a:t>using</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7FB2FF"/>
                </a:solidFill>
                <a:latin typeface="Courier New" pitchFamily="34" charset="0"/>
                <a:ea typeface="Courier New" pitchFamily="34" charset="-122"/>
                <a:cs typeface="Courier New" pitchFamily="34" charset="-120"/>
              </a:rPr>
              <a:t>namespace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std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learner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"Farhaan"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daysToGo</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7</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"Welcome,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learner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daysToGo</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 days to go.\n"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19" name="Text 17"/>
          <p:cNvSpPr/>
          <p:nvPr/>
        </p:nvSpPr>
        <p:spPr>
          <a:xfrm>
            <a:off x="7452360" y="5349240"/>
            <a:ext cx="4251960" cy="320040"/>
          </a:xfrm>
          <a:prstGeom prst="rect">
            <a:avLst/>
          </a:prstGeom>
          <a:noFill/>
          <a:ln/>
        </p:spPr>
        <p:txBody>
          <a:bodyPr wrap="square" rtlCol="0" anchor="ctr"/>
          <a:lstStyle/>
          <a:p>
            <a:pPr algn="ctr" indent="0" marL="0">
              <a:buNone/>
            </a:pPr>
            <a:r>
              <a:rPr lang="en-US" sz="1050" dirty="0">
                <a:solidFill>
                  <a:srgbClr val="7C86AD"/>
                </a:solidFill>
                <a:latin typeface="Calibri" pitchFamily="34" charset="0"/>
                <a:ea typeface="Calibri" pitchFamily="34" charset="-122"/>
                <a:cs typeface="Calibri" pitchFamily="34" charset="-120"/>
              </a:rPr>
              <a:t>Compatible with C++17  ·  GCC / g++</a:t>
            </a:r>
            <a:endParaRPr lang="en-US" sz="1050" dirty="0"/>
          </a:p>
        </p:txBody>
      </p:sp>
      <p:sp>
        <p:nvSpPr>
          <p:cNvPr id="21" name="Text 1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2" name="Text 1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DAY 1 OF 7</a:t>
            </a:r>
            <a:endParaRPr lang="en-US" sz="1200" dirty="0"/>
          </a:p>
        </p:txBody>
      </p:sp>
      <p:sp>
        <p:nvSpPr>
          <p:cNvPr id="3" name="Text 1"/>
          <p:cNvSpPr/>
          <p:nvPr/>
        </p:nvSpPr>
        <p:spPr>
          <a:xfrm>
            <a:off x="502920" y="1645920"/>
            <a:ext cx="107899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Foundations — Program, Variables, I/O, Operators</a:t>
            </a:r>
            <a:endParaRPr lang="en-US" sz="3800" dirty="0"/>
          </a:p>
        </p:txBody>
      </p:sp>
      <p:sp>
        <p:nvSpPr>
          <p:cNvPr id="4" name="Text 2"/>
          <p:cNvSpPr/>
          <p:nvPr/>
        </p:nvSpPr>
        <p:spPr>
          <a:xfrm>
            <a:off x="502920" y="2880360"/>
            <a:ext cx="8778240" cy="777240"/>
          </a:xfrm>
          <a:prstGeom prst="rect">
            <a:avLst/>
          </a:prstGeom>
          <a:noFill/>
          <a:ln/>
        </p:spPr>
        <p:txBody>
          <a:bodyPr wrap="square" rtlCol="0" anchor="t"/>
          <a:lstStyle/>
          <a:p>
            <a:pPr indent="0" marL="0">
              <a:buNone/>
            </a:pPr>
            <a:r>
              <a:rPr lang="en-US" sz="1450" dirty="0">
                <a:solidFill>
                  <a:srgbClr val="C7CFE8"/>
                </a:solidFill>
                <a:latin typeface="Calibri" pitchFamily="34" charset="0"/>
                <a:ea typeface="Calibri" pitchFamily="34" charset="-122"/>
                <a:cs typeface="Calibri" pitchFamily="34" charset="-120"/>
              </a:rPr>
              <a:t>Before any data structure makes sense, the language itself has to feel ordinary. Today builds that comfort: what a C++ program actually is, how it runs, and the vocabulary every later program depends on.</a:t>
            </a:r>
            <a:endParaRPr lang="en-US" sz="1450" dirty="0"/>
          </a:p>
        </p:txBody>
      </p:sp>
      <p:sp>
        <p:nvSpPr>
          <p:cNvPr id="5" name="Shape 3"/>
          <p:cNvSpPr/>
          <p:nvPr/>
        </p:nvSpPr>
        <p:spPr>
          <a:xfrm>
            <a:off x="502920" y="3977640"/>
            <a:ext cx="1756562" cy="365760"/>
          </a:xfrm>
          <a:prstGeom prst="roundRect">
            <a:avLst>
              <a:gd name="adj" fmla="val 50000"/>
            </a:avLst>
          </a:prstGeom>
          <a:solidFill>
            <a:srgbClr val="16213E"/>
          </a:solidFill>
          <a:ln w="9525">
            <a:solidFill>
              <a:srgbClr val="2FD8A2"/>
            </a:solidFill>
            <a:prstDash val="solid"/>
          </a:ln>
        </p:spPr>
      </p:sp>
      <p:sp>
        <p:nvSpPr>
          <p:cNvPr id="6" name="Text 4"/>
          <p:cNvSpPr/>
          <p:nvPr/>
        </p:nvSpPr>
        <p:spPr>
          <a:xfrm>
            <a:off x="502920" y="3977640"/>
            <a:ext cx="175656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Setup &amp; compiling</a:t>
            </a:r>
            <a:endParaRPr lang="en-US" sz="1050" dirty="0"/>
          </a:p>
        </p:txBody>
      </p:sp>
      <p:sp>
        <p:nvSpPr>
          <p:cNvPr id="7" name="Shape 5"/>
          <p:cNvSpPr/>
          <p:nvPr/>
        </p:nvSpPr>
        <p:spPr>
          <a:xfrm>
            <a:off x="2424074" y="3977640"/>
            <a:ext cx="1416406" cy="365760"/>
          </a:xfrm>
          <a:prstGeom prst="roundRect">
            <a:avLst>
              <a:gd name="adj" fmla="val 50000"/>
            </a:avLst>
          </a:prstGeom>
          <a:solidFill>
            <a:srgbClr val="16213E"/>
          </a:solidFill>
          <a:ln w="9525">
            <a:solidFill>
              <a:srgbClr val="2FD8A2"/>
            </a:solidFill>
            <a:prstDash val="solid"/>
          </a:ln>
        </p:spPr>
      </p:sp>
      <p:sp>
        <p:nvSpPr>
          <p:cNvPr id="8" name="Text 6"/>
          <p:cNvSpPr/>
          <p:nvPr/>
        </p:nvSpPr>
        <p:spPr>
          <a:xfrm>
            <a:off x="2424074" y="3977640"/>
            <a:ext cx="1416406"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First program</a:t>
            </a:r>
            <a:endParaRPr lang="en-US" sz="1050" dirty="0"/>
          </a:p>
        </p:txBody>
      </p:sp>
      <p:sp>
        <p:nvSpPr>
          <p:cNvPr id="9" name="Shape 7"/>
          <p:cNvSpPr/>
          <p:nvPr/>
        </p:nvSpPr>
        <p:spPr>
          <a:xfrm>
            <a:off x="4005072" y="3977640"/>
            <a:ext cx="1756562" cy="365760"/>
          </a:xfrm>
          <a:prstGeom prst="roundRect">
            <a:avLst>
              <a:gd name="adj" fmla="val 50000"/>
            </a:avLst>
          </a:prstGeom>
          <a:solidFill>
            <a:srgbClr val="16213E"/>
          </a:solidFill>
          <a:ln w="9525">
            <a:solidFill>
              <a:srgbClr val="2FD8A2"/>
            </a:solidFill>
            <a:prstDash val="solid"/>
          </a:ln>
        </p:spPr>
      </p:sp>
      <p:sp>
        <p:nvSpPr>
          <p:cNvPr id="10" name="Text 8"/>
          <p:cNvSpPr/>
          <p:nvPr/>
        </p:nvSpPr>
        <p:spPr>
          <a:xfrm>
            <a:off x="4005072" y="3977640"/>
            <a:ext cx="175656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Variables &amp; types</a:t>
            </a:r>
            <a:endParaRPr lang="en-US" sz="1050" dirty="0"/>
          </a:p>
        </p:txBody>
      </p:sp>
      <p:sp>
        <p:nvSpPr>
          <p:cNvPr id="11" name="Shape 9"/>
          <p:cNvSpPr/>
          <p:nvPr/>
        </p:nvSpPr>
        <p:spPr>
          <a:xfrm>
            <a:off x="5926226" y="3977640"/>
            <a:ext cx="1076249" cy="365760"/>
          </a:xfrm>
          <a:prstGeom prst="roundRect">
            <a:avLst>
              <a:gd name="adj" fmla="val 50000"/>
            </a:avLst>
          </a:prstGeom>
          <a:solidFill>
            <a:srgbClr val="16213E"/>
          </a:solidFill>
          <a:ln w="9525">
            <a:solidFill>
              <a:srgbClr val="2FD8A2"/>
            </a:solidFill>
            <a:prstDash val="solid"/>
          </a:ln>
        </p:spPr>
      </p:sp>
      <p:sp>
        <p:nvSpPr>
          <p:cNvPr id="12" name="Text 10"/>
          <p:cNvSpPr/>
          <p:nvPr/>
        </p:nvSpPr>
        <p:spPr>
          <a:xfrm>
            <a:off x="5926226" y="3977640"/>
            <a:ext cx="1076249"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Constants</a:t>
            </a:r>
            <a:endParaRPr lang="en-US" sz="1050" dirty="0"/>
          </a:p>
        </p:txBody>
      </p:sp>
      <p:sp>
        <p:nvSpPr>
          <p:cNvPr id="13" name="Shape 11"/>
          <p:cNvSpPr/>
          <p:nvPr/>
        </p:nvSpPr>
        <p:spPr>
          <a:xfrm>
            <a:off x="7167067" y="3977640"/>
            <a:ext cx="566014" cy="365760"/>
          </a:xfrm>
          <a:prstGeom prst="roundRect">
            <a:avLst>
              <a:gd name="adj" fmla="val 50000"/>
            </a:avLst>
          </a:prstGeom>
          <a:solidFill>
            <a:srgbClr val="16213E"/>
          </a:solidFill>
          <a:ln w="9525">
            <a:solidFill>
              <a:srgbClr val="2FD8A2"/>
            </a:solidFill>
            <a:prstDash val="solid"/>
          </a:ln>
        </p:spPr>
      </p:sp>
      <p:sp>
        <p:nvSpPr>
          <p:cNvPr id="14" name="Text 12"/>
          <p:cNvSpPr/>
          <p:nvPr/>
        </p:nvSpPr>
        <p:spPr>
          <a:xfrm>
            <a:off x="7167067" y="3977640"/>
            <a:ext cx="566014"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I/O</a:t>
            </a:r>
            <a:endParaRPr lang="en-US" sz="1050" dirty="0"/>
          </a:p>
        </p:txBody>
      </p:sp>
      <p:sp>
        <p:nvSpPr>
          <p:cNvPr id="15" name="Shape 13"/>
          <p:cNvSpPr/>
          <p:nvPr/>
        </p:nvSpPr>
        <p:spPr>
          <a:xfrm>
            <a:off x="7897673" y="3977640"/>
            <a:ext cx="1076249" cy="365760"/>
          </a:xfrm>
          <a:prstGeom prst="roundRect">
            <a:avLst>
              <a:gd name="adj" fmla="val 50000"/>
            </a:avLst>
          </a:prstGeom>
          <a:solidFill>
            <a:srgbClr val="16213E"/>
          </a:solidFill>
          <a:ln w="9525">
            <a:solidFill>
              <a:srgbClr val="2FD8A2"/>
            </a:solidFill>
            <a:prstDash val="solid"/>
          </a:ln>
        </p:spPr>
      </p:sp>
      <p:sp>
        <p:nvSpPr>
          <p:cNvPr id="16" name="Text 14"/>
          <p:cNvSpPr/>
          <p:nvPr/>
        </p:nvSpPr>
        <p:spPr>
          <a:xfrm>
            <a:off x="7897673" y="3977640"/>
            <a:ext cx="1076249"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Operators</a:t>
            </a:r>
            <a:endParaRPr lang="en-US" sz="1050" dirty="0"/>
          </a:p>
        </p:txBody>
      </p:sp>
      <p:sp>
        <p:nvSpPr>
          <p:cNvPr id="17" name="Shape 15"/>
          <p:cNvSpPr/>
          <p:nvPr/>
        </p:nvSpPr>
        <p:spPr>
          <a:xfrm>
            <a:off x="9138514" y="3977640"/>
            <a:ext cx="1331366" cy="365760"/>
          </a:xfrm>
          <a:prstGeom prst="roundRect">
            <a:avLst>
              <a:gd name="adj" fmla="val 50000"/>
            </a:avLst>
          </a:prstGeom>
          <a:solidFill>
            <a:srgbClr val="16213E"/>
          </a:solidFill>
          <a:ln w="9525">
            <a:solidFill>
              <a:srgbClr val="2FD8A2"/>
            </a:solidFill>
            <a:prstDash val="solid"/>
          </a:ln>
        </p:spPr>
      </p:sp>
      <p:sp>
        <p:nvSpPr>
          <p:cNvPr id="18" name="Text 16"/>
          <p:cNvSpPr/>
          <p:nvPr/>
        </p:nvSpPr>
        <p:spPr>
          <a:xfrm>
            <a:off x="9138514" y="3977640"/>
            <a:ext cx="1331366"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Type casting</a:t>
            </a:r>
            <a:endParaRPr lang="en-US" sz="1050" dirty="0"/>
          </a:p>
        </p:txBody>
      </p:sp>
      <p:sp>
        <p:nvSpPr>
          <p:cNvPr id="19" name="Shape 17"/>
          <p:cNvSpPr/>
          <p:nvPr/>
        </p:nvSpPr>
        <p:spPr>
          <a:xfrm>
            <a:off x="8945575" y="4892040"/>
            <a:ext cx="2743200" cy="1417320"/>
          </a:xfrm>
          <a:prstGeom prst="roundRect">
            <a:avLst>
              <a:gd name="adj" fmla="val 580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0" name="Shape 18"/>
          <p:cNvSpPr/>
          <p:nvPr/>
        </p:nvSpPr>
        <p:spPr>
          <a:xfrm>
            <a:off x="8945575" y="4892040"/>
            <a:ext cx="2743200" cy="292608"/>
          </a:xfrm>
          <a:prstGeom prst="rect">
            <a:avLst/>
          </a:prstGeom>
          <a:solidFill>
            <a:srgbClr val="141B33"/>
          </a:solidFill>
          <a:ln/>
        </p:spPr>
      </p:sp>
      <p:sp>
        <p:nvSpPr>
          <p:cNvPr id="21" name="Shape 19"/>
          <p:cNvSpPr/>
          <p:nvPr/>
        </p:nvSpPr>
        <p:spPr>
          <a:xfrm>
            <a:off x="9091879" y="4983480"/>
            <a:ext cx="109728" cy="109728"/>
          </a:xfrm>
          <a:prstGeom prst="ellipse">
            <a:avLst/>
          </a:prstGeom>
          <a:solidFill>
            <a:srgbClr val="FF6B6B"/>
          </a:solidFill>
          <a:ln/>
        </p:spPr>
      </p:sp>
      <p:sp>
        <p:nvSpPr>
          <p:cNvPr id="22" name="Shape 20"/>
          <p:cNvSpPr/>
          <p:nvPr/>
        </p:nvSpPr>
        <p:spPr>
          <a:xfrm>
            <a:off x="9265615" y="4983480"/>
            <a:ext cx="109728" cy="109728"/>
          </a:xfrm>
          <a:prstGeom prst="ellipse">
            <a:avLst/>
          </a:prstGeom>
          <a:solidFill>
            <a:srgbClr val="FFD166"/>
          </a:solidFill>
          <a:ln/>
        </p:spPr>
      </p:sp>
      <p:sp>
        <p:nvSpPr>
          <p:cNvPr id="23" name="Shape 21"/>
          <p:cNvSpPr/>
          <p:nvPr/>
        </p:nvSpPr>
        <p:spPr>
          <a:xfrm>
            <a:off x="9439351" y="4983480"/>
            <a:ext cx="109728" cy="109728"/>
          </a:xfrm>
          <a:prstGeom prst="ellipse">
            <a:avLst/>
          </a:prstGeom>
          <a:solidFill>
            <a:srgbClr val="2FD8A2"/>
          </a:solidFill>
          <a:ln/>
        </p:spPr>
      </p:sp>
      <p:sp>
        <p:nvSpPr>
          <p:cNvPr id="25" name="Text 2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6" name="Text 2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Why C++ for DSA?</a:t>
            </a:r>
            <a:endParaRPr lang="en-US" sz="2800" dirty="0"/>
          </a:p>
        </p:txBody>
      </p:sp>
      <p:sp>
        <p:nvSpPr>
          <p:cNvPr id="4" name="Shape 2"/>
          <p:cNvSpPr/>
          <p:nvPr/>
        </p:nvSpPr>
        <p:spPr>
          <a:xfrm>
            <a:off x="502920" y="1737360"/>
            <a:ext cx="146304" cy="146304"/>
          </a:xfrm>
          <a:prstGeom prst="ellipse">
            <a:avLst/>
          </a:prstGeom>
          <a:solidFill>
            <a:srgbClr val="2FD8A2"/>
          </a:solidFill>
          <a:ln/>
        </p:spPr>
      </p:sp>
      <p:sp>
        <p:nvSpPr>
          <p:cNvPr id="5" name="Text 3"/>
          <p:cNvSpPr/>
          <p:nvPr/>
        </p:nvSpPr>
        <p:spPr>
          <a:xfrm>
            <a:off x="795528" y="1636776"/>
            <a:ext cx="5742432" cy="274320"/>
          </a:xfrm>
          <a:prstGeom prst="rect">
            <a:avLst/>
          </a:prstGeom>
          <a:noFill/>
          <a:ln/>
        </p:spPr>
        <p:txBody>
          <a:bodyPr wrap="square" rtlCol="0" anchor="ctr"/>
          <a:lstStyle/>
          <a:p>
            <a:pPr indent="0" marL="0">
              <a:buNone/>
            </a:pPr>
            <a:r>
              <a:rPr lang="en-US" sz="1450" b="1" dirty="0">
                <a:solidFill>
                  <a:srgbClr val="12172B"/>
                </a:solidFill>
                <a:latin typeface="Calibri" pitchFamily="34" charset="0"/>
                <a:ea typeface="Calibri" pitchFamily="34" charset="-122"/>
                <a:cs typeface="Calibri" pitchFamily="34" charset="-120"/>
              </a:rPr>
              <a:t>It's fast</a:t>
            </a:r>
            <a:endParaRPr lang="en-US" sz="1450" dirty="0"/>
          </a:p>
        </p:txBody>
      </p:sp>
      <p:sp>
        <p:nvSpPr>
          <p:cNvPr id="6" name="Text 4"/>
          <p:cNvSpPr/>
          <p:nvPr/>
        </p:nvSpPr>
        <p:spPr>
          <a:xfrm>
            <a:off x="795528" y="1892808"/>
            <a:ext cx="574243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Compiled directly to machine code — no interpreter overhead, which matters when a judge times your solution in milliseconds.</a:t>
            </a:r>
            <a:endParaRPr lang="en-US" sz="1100" dirty="0"/>
          </a:p>
        </p:txBody>
      </p:sp>
      <p:sp>
        <p:nvSpPr>
          <p:cNvPr id="7" name="Shape 5"/>
          <p:cNvSpPr/>
          <p:nvPr/>
        </p:nvSpPr>
        <p:spPr>
          <a:xfrm>
            <a:off x="502920" y="2304288"/>
            <a:ext cx="146304" cy="146304"/>
          </a:xfrm>
          <a:prstGeom prst="ellipse">
            <a:avLst/>
          </a:prstGeom>
          <a:solidFill>
            <a:srgbClr val="2FD8A2"/>
          </a:solidFill>
          <a:ln/>
        </p:spPr>
      </p:sp>
      <p:sp>
        <p:nvSpPr>
          <p:cNvPr id="8" name="Text 6"/>
          <p:cNvSpPr/>
          <p:nvPr/>
        </p:nvSpPr>
        <p:spPr>
          <a:xfrm>
            <a:off x="795528" y="2203704"/>
            <a:ext cx="5742432" cy="274320"/>
          </a:xfrm>
          <a:prstGeom prst="rect">
            <a:avLst/>
          </a:prstGeom>
          <a:noFill/>
          <a:ln/>
        </p:spPr>
        <p:txBody>
          <a:bodyPr wrap="square" rtlCol="0" anchor="ctr"/>
          <a:lstStyle/>
          <a:p>
            <a:pPr indent="0" marL="0">
              <a:buNone/>
            </a:pPr>
            <a:r>
              <a:rPr lang="en-US" sz="1450" b="1" dirty="0">
                <a:solidFill>
                  <a:srgbClr val="12172B"/>
                </a:solidFill>
                <a:latin typeface="Calibri" pitchFamily="34" charset="0"/>
                <a:ea typeface="Calibri" pitchFamily="34" charset="-122"/>
                <a:cs typeface="Calibri" pitchFamily="34" charset="-120"/>
              </a:rPr>
              <a:t>A strong standard library</a:t>
            </a:r>
            <a:endParaRPr lang="en-US" sz="1450" dirty="0"/>
          </a:p>
        </p:txBody>
      </p:sp>
      <p:sp>
        <p:nvSpPr>
          <p:cNvPr id="9" name="Text 7"/>
          <p:cNvSpPr/>
          <p:nvPr/>
        </p:nvSpPr>
        <p:spPr>
          <a:xfrm>
            <a:off x="795528" y="2459736"/>
            <a:ext cx="574243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The STL gives you battle-tested vectors, maps, sets, and sorting — built once, correctly, so you don't reinvent them.</a:t>
            </a:r>
            <a:endParaRPr lang="en-US" sz="1100" dirty="0"/>
          </a:p>
        </p:txBody>
      </p:sp>
      <p:sp>
        <p:nvSpPr>
          <p:cNvPr id="10" name="Shape 8"/>
          <p:cNvSpPr/>
          <p:nvPr/>
        </p:nvSpPr>
        <p:spPr>
          <a:xfrm>
            <a:off x="502920" y="2871216"/>
            <a:ext cx="146304" cy="146304"/>
          </a:xfrm>
          <a:prstGeom prst="ellipse">
            <a:avLst/>
          </a:prstGeom>
          <a:solidFill>
            <a:srgbClr val="2FD8A2"/>
          </a:solidFill>
          <a:ln/>
        </p:spPr>
      </p:sp>
      <p:sp>
        <p:nvSpPr>
          <p:cNvPr id="11" name="Text 9"/>
          <p:cNvSpPr/>
          <p:nvPr/>
        </p:nvSpPr>
        <p:spPr>
          <a:xfrm>
            <a:off x="795528" y="2770632"/>
            <a:ext cx="5742432" cy="274320"/>
          </a:xfrm>
          <a:prstGeom prst="rect">
            <a:avLst/>
          </a:prstGeom>
          <a:noFill/>
          <a:ln/>
        </p:spPr>
        <p:txBody>
          <a:bodyPr wrap="square" rtlCol="0" anchor="ctr"/>
          <a:lstStyle/>
          <a:p>
            <a:pPr indent="0" marL="0">
              <a:buNone/>
            </a:pPr>
            <a:r>
              <a:rPr lang="en-US" sz="1450" b="1" dirty="0">
                <a:solidFill>
                  <a:srgbClr val="12172B"/>
                </a:solidFill>
                <a:latin typeface="Calibri" pitchFamily="34" charset="0"/>
                <a:ea typeface="Calibri" pitchFamily="34" charset="-122"/>
                <a:cs typeface="Calibri" pitchFamily="34" charset="-120"/>
              </a:rPr>
              <a:t>Direct control over memory</a:t>
            </a:r>
            <a:endParaRPr lang="en-US" sz="1450" dirty="0"/>
          </a:p>
        </p:txBody>
      </p:sp>
      <p:sp>
        <p:nvSpPr>
          <p:cNvPr id="12" name="Text 10"/>
          <p:cNvSpPr/>
          <p:nvPr/>
        </p:nvSpPr>
        <p:spPr>
          <a:xfrm>
            <a:off x="795528" y="3026664"/>
            <a:ext cx="574243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You decide when memory is allocated and released — useful to understand deeply, even once you rely on safer tools like vector.</a:t>
            </a:r>
            <a:endParaRPr lang="en-US" sz="1100" dirty="0"/>
          </a:p>
        </p:txBody>
      </p:sp>
      <p:sp>
        <p:nvSpPr>
          <p:cNvPr id="13" name="Shape 11"/>
          <p:cNvSpPr/>
          <p:nvPr/>
        </p:nvSpPr>
        <p:spPr>
          <a:xfrm>
            <a:off x="502920" y="3438144"/>
            <a:ext cx="146304" cy="146304"/>
          </a:xfrm>
          <a:prstGeom prst="ellipse">
            <a:avLst/>
          </a:prstGeom>
          <a:solidFill>
            <a:srgbClr val="2FD8A2"/>
          </a:solidFill>
          <a:ln/>
        </p:spPr>
      </p:sp>
      <p:sp>
        <p:nvSpPr>
          <p:cNvPr id="14" name="Text 12"/>
          <p:cNvSpPr/>
          <p:nvPr/>
        </p:nvSpPr>
        <p:spPr>
          <a:xfrm>
            <a:off x="795528" y="3337560"/>
            <a:ext cx="5742432" cy="274320"/>
          </a:xfrm>
          <a:prstGeom prst="rect">
            <a:avLst/>
          </a:prstGeom>
          <a:noFill/>
          <a:ln/>
        </p:spPr>
        <p:txBody>
          <a:bodyPr wrap="square" rtlCol="0" anchor="ctr"/>
          <a:lstStyle/>
          <a:p>
            <a:pPr indent="0" marL="0">
              <a:buNone/>
            </a:pPr>
            <a:r>
              <a:rPr lang="en-US" sz="1450" b="1" dirty="0">
                <a:solidFill>
                  <a:srgbClr val="12172B"/>
                </a:solidFill>
                <a:latin typeface="Calibri" pitchFamily="34" charset="0"/>
                <a:ea typeface="Calibri" pitchFamily="34" charset="-122"/>
                <a:cs typeface="Calibri" pitchFamily="34" charset="-120"/>
              </a:rPr>
              <a:t>Multi-paradigm</a:t>
            </a:r>
            <a:endParaRPr lang="en-US" sz="1450" dirty="0"/>
          </a:p>
        </p:txBody>
      </p:sp>
      <p:sp>
        <p:nvSpPr>
          <p:cNvPr id="15" name="Text 13"/>
          <p:cNvSpPr/>
          <p:nvPr/>
        </p:nvSpPr>
        <p:spPr>
          <a:xfrm>
            <a:off x="795528" y="3593592"/>
            <a:ext cx="574243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Procedural code (like C) works fine, but classes and generic programming are available the moment you need them.</a:t>
            </a:r>
            <a:endParaRPr lang="en-US" sz="1100" dirty="0"/>
          </a:p>
        </p:txBody>
      </p:sp>
      <p:sp>
        <p:nvSpPr>
          <p:cNvPr id="16" name="Shape 14"/>
          <p:cNvSpPr/>
          <p:nvPr/>
        </p:nvSpPr>
        <p:spPr>
          <a:xfrm>
            <a:off x="6903720" y="1691640"/>
            <a:ext cx="4800600" cy="1417320"/>
          </a:xfrm>
          <a:prstGeom prst="roundRect">
            <a:avLst>
              <a:gd name="adj" fmla="val 5161"/>
            </a:avLst>
          </a:prstGeom>
          <a:solidFill>
            <a:srgbClr val="EAFBF4"/>
          </a:solidFill>
          <a:ln w="12700">
            <a:solidFill>
              <a:srgbClr val="16A67C"/>
            </a:solidFill>
            <a:prstDash val="solid"/>
          </a:ln>
        </p:spPr>
      </p:sp>
      <p:sp>
        <p:nvSpPr>
          <p:cNvPr id="17" name="Text 15"/>
          <p:cNvSpPr/>
          <p:nvPr/>
        </p:nvSpPr>
        <p:spPr>
          <a:xfrm>
            <a:off x="7086600" y="177393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Not “C with classes”</a:t>
            </a:r>
            <a:endParaRPr lang="en-US" sz="1050" dirty="0"/>
          </a:p>
        </p:txBody>
      </p:sp>
      <p:sp>
        <p:nvSpPr>
          <p:cNvPr id="18" name="Text 16"/>
          <p:cNvSpPr/>
          <p:nvPr/>
        </p:nvSpPr>
        <p:spPr>
          <a:xfrm>
            <a:off x="7086600" y="2039112"/>
            <a:ext cx="4434840" cy="9784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C++ keeps most of C's syntax — but layers on safer, more powerful abstractions like references, std::string, and std::vector. Think of it as C, matured.</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903720" y="3291840"/>
          <a:ext cx="4800600" cy="914400"/>
        </p:xfrm>
        <a:graphic>
          <a:graphicData uri="http://schemas.openxmlformats.org/drawingml/2006/table">
            <a:tbl>
              <a:tblPr/>
              <a:tblGrid>
                <a:gridCol w="1737360"/>
                <a:gridCol w="1463040"/>
                <a:gridCol w="1600200"/>
              </a:tblGrid>
              <a:tr h="301752">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301752">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Programming style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Mainly procedural</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Multi-paradigm</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Input / output</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printf, scanf</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cout, cin</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01752">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Strings</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Character arrays</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std::string</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Dynamic arrays</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Manual memory</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std::vector</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01752">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References</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Not supported</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Supported</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Classes &amp; objects</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Not supported</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Supported</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bl>
          </a:graphicData>
        </a:graphic>
      </p:graphicFrame>
      <p:sp>
        <p:nvSpPr>
          <p:cNvPr id="21" name="Text 17"/>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2" name="Text 18"/>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Setting Up &amp; Running C++</a:t>
            </a:r>
            <a:endParaRPr lang="en-US" sz="2800" dirty="0"/>
          </a:p>
        </p:txBody>
      </p:sp>
      <p:sp>
        <p:nvSpPr>
          <p:cNvPr id="4" name="Shape 2"/>
          <p:cNvSpPr/>
          <p:nvPr/>
        </p:nvSpPr>
        <p:spPr>
          <a:xfrm>
            <a:off x="502920" y="1737360"/>
            <a:ext cx="146304" cy="146304"/>
          </a:xfrm>
          <a:prstGeom prst="ellipse">
            <a:avLst/>
          </a:prstGeom>
          <a:solidFill>
            <a:srgbClr val="2FD8A2"/>
          </a:solidFill>
          <a:ln/>
        </p:spPr>
      </p:sp>
      <p:sp>
        <p:nvSpPr>
          <p:cNvPr id="5" name="Text 3"/>
          <p:cNvSpPr/>
          <p:nvPr/>
        </p:nvSpPr>
        <p:spPr>
          <a:xfrm>
            <a:off x="795528" y="1636776"/>
            <a:ext cx="5559552" cy="274320"/>
          </a:xfrm>
          <a:prstGeom prst="rect">
            <a:avLst/>
          </a:prstGeom>
          <a:noFill/>
          <a:ln/>
        </p:spPr>
        <p:txBody>
          <a:bodyPr wrap="square" rtlCol="0" anchor="ctr"/>
          <a:lstStyle/>
          <a:p>
            <a:pPr indent="0" marL="0">
              <a:buNone/>
            </a:pPr>
            <a:r>
              <a:rPr lang="en-US" sz="1400" b="1" dirty="0">
                <a:solidFill>
                  <a:srgbClr val="12172B"/>
                </a:solidFill>
                <a:latin typeface="Calibri" pitchFamily="34" charset="0"/>
                <a:ea typeface="Calibri" pitchFamily="34" charset="-122"/>
                <a:cs typeface="Calibri" pitchFamily="34" charset="-120"/>
              </a:rPr>
              <a:t>Source file → .cpp</a:t>
            </a:r>
            <a:endParaRPr lang="en-US" sz="1400" dirty="0"/>
          </a:p>
        </p:txBody>
      </p:sp>
      <p:sp>
        <p:nvSpPr>
          <p:cNvPr id="6" name="Text 4"/>
          <p:cNvSpPr/>
          <p:nvPr/>
        </p:nvSpPr>
        <p:spPr>
          <a:xfrm>
            <a:off x="795528" y="1892808"/>
            <a:ext cx="555955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Plain text you write, following C++ syntax rules.</a:t>
            </a:r>
            <a:endParaRPr lang="en-US" sz="1100" dirty="0"/>
          </a:p>
        </p:txBody>
      </p:sp>
      <p:sp>
        <p:nvSpPr>
          <p:cNvPr id="7" name="Shape 5"/>
          <p:cNvSpPr/>
          <p:nvPr/>
        </p:nvSpPr>
        <p:spPr>
          <a:xfrm>
            <a:off x="502920" y="2304288"/>
            <a:ext cx="146304" cy="146304"/>
          </a:xfrm>
          <a:prstGeom prst="ellipse">
            <a:avLst/>
          </a:prstGeom>
          <a:solidFill>
            <a:srgbClr val="2FD8A2"/>
          </a:solidFill>
          <a:ln/>
        </p:spPr>
      </p:sp>
      <p:sp>
        <p:nvSpPr>
          <p:cNvPr id="8" name="Text 6"/>
          <p:cNvSpPr/>
          <p:nvPr/>
        </p:nvSpPr>
        <p:spPr>
          <a:xfrm>
            <a:off x="795528" y="2203704"/>
            <a:ext cx="5559552" cy="274320"/>
          </a:xfrm>
          <a:prstGeom prst="rect">
            <a:avLst/>
          </a:prstGeom>
          <a:noFill/>
          <a:ln/>
        </p:spPr>
        <p:txBody>
          <a:bodyPr wrap="square" rtlCol="0" anchor="ctr"/>
          <a:lstStyle/>
          <a:p>
            <a:pPr indent="0" marL="0">
              <a:buNone/>
            </a:pPr>
            <a:r>
              <a:rPr lang="en-US" sz="1400" b="1" dirty="0">
                <a:solidFill>
                  <a:srgbClr val="12172B"/>
                </a:solidFill>
                <a:latin typeface="Calibri" pitchFamily="34" charset="0"/>
                <a:ea typeface="Calibri" pitchFamily="34" charset="-122"/>
                <a:cs typeface="Calibri" pitchFamily="34" charset="-120"/>
              </a:rPr>
              <a:t>Compiler ≠ IDE</a:t>
            </a:r>
            <a:endParaRPr lang="en-US" sz="1400" dirty="0"/>
          </a:p>
        </p:txBody>
      </p:sp>
      <p:sp>
        <p:nvSpPr>
          <p:cNvPr id="9" name="Text 7"/>
          <p:cNvSpPr/>
          <p:nvPr/>
        </p:nvSpPr>
        <p:spPr>
          <a:xfrm>
            <a:off x="795528" y="2459736"/>
            <a:ext cx="555955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GCC/g++, Clang, or MSVC translate your source into an executable. VS Code is just the editor — the compiler is a separate install.</a:t>
            </a:r>
            <a:endParaRPr lang="en-US" sz="1100" dirty="0"/>
          </a:p>
        </p:txBody>
      </p:sp>
      <p:sp>
        <p:nvSpPr>
          <p:cNvPr id="10" name="Shape 8"/>
          <p:cNvSpPr/>
          <p:nvPr/>
        </p:nvSpPr>
        <p:spPr>
          <a:xfrm>
            <a:off x="502920" y="2871216"/>
            <a:ext cx="146304" cy="146304"/>
          </a:xfrm>
          <a:prstGeom prst="ellipse">
            <a:avLst/>
          </a:prstGeom>
          <a:solidFill>
            <a:srgbClr val="2FD8A2"/>
          </a:solidFill>
          <a:ln/>
        </p:spPr>
      </p:sp>
      <p:sp>
        <p:nvSpPr>
          <p:cNvPr id="11" name="Text 9"/>
          <p:cNvSpPr/>
          <p:nvPr/>
        </p:nvSpPr>
        <p:spPr>
          <a:xfrm>
            <a:off x="795528" y="2770632"/>
            <a:ext cx="5559552" cy="274320"/>
          </a:xfrm>
          <a:prstGeom prst="rect">
            <a:avLst/>
          </a:prstGeom>
          <a:noFill/>
          <a:ln/>
        </p:spPr>
        <p:txBody>
          <a:bodyPr wrap="square" rtlCol="0" anchor="ctr"/>
          <a:lstStyle/>
          <a:p>
            <a:pPr indent="0" marL="0">
              <a:buNone/>
            </a:pPr>
            <a:r>
              <a:rPr lang="en-US" sz="1400" b="1" dirty="0">
                <a:solidFill>
                  <a:srgbClr val="12172B"/>
                </a:solidFill>
                <a:latin typeface="Calibri" pitchFamily="34" charset="0"/>
                <a:ea typeface="Calibri" pitchFamily="34" charset="-122"/>
                <a:cs typeface="Calibri" pitchFamily="34" charset="-120"/>
              </a:rPr>
              <a:t>Compilation → Execution</a:t>
            </a:r>
            <a:endParaRPr lang="en-US" sz="1400" dirty="0"/>
          </a:p>
        </p:txBody>
      </p:sp>
      <p:sp>
        <p:nvSpPr>
          <p:cNvPr id="12" name="Text 10"/>
          <p:cNvSpPr/>
          <p:nvPr/>
        </p:nvSpPr>
        <p:spPr>
          <a:xfrm>
            <a:off x="795528" y="3026664"/>
            <a:ext cx="555955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The compiler turns .cpp into a binary once; you can then run that binary many times without recompiling.</a:t>
            </a:r>
            <a:endParaRPr lang="en-US" sz="1100" dirty="0"/>
          </a:p>
        </p:txBody>
      </p:sp>
      <p:sp>
        <p:nvSpPr>
          <p:cNvPr id="13" name="Shape 11"/>
          <p:cNvSpPr/>
          <p:nvPr/>
        </p:nvSpPr>
        <p:spPr>
          <a:xfrm>
            <a:off x="502920" y="4434840"/>
            <a:ext cx="1783080" cy="731520"/>
          </a:xfrm>
          <a:prstGeom prst="roundRect">
            <a:avLst>
              <a:gd name="adj" fmla="val 10000"/>
            </a:avLst>
          </a:prstGeom>
          <a:solidFill>
            <a:srgbClr val="0B132B"/>
          </a:solidFill>
          <a:ln/>
        </p:spPr>
      </p:sp>
      <p:sp>
        <p:nvSpPr>
          <p:cNvPr id="14" name="Text 12"/>
          <p:cNvSpPr/>
          <p:nvPr/>
        </p:nvSpPr>
        <p:spPr>
          <a:xfrm>
            <a:off x="502920" y="4434840"/>
            <a:ext cx="1783080" cy="7315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main.cpp</a:t>
            </a:r>
            <a:endParaRPr lang="en-US" sz="1200" dirty="0"/>
          </a:p>
        </p:txBody>
      </p:sp>
      <p:sp>
        <p:nvSpPr>
          <p:cNvPr id="15" name="Shape 13"/>
          <p:cNvSpPr/>
          <p:nvPr/>
        </p:nvSpPr>
        <p:spPr>
          <a:xfrm>
            <a:off x="2331720" y="4800600"/>
            <a:ext cx="411480" cy="0"/>
          </a:xfrm>
          <a:prstGeom prst="line">
            <a:avLst/>
          </a:prstGeom>
          <a:noFill/>
          <a:ln w="25400">
            <a:solidFill>
              <a:srgbClr val="545C7E"/>
            </a:solidFill>
            <a:prstDash val="solid"/>
            <a:tailEnd type="triangle"/>
          </a:ln>
        </p:spPr>
      </p:sp>
      <p:sp>
        <p:nvSpPr>
          <p:cNvPr id="16" name="Shape 14"/>
          <p:cNvSpPr/>
          <p:nvPr/>
        </p:nvSpPr>
        <p:spPr>
          <a:xfrm>
            <a:off x="2788920" y="4434840"/>
            <a:ext cx="1783080" cy="731520"/>
          </a:xfrm>
          <a:prstGeom prst="roundRect">
            <a:avLst>
              <a:gd name="adj" fmla="val 10000"/>
            </a:avLst>
          </a:prstGeom>
          <a:solidFill>
            <a:srgbClr val="2FD8A2"/>
          </a:solidFill>
          <a:ln/>
        </p:spPr>
      </p:sp>
      <p:sp>
        <p:nvSpPr>
          <p:cNvPr id="17" name="Text 15"/>
          <p:cNvSpPr/>
          <p:nvPr/>
        </p:nvSpPr>
        <p:spPr>
          <a:xfrm>
            <a:off x="2788920" y="4434840"/>
            <a:ext cx="1783080" cy="731520"/>
          </a:xfrm>
          <a:prstGeom prst="rect">
            <a:avLst/>
          </a:prstGeom>
          <a:noFill/>
          <a:ln/>
        </p:spPr>
        <p:txBody>
          <a:bodyPr wrap="square" rtlCol="0" anchor="ctr"/>
          <a:lstStyle/>
          <a:p>
            <a:pPr algn="ctr" indent="0" marL="0">
              <a:buNone/>
            </a:pPr>
            <a:r>
              <a:rPr lang="en-US" sz="1200" b="1" dirty="0">
                <a:solidFill>
                  <a:srgbClr val="0B132B"/>
                </a:solidFill>
                <a:latin typeface="Calibri" pitchFamily="34" charset="0"/>
                <a:ea typeface="Calibri" pitchFamily="34" charset="-122"/>
                <a:cs typeface="Calibri" pitchFamily="34" charset="-120"/>
              </a:rPr>
              <a:t>Compiler</a:t>
            </a:r>
            <a:endParaRPr lang="en-US" sz="1200" dirty="0"/>
          </a:p>
          <a:p>
            <a:pPr algn="ctr" indent="0" marL="0">
              <a:buNone/>
            </a:pPr>
            <a:r>
              <a:rPr lang="en-US" sz="1200" b="1" dirty="0">
                <a:solidFill>
                  <a:srgbClr val="0B132B"/>
                </a:solidFill>
                <a:latin typeface="Calibri" pitchFamily="34" charset="0"/>
                <a:ea typeface="Calibri" pitchFamily="34" charset="-122"/>
                <a:cs typeface="Calibri" pitchFamily="34" charset="-120"/>
              </a:rPr>
              <a:t>(g++)</a:t>
            </a:r>
            <a:endParaRPr lang="en-US" sz="1200" dirty="0"/>
          </a:p>
        </p:txBody>
      </p:sp>
      <p:sp>
        <p:nvSpPr>
          <p:cNvPr id="18" name="Shape 16"/>
          <p:cNvSpPr/>
          <p:nvPr/>
        </p:nvSpPr>
        <p:spPr>
          <a:xfrm>
            <a:off x="4617720" y="4800600"/>
            <a:ext cx="411480" cy="0"/>
          </a:xfrm>
          <a:prstGeom prst="line">
            <a:avLst/>
          </a:prstGeom>
          <a:noFill/>
          <a:ln w="25400">
            <a:solidFill>
              <a:srgbClr val="545C7E"/>
            </a:solidFill>
            <a:prstDash val="solid"/>
            <a:tailEnd type="triangle"/>
          </a:ln>
        </p:spPr>
      </p:sp>
      <p:sp>
        <p:nvSpPr>
          <p:cNvPr id="19" name="Shape 17"/>
          <p:cNvSpPr/>
          <p:nvPr/>
        </p:nvSpPr>
        <p:spPr>
          <a:xfrm>
            <a:off x="5074920" y="4434840"/>
            <a:ext cx="1783080" cy="731520"/>
          </a:xfrm>
          <a:prstGeom prst="roundRect">
            <a:avLst>
              <a:gd name="adj" fmla="val 10000"/>
            </a:avLst>
          </a:prstGeom>
          <a:solidFill>
            <a:srgbClr val="0B132B"/>
          </a:solidFill>
          <a:ln/>
        </p:spPr>
      </p:sp>
      <p:sp>
        <p:nvSpPr>
          <p:cNvPr id="20" name="Text 18"/>
          <p:cNvSpPr/>
          <p:nvPr/>
        </p:nvSpPr>
        <p:spPr>
          <a:xfrm>
            <a:off x="5074920" y="4434840"/>
            <a:ext cx="1783080" cy="7315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Executable</a:t>
            </a:r>
            <a:endParaRPr lang="en-US" sz="1200" dirty="0"/>
          </a:p>
        </p:txBody>
      </p:sp>
      <p:sp>
        <p:nvSpPr>
          <p:cNvPr id="21" name="Shape 19"/>
          <p:cNvSpPr/>
          <p:nvPr/>
        </p:nvSpPr>
        <p:spPr>
          <a:xfrm>
            <a:off x="6903720" y="4800600"/>
            <a:ext cx="411480" cy="0"/>
          </a:xfrm>
          <a:prstGeom prst="line">
            <a:avLst/>
          </a:prstGeom>
          <a:noFill/>
          <a:ln w="25400">
            <a:solidFill>
              <a:srgbClr val="545C7E"/>
            </a:solidFill>
            <a:prstDash val="solid"/>
            <a:tailEnd type="triangle"/>
          </a:ln>
        </p:spPr>
      </p:sp>
      <p:sp>
        <p:nvSpPr>
          <p:cNvPr id="22" name="Shape 20"/>
          <p:cNvSpPr/>
          <p:nvPr/>
        </p:nvSpPr>
        <p:spPr>
          <a:xfrm>
            <a:off x="7360920" y="4434840"/>
            <a:ext cx="1783080" cy="731520"/>
          </a:xfrm>
          <a:prstGeom prst="roundRect">
            <a:avLst>
              <a:gd name="adj" fmla="val 10000"/>
            </a:avLst>
          </a:prstGeom>
          <a:solidFill>
            <a:srgbClr val="0B132B"/>
          </a:solidFill>
          <a:ln/>
        </p:spPr>
      </p:sp>
      <p:sp>
        <p:nvSpPr>
          <p:cNvPr id="23" name="Text 21"/>
          <p:cNvSpPr/>
          <p:nvPr/>
        </p:nvSpPr>
        <p:spPr>
          <a:xfrm>
            <a:off x="7360920" y="4434840"/>
            <a:ext cx="1783080" cy="7315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p>
        </p:txBody>
      </p:sp>
      <p:sp>
        <p:nvSpPr>
          <p:cNvPr id="24" name="Text 22"/>
          <p:cNvSpPr/>
          <p:nvPr/>
        </p:nvSpPr>
        <p:spPr>
          <a:xfrm>
            <a:off x="502920" y="5349240"/>
            <a:ext cx="5852160" cy="274320"/>
          </a:xfrm>
          <a:prstGeom prst="rect">
            <a:avLst/>
          </a:prstGeom>
          <a:noFill/>
          <a:ln/>
        </p:spPr>
        <p:txBody>
          <a:bodyPr wrap="square" rtlCol="0" anchor="ctr"/>
          <a:lstStyle/>
          <a:p>
            <a:pPr algn="l" indent="0" marL="0">
              <a:buNone/>
            </a:pPr>
            <a:r>
              <a:rPr lang="en-US" sz="1000" dirty="0">
                <a:solidFill>
                  <a:srgbClr val="545C7E"/>
                </a:solidFill>
                <a:latin typeface="Courier New" pitchFamily="34" charset="0"/>
                <a:ea typeface="Courier New" pitchFamily="34" charset="-122"/>
                <a:cs typeface="Courier New" pitchFamily="34" charset="-120"/>
              </a:rPr>
              <a:t>main.cpp  →  Compiler  →  Executable File  →  Program Output</a:t>
            </a:r>
            <a:endParaRPr lang="en-US" sz="1000" dirty="0"/>
          </a:p>
        </p:txBody>
      </p:sp>
      <p:sp>
        <p:nvSpPr>
          <p:cNvPr id="25" name="Shape 23"/>
          <p:cNvSpPr/>
          <p:nvPr/>
        </p:nvSpPr>
        <p:spPr>
          <a:xfrm>
            <a:off x="6903720" y="1691640"/>
            <a:ext cx="4800600" cy="2148840"/>
          </a:xfrm>
          <a:prstGeom prst="roundRect">
            <a:avLst>
              <a:gd name="adj" fmla="val 383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6" name="Shape 24"/>
          <p:cNvSpPr/>
          <p:nvPr/>
        </p:nvSpPr>
        <p:spPr>
          <a:xfrm>
            <a:off x="6903720" y="1691640"/>
            <a:ext cx="4800600" cy="292608"/>
          </a:xfrm>
          <a:prstGeom prst="rect">
            <a:avLst/>
          </a:prstGeom>
          <a:solidFill>
            <a:srgbClr val="141B33"/>
          </a:solidFill>
          <a:ln/>
        </p:spPr>
      </p:sp>
      <p:sp>
        <p:nvSpPr>
          <p:cNvPr id="27" name="Shape 25"/>
          <p:cNvSpPr/>
          <p:nvPr/>
        </p:nvSpPr>
        <p:spPr>
          <a:xfrm>
            <a:off x="7050024" y="1783080"/>
            <a:ext cx="109728" cy="109728"/>
          </a:xfrm>
          <a:prstGeom prst="ellipse">
            <a:avLst/>
          </a:prstGeom>
          <a:solidFill>
            <a:srgbClr val="FF6B6B"/>
          </a:solidFill>
          <a:ln/>
        </p:spPr>
      </p:sp>
      <p:sp>
        <p:nvSpPr>
          <p:cNvPr id="28" name="Shape 26"/>
          <p:cNvSpPr/>
          <p:nvPr/>
        </p:nvSpPr>
        <p:spPr>
          <a:xfrm>
            <a:off x="7223760" y="1783080"/>
            <a:ext cx="109728" cy="109728"/>
          </a:xfrm>
          <a:prstGeom prst="ellipse">
            <a:avLst/>
          </a:prstGeom>
          <a:solidFill>
            <a:srgbClr val="FFD166"/>
          </a:solidFill>
          <a:ln/>
        </p:spPr>
      </p:sp>
      <p:sp>
        <p:nvSpPr>
          <p:cNvPr id="29" name="Shape 27"/>
          <p:cNvSpPr/>
          <p:nvPr/>
        </p:nvSpPr>
        <p:spPr>
          <a:xfrm>
            <a:off x="7397496" y="1783080"/>
            <a:ext cx="109728" cy="109728"/>
          </a:xfrm>
          <a:prstGeom prst="ellipse">
            <a:avLst/>
          </a:prstGeom>
          <a:solidFill>
            <a:srgbClr val="2FD8A2"/>
          </a:solidFill>
          <a:ln/>
        </p:spPr>
      </p:sp>
      <p:sp>
        <p:nvSpPr>
          <p:cNvPr id="30" name="Text 28"/>
          <p:cNvSpPr/>
          <p:nvPr/>
        </p:nvSpPr>
        <p:spPr>
          <a:xfrm>
            <a:off x="6903720" y="1691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linux / macOS</a:t>
            </a:r>
            <a:endParaRPr lang="en-US" sz="1000" dirty="0"/>
          </a:p>
        </p:txBody>
      </p:sp>
      <p:sp>
        <p:nvSpPr>
          <p:cNvPr id="31" name="Text 29"/>
          <p:cNvSpPr/>
          <p:nvPr/>
        </p:nvSpPr>
        <p:spPr>
          <a:xfrm>
            <a:off x="7123176" y="2103120"/>
            <a:ext cx="4361688" cy="1618488"/>
          </a:xfrm>
          <a:prstGeom prst="rect">
            <a:avLst/>
          </a:prstGeom>
          <a:noFill/>
          <a:ln/>
        </p:spPr>
        <p:txBody>
          <a:bodyPr wrap="square" lIns="0" tIns="0" rIns="0" bIns="0" rtlCol="0" anchor="t"/>
          <a:lstStyle/>
          <a:p>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g</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cpp</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o</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56D6C4"/>
                </a:solidFill>
                <a:latin typeface="Courier New" pitchFamily="34" charset="0"/>
                <a:ea typeface="Courier New" pitchFamily="34" charset="-122"/>
                <a:cs typeface="Courier New" pitchFamily="34" charset="-120"/>
              </a:rPr>
              <a:t>main</a:t>
            </a:r>
            <a:endParaRPr lang="en-US" sz="1400" dirty="0"/>
          </a:p>
          <a:p>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56D6C4"/>
                </a:solidFill>
                <a:latin typeface="Courier New" pitchFamily="34" charset="0"/>
                <a:ea typeface="Courier New" pitchFamily="34" charset="-122"/>
                <a:cs typeface="Courier New" pitchFamily="34" charset="-120"/>
              </a:rPr>
              <a:t>main</a:t>
            </a:r>
            <a:endParaRPr lang="en-US" sz="1400" dirty="0"/>
          </a:p>
        </p:txBody>
      </p:sp>
      <p:sp>
        <p:nvSpPr>
          <p:cNvPr id="32" name="Shape 30"/>
          <p:cNvSpPr/>
          <p:nvPr/>
        </p:nvSpPr>
        <p:spPr>
          <a:xfrm>
            <a:off x="6903720" y="3977640"/>
            <a:ext cx="4800600" cy="2148840"/>
          </a:xfrm>
          <a:prstGeom prst="roundRect">
            <a:avLst>
              <a:gd name="adj" fmla="val 383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33" name="Shape 31"/>
          <p:cNvSpPr/>
          <p:nvPr/>
        </p:nvSpPr>
        <p:spPr>
          <a:xfrm>
            <a:off x="6903720" y="3977640"/>
            <a:ext cx="4800600" cy="292608"/>
          </a:xfrm>
          <a:prstGeom prst="rect">
            <a:avLst/>
          </a:prstGeom>
          <a:solidFill>
            <a:srgbClr val="141B33"/>
          </a:solidFill>
          <a:ln/>
        </p:spPr>
      </p:sp>
      <p:sp>
        <p:nvSpPr>
          <p:cNvPr id="34" name="Shape 32"/>
          <p:cNvSpPr/>
          <p:nvPr/>
        </p:nvSpPr>
        <p:spPr>
          <a:xfrm>
            <a:off x="7050024" y="4069080"/>
            <a:ext cx="109728" cy="109728"/>
          </a:xfrm>
          <a:prstGeom prst="ellipse">
            <a:avLst/>
          </a:prstGeom>
          <a:solidFill>
            <a:srgbClr val="FF6B6B"/>
          </a:solidFill>
          <a:ln/>
        </p:spPr>
      </p:sp>
      <p:sp>
        <p:nvSpPr>
          <p:cNvPr id="35" name="Shape 33"/>
          <p:cNvSpPr/>
          <p:nvPr/>
        </p:nvSpPr>
        <p:spPr>
          <a:xfrm>
            <a:off x="7223760" y="4069080"/>
            <a:ext cx="109728" cy="109728"/>
          </a:xfrm>
          <a:prstGeom prst="ellipse">
            <a:avLst/>
          </a:prstGeom>
          <a:solidFill>
            <a:srgbClr val="FFD166"/>
          </a:solidFill>
          <a:ln/>
        </p:spPr>
      </p:sp>
      <p:sp>
        <p:nvSpPr>
          <p:cNvPr id="36" name="Shape 34"/>
          <p:cNvSpPr/>
          <p:nvPr/>
        </p:nvSpPr>
        <p:spPr>
          <a:xfrm>
            <a:off x="7397496" y="4069080"/>
            <a:ext cx="109728" cy="109728"/>
          </a:xfrm>
          <a:prstGeom prst="ellipse">
            <a:avLst/>
          </a:prstGeom>
          <a:solidFill>
            <a:srgbClr val="2FD8A2"/>
          </a:solidFill>
          <a:ln/>
        </p:spPr>
      </p:sp>
      <p:sp>
        <p:nvSpPr>
          <p:cNvPr id="37" name="Text 35"/>
          <p:cNvSpPr/>
          <p:nvPr/>
        </p:nvSpPr>
        <p:spPr>
          <a:xfrm>
            <a:off x="6903720" y="3977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windows</a:t>
            </a:r>
            <a:endParaRPr lang="en-US" sz="1000" dirty="0"/>
          </a:p>
        </p:txBody>
      </p:sp>
      <p:sp>
        <p:nvSpPr>
          <p:cNvPr id="38" name="Text 36"/>
          <p:cNvSpPr/>
          <p:nvPr/>
        </p:nvSpPr>
        <p:spPr>
          <a:xfrm>
            <a:off x="7123176" y="4389120"/>
            <a:ext cx="4361688" cy="1618488"/>
          </a:xfrm>
          <a:prstGeom prst="rect">
            <a:avLst/>
          </a:prstGeom>
          <a:noFill/>
          <a:ln/>
        </p:spPr>
        <p:txBody>
          <a:bodyPr wrap="square" lIns="0" tIns="0" rIns="0" bIns="0" rtlCol="0" anchor="t"/>
          <a:lstStyle/>
          <a:p>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g</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cpp</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o</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exe</a:t>
            </a:r>
            <a:endParaRPr lang="en-US" sz="1400" dirty="0"/>
          </a:p>
          <a:p>
            <a:pPr algn="l" indent="0" marL="0">
              <a:lnSpc>
                <a:spcPct val="122000"/>
              </a:lnSpc>
              <a:buNone/>
            </a:pPr>
            <a:r>
              <a:rPr lang="en-US" sz="14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exe</a:t>
            </a:r>
            <a:endParaRPr lang="en-US" sz="1400" dirty="0"/>
          </a:p>
        </p:txBody>
      </p:sp>
      <p:sp>
        <p:nvSpPr>
          <p:cNvPr id="40" name="Text 37"/>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41" name="Text 38"/>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3</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Your First Program</a:t>
            </a:r>
            <a:endParaRPr lang="en-US" sz="2800" dirty="0"/>
          </a:p>
        </p:txBody>
      </p:sp>
      <p:sp>
        <p:nvSpPr>
          <p:cNvPr id="4" name="Shape 2"/>
          <p:cNvSpPr/>
          <p:nvPr/>
        </p:nvSpPr>
        <p:spPr>
          <a:xfrm>
            <a:off x="502920" y="1600200"/>
            <a:ext cx="5760720" cy="3246120"/>
          </a:xfrm>
          <a:prstGeom prst="roundRect">
            <a:avLst>
              <a:gd name="adj" fmla="val 2535"/>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00200"/>
            <a:ext cx="5760720" cy="292608"/>
          </a:xfrm>
          <a:prstGeom prst="rect">
            <a:avLst/>
          </a:prstGeom>
          <a:solidFill>
            <a:srgbClr val="141B33"/>
          </a:solidFill>
          <a:ln/>
        </p:spPr>
      </p:sp>
      <p:sp>
        <p:nvSpPr>
          <p:cNvPr id="6" name="Shape 4"/>
          <p:cNvSpPr/>
          <p:nvPr/>
        </p:nvSpPr>
        <p:spPr>
          <a:xfrm>
            <a:off x="649224" y="1691640"/>
            <a:ext cx="109728" cy="109728"/>
          </a:xfrm>
          <a:prstGeom prst="ellipse">
            <a:avLst/>
          </a:prstGeom>
          <a:solidFill>
            <a:srgbClr val="FF6B6B"/>
          </a:solidFill>
          <a:ln/>
        </p:spPr>
      </p:sp>
      <p:sp>
        <p:nvSpPr>
          <p:cNvPr id="7" name="Shape 5"/>
          <p:cNvSpPr/>
          <p:nvPr/>
        </p:nvSpPr>
        <p:spPr>
          <a:xfrm>
            <a:off x="822960" y="1691640"/>
            <a:ext cx="109728" cy="109728"/>
          </a:xfrm>
          <a:prstGeom prst="ellipse">
            <a:avLst/>
          </a:prstGeom>
          <a:solidFill>
            <a:srgbClr val="FFD166"/>
          </a:solidFill>
          <a:ln/>
        </p:spPr>
      </p:sp>
      <p:sp>
        <p:nvSpPr>
          <p:cNvPr id="8" name="Shape 6"/>
          <p:cNvSpPr/>
          <p:nvPr/>
        </p:nvSpPr>
        <p:spPr>
          <a:xfrm>
            <a:off x="996696" y="1691640"/>
            <a:ext cx="109728" cy="109728"/>
          </a:xfrm>
          <a:prstGeom prst="ellipse">
            <a:avLst/>
          </a:prstGeom>
          <a:solidFill>
            <a:srgbClr val="2FD8A2"/>
          </a:solidFill>
          <a:ln/>
        </p:spPr>
      </p:sp>
      <p:sp>
        <p:nvSpPr>
          <p:cNvPr id="9" name="Text 7"/>
          <p:cNvSpPr/>
          <p:nvPr/>
        </p:nvSpPr>
        <p:spPr>
          <a:xfrm>
            <a:off x="502920" y="160020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main.cpp</a:t>
            </a:r>
            <a:endParaRPr lang="en-US" sz="1000" dirty="0"/>
          </a:p>
        </p:txBody>
      </p:sp>
      <p:sp>
        <p:nvSpPr>
          <p:cNvPr id="10" name="Text 8"/>
          <p:cNvSpPr/>
          <p:nvPr/>
        </p:nvSpPr>
        <p:spPr>
          <a:xfrm>
            <a:off x="722376" y="2011680"/>
            <a:ext cx="5321808" cy="2715768"/>
          </a:xfrm>
          <a:prstGeom prst="rect">
            <a:avLst/>
          </a:prstGeom>
          <a:noFill/>
          <a:ln/>
        </p:spPr>
        <p:txBody>
          <a:bodyPr wrap="square" lIns="0" tIns="0" rIns="0" bIns="0" rtlCol="0" anchor="t"/>
          <a:lstStyle/>
          <a:p>
            <a:pPr algn="l" indent="0" marL="0">
              <a:lnSpc>
                <a:spcPct val="122000"/>
              </a:lnSpc>
              <a:buNone/>
            </a:pPr>
            <a:r>
              <a:rPr lang="en-US" sz="1450" dirty="0">
                <a:solidFill>
                  <a:srgbClr val="FF8FB1"/>
                </a:solidFill>
                <a:latin typeface="Courier New" pitchFamily="34" charset="0"/>
                <a:ea typeface="Courier New" pitchFamily="34" charset="-122"/>
                <a:cs typeface="Courier New" pitchFamily="34" charset="-120"/>
              </a:rPr>
              <a:t>#include &lt;iostream&gt;</a:t>
            </a:r>
            <a:endParaRPr lang="en-US" sz="1450" dirty="0"/>
          </a:p>
          <a:p>
            <a:pPr algn="l" indent="0" marL="0">
              <a:lnSpc>
                <a:spcPct val="122000"/>
              </a:lnSpc>
              <a:buNone/>
            </a:pPr>
            <a:r>
              <a:rPr lang="en-US" sz="1450" dirty="0">
                <a:solidFill>
                  <a:srgbClr val="7FB2FF"/>
                </a:solidFill>
                <a:latin typeface="Courier New" pitchFamily="34" charset="0"/>
                <a:ea typeface="Courier New" pitchFamily="34" charset="-122"/>
                <a:cs typeface="Courier New" pitchFamily="34" charset="-120"/>
              </a:rPr>
              <a:t>using</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7FB2FF"/>
                </a:solidFill>
                <a:latin typeface="Courier New" pitchFamily="34" charset="0"/>
                <a:ea typeface="Courier New" pitchFamily="34" charset="-122"/>
                <a:cs typeface="Courier New" pitchFamily="34" charset="-120"/>
              </a:rPr>
              <a:t>namespace</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std</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endParaRPr lang="en-US" sz="1450" dirty="0"/>
          </a:p>
          <a:p>
            <a:pPr algn="l" indent="0" marL="0">
              <a:lnSpc>
                <a:spcPct val="122000"/>
              </a:lnSpc>
              <a:buNone/>
            </a:pPr>
            <a:r>
              <a:rPr lang="en-US" sz="14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E3B778"/>
                </a:solidFill>
                <a:latin typeface="Courier New" pitchFamily="34" charset="0"/>
                <a:ea typeface="Courier New" pitchFamily="34" charset="-122"/>
                <a:cs typeface="Courier New" pitchFamily="34" charset="-120"/>
              </a:rPr>
              <a:t>"Hello, World!"</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56D6C4"/>
                </a:solidFill>
                <a:latin typeface="Courier New" pitchFamily="34" charset="0"/>
                <a:ea typeface="Courier New" pitchFamily="34" charset="-122"/>
                <a:cs typeface="Courier New" pitchFamily="34" charset="-120"/>
              </a:rPr>
              <a:t>endl</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endParaRPr lang="en-US" sz="1450" dirty="0"/>
          </a:p>
        </p:txBody>
      </p:sp>
      <p:sp>
        <p:nvSpPr>
          <p:cNvPr id="11" name="Shape 9"/>
          <p:cNvSpPr/>
          <p:nvPr/>
        </p:nvSpPr>
        <p:spPr>
          <a:xfrm>
            <a:off x="502920" y="5047488"/>
            <a:ext cx="146304" cy="146304"/>
          </a:xfrm>
          <a:prstGeom prst="ellipse">
            <a:avLst/>
          </a:prstGeom>
          <a:solidFill>
            <a:srgbClr val="2FD8A2"/>
          </a:solidFill>
          <a:ln/>
        </p:spPr>
      </p:sp>
      <p:sp>
        <p:nvSpPr>
          <p:cNvPr id="12" name="Text 10"/>
          <p:cNvSpPr/>
          <p:nvPr/>
        </p:nvSpPr>
        <p:spPr>
          <a:xfrm>
            <a:off x="795528" y="4928616"/>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#include &lt;iostream&gt; loads the input/output toolkit.</a:t>
            </a:r>
            <a:endParaRPr lang="en-US" sz="1150" dirty="0"/>
          </a:p>
        </p:txBody>
      </p:sp>
      <p:sp>
        <p:nvSpPr>
          <p:cNvPr id="13" name="Shape 11"/>
          <p:cNvSpPr/>
          <p:nvPr/>
        </p:nvSpPr>
        <p:spPr>
          <a:xfrm>
            <a:off x="502920" y="5303520"/>
            <a:ext cx="146304" cy="146304"/>
          </a:xfrm>
          <a:prstGeom prst="ellipse">
            <a:avLst/>
          </a:prstGeom>
          <a:solidFill>
            <a:srgbClr val="2FD8A2"/>
          </a:solidFill>
          <a:ln/>
        </p:spPr>
      </p:sp>
      <p:sp>
        <p:nvSpPr>
          <p:cNvPr id="14" name="Text 12"/>
          <p:cNvSpPr/>
          <p:nvPr/>
        </p:nvSpPr>
        <p:spPr>
          <a:xfrm>
            <a:off x="795528" y="5184648"/>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using namespace std; lets you write cout instead of std::cout.</a:t>
            </a:r>
            <a:endParaRPr lang="en-US" sz="1150" dirty="0"/>
          </a:p>
        </p:txBody>
      </p:sp>
      <p:sp>
        <p:nvSpPr>
          <p:cNvPr id="15" name="Shape 13"/>
          <p:cNvSpPr/>
          <p:nvPr/>
        </p:nvSpPr>
        <p:spPr>
          <a:xfrm>
            <a:off x="502920" y="5559552"/>
            <a:ext cx="146304" cy="146304"/>
          </a:xfrm>
          <a:prstGeom prst="ellipse">
            <a:avLst/>
          </a:prstGeom>
          <a:solidFill>
            <a:srgbClr val="2FD8A2"/>
          </a:solidFill>
          <a:ln/>
        </p:spPr>
      </p:sp>
      <p:sp>
        <p:nvSpPr>
          <p:cNvPr id="16" name="Text 14"/>
          <p:cNvSpPr/>
          <p:nvPr/>
        </p:nvSpPr>
        <p:spPr>
          <a:xfrm>
            <a:off x="795528" y="5440680"/>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int main() is where every C++ program begins running.</a:t>
            </a:r>
            <a:endParaRPr lang="en-US" sz="1150" dirty="0"/>
          </a:p>
        </p:txBody>
      </p:sp>
      <p:sp>
        <p:nvSpPr>
          <p:cNvPr id="17" name="Shape 15"/>
          <p:cNvSpPr/>
          <p:nvPr/>
        </p:nvSpPr>
        <p:spPr>
          <a:xfrm>
            <a:off x="502920" y="5815584"/>
            <a:ext cx="146304" cy="146304"/>
          </a:xfrm>
          <a:prstGeom prst="ellipse">
            <a:avLst/>
          </a:prstGeom>
          <a:solidFill>
            <a:srgbClr val="2FD8A2"/>
          </a:solidFill>
          <a:ln/>
        </p:spPr>
      </p:sp>
      <p:sp>
        <p:nvSpPr>
          <p:cNvPr id="18" name="Text 16"/>
          <p:cNvSpPr/>
          <p:nvPr/>
        </p:nvSpPr>
        <p:spPr>
          <a:xfrm>
            <a:off x="795528" y="5696712"/>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 } mark the body; every statement ends in ;</a:t>
            </a:r>
            <a:endParaRPr lang="en-US" sz="1150" dirty="0"/>
          </a:p>
        </p:txBody>
      </p:sp>
      <p:sp>
        <p:nvSpPr>
          <p:cNvPr id="19" name="Shape 17"/>
          <p:cNvSpPr/>
          <p:nvPr/>
        </p:nvSpPr>
        <p:spPr>
          <a:xfrm>
            <a:off x="502920" y="6071616"/>
            <a:ext cx="146304" cy="146304"/>
          </a:xfrm>
          <a:prstGeom prst="ellipse">
            <a:avLst/>
          </a:prstGeom>
          <a:solidFill>
            <a:srgbClr val="2FD8A2"/>
          </a:solidFill>
          <a:ln/>
        </p:spPr>
      </p:sp>
      <p:sp>
        <p:nvSpPr>
          <p:cNvPr id="20" name="Text 18"/>
          <p:cNvSpPr/>
          <p:nvPr/>
        </p:nvSpPr>
        <p:spPr>
          <a:xfrm>
            <a:off x="795528" y="5952744"/>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&lt;&lt; is the insertion operator — it “inserts” text into cout.</a:t>
            </a:r>
            <a:endParaRPr lang="en-US" sz="1150" dirty="0"/>
          </a:p>
        </p:txBody>
      </p:sp>
      <p:sp>
        <p:nvSpPr>
          <p:cNvPr id="21" name="Shape 19"/>
          <p:cNvSpPr/>
          <p:nvPr/>
        </p:nvSpPr>
        <p:spPr>
          <a:xfrm>
            <a:off x="502920" y="6327648"/>
            <a:ext cx="146304" cy="146304"/>
          </a:xfrm>
          <a:prstGeom prst="ellipse">
            <a:avLst/>
          </a:prstGeom>
          <a:solidFill>
            <a:srgbClr val="2FD8A2"/>
          </a:solidFill>
          <a:ln/>
        </p:spPr>
      </p:sp>
      <p:sp>
        <p:nvSpPr>
          <p:cNvPr id="22" name="Text 20"/>
          <p:cNvSpPr/>
          <p:nvPr/>
        </p:nvSpPr>
        <p:spPr>
          <a:xfrm>
            <a:off x="795528" y="6208776"/>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return 0; tells the OS the program finished successfully.</a:t>
            </a:r>
            <a:endParaRPr lang="en-US" sz="1150" dirty="0"/>
          </a:p>
        </p:txBody>
      </p:sp>
      <p:sp>
        <p:nvSpPr>
          <p:cNvPr id="23" name="Shape 21"/>
          <p:cNvSpPr/>
          <p:nvPr/>
        </p:nvSpPr>
        <p:spPr>
          <a:xfrm>
            <a:off x="6903720" y="1600200"/>
            <a:ext cx="4800600" cy="2331720"/>
          </a:xfrm>
          <a:prstGeom prst="roundRect">
            <a:avLst>
              <a:gd name="adj" fmla="val 3529"/>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4" name="Shape 22"/>
          <p:cNvSpPr/>
          <p:nvPr/>
        </p:nvSpPr>
        <p:spPr>
          <a:xfrm>
            <a:off x="6903720" y="1600200"/>
            <a:ext cx="4800600" cy="292608"/>
          </a:xfrm>
          <a:prstGeom prst="rect">
            <a:avLst/>
          </a:prstGeom>
          <a:solidFill>
            <a:srgbClr val="141B33"/>
          </a:solidFill>
          <a:ln/>
        </p:spPr>
      </p:sp>
      <p:sp>
        <p:nvSpPr>
          <p:cNvPr id="25" name="Shape 23"/>
          <p:cNvSpPr/>
          <p:nvPr/>
        </p:nvSpPr>
        <p:spPr>
          <a:xfrm>
            <a:off x="7050024" y="1691640"/>
            <a:ext cx="109728" cy="109728"/>
          </a:xfrm>
          <a:prstGeom prst="ellipse">
            <a:avLst/>
          </a:prstGeom>
          <a:solidFill>
            <a:srgbClr val="FF6B6B"/>
          </a:solidFill>
          <a:ln/>
        </p:spPr>
      </p:sp>
      <p:sp>
        <p:nvSpPr>
          <p:cNvPr id="26" name="Shape 24"/>
          <p:cNvSpPr/>
          <p:nvPr/>
        </p:nvSpPr>
        <p:spPr>
          <a:xfrm>
            <a:off x="7223760" y="1691640"/>
            <a:ext cx="109728" cy="109728"/>
          </a:xfrm>
          <a:prstGeom prst="ellipse">
            <a:avLst/>
          </a:prstGeom>
          <a:solidFill>
            <a:srgbClr val="FFD166"/>
          </a:solidFill>
          <a:ln/>
        </p:spPr>
      </p:sp>
      <p:sp>
        <p:nvSpPr>
          <p:cNvPr id="27" name="Shape 25"/>
          <p:cNvSpPr/>
          <p:nvPr/>
        </p:nvSpPr>
        <p:spPr>
          <a:xfrm>
            <a:off x="7397496" y="1691640"/>
            <a:ext cx="109728" cy="109728"/>
          </a:xfrm>
          <a:prstGeom prst="ellipse">
            <a:avLst/>
          </a:prstGeom>
          <a:solidFill>
            <a:srgbClr val="2FD8A2"/>
          </a:solidFill>
          <a:ln/>
        </p:spPr>
      </p:sp>
      <p:sp>
        <p:nvSpPr>
          <p:cNvPr id="28" name="Text 26"/>
          <p:cNvSpPr/>
          <p:nvPr/>
        </p:nvSpPr>
        <p:spPr>
          <a:xfrm>
            <a:off x="6903720" y="160020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explicit version</a:t>
            </a:r>
            <a:endParaRPr lang="en-US" sz="1000" dirty="0"/>
          </a:p>
        </p:txBody>
      </p:sp>
      <p:sp>
        <p:nvSpPr>
          <p:cNvPr id="29" name="Text 27"/>
          <p:cNvSpPr/>
          <p:nvPr/>
        </p:nvSpPr>
        <p:spPr>
          <a:xfrm>
            <a:off x="7123176" y="2011680"/>
            <a:ext cx="4361688" cy="1801368"/>
          </a:xfrm>
          <a:prstGeom prst="rect">
            <a:avLst/>
          </a:prstGeom>
          <a:noFill/>
          <a:ln/>
        </p:spPr>
        <p:txBody>
          <a:bodyPr wrap="square" lIns="0" tIns="0" rIns="0" bIns="0" rtlCol="0" anchor="t"/>
          <a:lstStyle/>
          <a:p>
            <a:pPr algn="l" indent="0" marL="0">
              <a:lnSpc>
                <a:spcPct val="122000"/>
              </a:lnSpc>
              <a:buNone/>
            </a:pPr>
            <a:r>
              <a:rPr lang="en-US" sz="1300" dirty="0">
                <a:solidFill>
                  <a:srgbClr val="FF8FB1"/>
                </a:solidFill>
                <a:latin typeface="Courier New" pitchFamily="34" charset="0"/>
                <a:ea typeface="Courier New" pitchFamily="34" charset="-122"/>
                <a:cs typeface="Courier New" pitchFamily="34" charset="-120"/>
              </a:rPr>
              <a:t>#include &lt;iostream&gt;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std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"Hello, World!\n"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30" name="Shape 28"/>
          <p:cNvSpPr/>
          <p:nvPr/>
        </p:nvSpPr>
        <p:spPr>
          <a:xfrm>
            <a:off x="6903720" y="4114800"/>
            <a:ext cx="4800600" cy="2148840"/>
          </a:xfrm>
          <a:prstGeom prst="roundRect">
            <a:avLst>
              <a:gd name="adj" fmla="val 3404"/>
            </a:avLst>
          </a:prstGeom>
          <a:solidFill>
            <a:srgbClr val="EAFBF4"/>
          </a:solidFill>
          <a:ln w="12700">
            <a:solidFill>
              <a:srgbClr val="16A67C"/>
            </a:solidFill>
            <a:prstDash val="solid"/>
          </a:ln>
        </p:spPr>
      </p:sp>
      <p:sp>
        <p:nvSpPr>
          <p:cNvPr id="31" name="Text 29"/>
          <p:cNvSpPr/>
          <p:nvPr/>
        </p:nvSpPr>
        <p:spPr>
          <a:xfrm>
            <a:off x="7086600" y="419709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Why namespaces exist</a:t>
            </a:r>
            <a:endParaRPr lang="en-US" sz="1050" dirty="0"/>
          </a:p>
        </p:txBody>
      </p:sp>
      <p:sp>
        <p:nvSpPr>
          <p:cNvPr id="32" name="Text 30"/>
          <p:cNvSpPr/>
          <p:nvPr/>
        </p:nvSpPr>
        <p:spPr>
          <a:xfrm>
            <a:off x="7086600" y="4462272"/>
            <a:ext cx="4434840" cy="17099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cout lives inside the std namespace, alongside thousands of other library names. Namespaces stop naming collisions — your own variable called sort won't clash with std::sort. using namespace std; is a convenience, not magic boilerplate.</a:t>
            </a:r>
            <a:endParaRPr lang="en-US" sz="1100" dirty="0"/>
          </a:p>
        </p:txBody>
      </p:sp>
      <p:sp>
        <p:nvSpPr>
          <p:cNvPr id="34" name="Text 31"/>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5" name="Text 32"/>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4</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Comments &amp; Program Structure</a:t>
            </a:r>
            <a:endParaRPr lang="en-US" sz="2800" dirty="0"/>
          </a:p>
        </p:txBody>
      </p:sp>
      <p:sp>
        <p:nvSpPr>
          <p:cNvPr id="4" name="Shape 2"/>
          <p:cNvSpPr/>
          <p:nvPr/>
        </p:nvSpPr>
        <p:spPr>
          <a:xfrm>
            <a:off x="502920" y="1600200"/>
            <a:ext cx="5760720" cy="1965960"/>
          </a:xfrm>
          <a:prstGeom prst="roundRect">
            <a:avLst>
              <a:gd name="adj" fmla="val 41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00200"/>
            <a:ext cx="5760720" cy="292608"/>
          </a:xfrm>
          <a:prstGeom prst="rect">
            <a:avLst/>
          </a:prstGeom>
          <a:solidFill>
            <a:srgbClr val="141B33"/>
          </a:solidFill>
          <a:ln/>
        </p:spPr>
      </p:sp>
      <p:sp>
        <p:nvSpPr>
          <p:cNvPr id="6" name="Shape 4"/>
          <p:cNvSpPr/>
          <p:nvPr/>
        </p:nvSpPr>
        <p:spPr>
          <a:xfrm>
            <a:off x="649224" y="1691640"/>
            <a:ext cx="109728" cy="109728"/>
          </a:xfrm>
          <a:prstGeom prst="ellipse">
            <a:avLst/>
          </a:prstGeom>
          <a:solidFill>
            <a:srgbClr val="FF6B6B"/>
          </a:solidFill>
          <a:ln/>
        </p:spPr>
      </p:sp>
      <p:sp>
        <p:nvSpPr>
          <p:cNvPr id="7" name="Shape 5"/>
          <p:cNvSpPr/>
          <p:nvPr/>
        </p:nvSpPr>
        <p:spPr>
          <a:xfrm>
            <a:off x="822960" y="1691640"/>
            <a:ext cx="109728" cy="109728"/>
          </a:xfrm>
          <a:prstGeom prst="ellipse">
            <a:avLst/>
          </a:prstGeom>
          <a:solidFill>
            <a:srgbClr val="FFD166"/>
          </a:solidFill>
          <a:ln/>
        </p:spPr>
      </p:sp>
      <p:sp>
        <p:nvSpPr>
          <p:cNvPr id="8" name="Shape 6"/>
          <p:cNvSpPr/>
          <p:nvPr/>
        </p:nvSpPr>
        <p:spPr>
          <a:xfrm>
            <a:off x="996696" y="1691640"/>
            <a:ext cx="109728" cy="109728"/>
          </a:xfrm>
          <a:prstGeom prst="ellipse">
            <a:avLst/>
          </a:prstGeom>
          <a:solidFill>
            <a:srgbClr val="2FD8A2"/>
          </a:solidFill>
          <a:ln/>
        </p:spPr>
      </p:sp>
      <p:sp>
        <p:nvSpPr>
          <p:cNvPr id="9" name="Text 7"/>
          <p:cNvSpPr/>
          <p:nvPr/>
        </p:nvSpPr>
        <p:spPr>
          <a:xfrm>
            <a:off x="502920" y="160020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comments</a:t>
            </a:r>
            <a:endParaRPr lang="en-US" sz="1000" dirty="0"/>
          </a:p>
        </p:txBody>
      </p:sp>
      <p:sp>
        <p:nvSpPr>
          <p:cNvPr id="10" name="Text 8"/>
          <p:cNvSpPr/>
          <p:nvPr/>
        </p:nvSpPr>
        <p:spPr>
          <a:xfrm>
            <a:off x="722376" y="2011680"/>
            <a:ext cx="5321808" cy="1435608"/>
          </a:xfrm>
          <a:prstGeom prst="rect">
            <a:avLst/>
          </a:prstGeom>
          <a:noFill/>
          <a:ln/>
        </p:spPr>
        <p:txBody>
          <a:bodyPr wrap="square" lIns="0" tIns="0" rIns="0" bIns="0" rtlCol="0" anchor="t"/>
          <a:lstStyle/>
          <a:p>
            <a:pPr algn="l" indent="0" marL="0">
              <a:lnSpc>
                <a:spcPct val="122000"/>
              </a:lnSpc>
              <a:buNone/>
            </a:pPr>
            <a:r>
              <a:rPr lang="en-US" sz="1450" i="1" dirty="0">
                <a:solidFill>
                  <a:srgbClr val="7FA36B"/>
                </a:solidFill>
                <a:latin typeface="Courier New" pitchFamily="34" charset="0"/>
                <a:ea typeface="Courier New" pitchFamily="34" charset="-122"/>
                <a:cs typeface="Courier New" pitchFamily="34" charset="-120"/>
              </a:rPr>
              <a:t>// Single-line comment</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Multi</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line</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comment</a:t>
            </a:r>
            <a:endParaRPr lang="en-US" sz="1450" dirty="0"/>
          </a:p>
          <a:p>
            <a:pPr algn="l" indent="0" marL="0">
              <a:lnSpc>
                <a:spcPct val="122000"/>
              </a:lnSpc>
              <a:buNone/>
            </a:pPr>
            <a:r>
              <a:rPr lang="en-US" sz="1450" dirty="0">
                <a:solidFill>
                  <a:srgbClr val="E7ECF5"/>
                </a:solidFill>
                <a:latin typeface="Courier New" pitchFamily="34" charset="0"/>
                <a:ea typeface="Courier New" pitchFamily="34" charset="-122"/>
                <a:cs typeface="Courier New" pitchFamily="34" charset="-120"/>
              </a:rPr>
              <a:t>*/</a:t>
            </a:r>
            <a:endParaRPr lang="en-US" sz="1450" dirty="0"/>
          </a:p>
        </p:txBody>
      </p:sp>
      <p:sp>
        <p:nvSpPr>
          <p:cNvPr id="11" name="Text 9"/>
          <p:cNvSpPr/>
          <p:nvPr/>
        </p:nvSpPr>
        <p:spPr>
          <a:xfrm>
            <a:off x="502920" y="3657600"/>
            <a:ext cx="5760720" cy="32004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Every college-style C++ program follows the same rhythm:</a:t>
            </a:r>
            <a:endParaRPr lang="en-US" sz="1250" dirty="0"/>
          </a:p>
        </p:txBody>
      </p:sp>
      <p:sp>
        <p:nvSpPr>
          <p:cNvPr id="12" name="Shape 10"/>
          <p:cNvSpPr/>
          <p:nvPr/>
        </p:nvSpPr>
        <p:spPr>
          <a:xfrm>
            <a:off x="502920" y="4023360"/>
            <a:ext cx="1417320" cy="502920"/>
          </a:xfrm>
          <a:prstGeom prst="roundRect">
            <a:avLst>
              <a:gd name="adj" fmla="val 14545"/>
            </a:avLst>
          </a:prstGeom>
          <a:solidFill>
            <a:srgbClr val="0B132B"/>
          </a:solidFill>
          <a:ln/>
        </p:spPr>
      </p:sp>
      <p:sp>
        <p:nvSpPr>
          <p:cNvPr id="13" name="Text 11"/>
          <p:cNvSpPr/>
          <p:nvPr/>
        </p:nvSpPr>
        <p:spPr>
          <a:xfrm>
            <a:off x="502920" y="4023360"/>
            <a:ext cx="141732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Input</a:t>
            </a:r>
            <a:endParaRPr lang="en-US" sz="1300" dirty="0"/>
          </a:p>
        </p:txBody>
      </p:sp>
      <p:sp>
        <p:nvSpPr>
          <p:cNvPr id="14" name="Shape 12"/>
          <p:cNvSpPr/>
          <p:nvPr/>
        </p:nvSpPr>
        <p:spPr>
          <a:xfrm>
            <a:off x="1947672" y="4274820"/>
            <a:ext cx="310896" cy="0"/>
          </a:xfrm>
          <a:prstGeom prst="line">
            <a:avLst/>
          </a:prstGeom>
          <a:noFill/>
          <a:ln w="25400">
            <a:solidFill>
              <a:srgbClr val="545C7E"/>
            </a:solidFill>
            <a:prstDash val="solid"/>
            <a:tailEnd type="triangle"/>
          </a:ln>
        </p:spPr>
      </p:sp>
      <p:sp>
        <p:nvSpPr>
          <p:cNvPr id="15" name="Shape 13"/>
          <p:cNvSpPr/>
          <p:nvPr/>
        </p:nvSpPr>
        <p:spPr>
          <a:xfrm>
            <a:off x="2286000" y="4023360"/>
            <a:ext cx="1417320" cy="502920"/>
          </a:xfrm>
          <a:prstGeom prst="roundRect">
            <a:avLst>
              <a:gd name="adj" fmla="val 14545"/>
            </a:avLst>
          </a:prstGeom>
          <a:solidFill>
            <a:srgbClr val="0B132B"/>
          </a:solidFill>
          <a:ln/>
        </p:spPr>
      </p:sp>
      <p:sp>
        <p:nvSpPr>
          <p:cNvPr id="16" name="Text 14"/>
          <p:cNvSpPr/>
          <p:nvPr/>
        </p:nvSpPr>
        <p:spPr>
          <a:xfrm>
            <a:off x="2286000" y="4023360"/>
            <a:ext cx="141732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a:t>
            </a:r>
            <a:endParaRPr lang="en-US" sz="1300" dirty="0"/>
          </a:p>
        </p:txBody>
      </p:sp>
      <p:sp>
        <p:nvSpPr>
          <p:cNvPr id="17" name="Shape 15"/>
          <p:cNvSpPr/>
          <p:nvPr/>
        </p:nvSpPr>
        <p:spPr>
          <a:xfrm>
            <a:off x="3730752" y="4274820"/>
            <a:ext cx="310896" cy="0"/>
          </a:xfrm>
          <a:prstGeom prst="line">
            <a:avLst/>
          </a:prstGeom>
          <a:noFill/>
          <a:ln w="25400">
            <a:solidFill>
              <a:srgbClr val="545C7E"/>
            </a:solidFill>
            <a:prstDash val="solid"/>
            <a:tailEnd type="triangle"/>
          </a:ln>
        </p:spPr>
      </p:sp>
      <p:sp>
        <p:nvSpPr>
          <p:cNvPr id="18" name="Shape 16"/>
          <p:cNvSpPr/>
          <p:nvPr/>
        </p:nvSpPr>
        <p:spPr>
          <a:xfrm>
            <a:off x="4069080" y="4023360"/>
            <a:ext cx="1417320" cy="502920"/>
          </a:xfrm>
          <a:prstGeom prst="roundRect">
            <a:avLst>
              <a:gd name="adj" fmla="val 14545"/>
            </a:avLst>
          </a:prstGeom>
          <a:solidFill>
            <a:srgbClr val="0B132B"/>
          </a:solidFill>
          <a:ln/>
        </p:spPr>
      </p:sp>
      <p:sp>
        <p:nvSpPr>
          <p:cNvPr id="19" name="Text 17"/>
          <p:cNvSpPr/>
          <p:nvPr/>
        </p:nvSpPr>
        <p:spPr>
          <a:xfrm>
            <a:off x="4069080" y="4023360"/>
            <a:ext cx="141732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20" name="Shape 18"/>
          <p:cNvSpPr/>
          <p:nvPr/>
        </p:nvSpPr>
        <p:spPr>
          <a:xfrm>
            <a:off x="502920" y="4846320"/>
            <a:ext cx="5760720" cy="1463040"/>
          </a:xfrm>
          <a:prstGeom prst="roundRect">
            <a:avLst>
              <a:gd name="adj" fmla="val 5625"/>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1" name="Shape 19"/>
          <p:cNvSpPr/>
          <p:nvPr/>
        </p:nvSpPr>
        <p:spPr>
          <a:xfrm>
            <a:off x="502920" y="4846320"/>
            <a:ext cx="5760720" cy="292608"/>
          </a:xfrm>
          <a:prstGeom prst="rect">
            <a:avLst/>
          </a:prstGeom>
          <a:solidFill>
            <a:srgbClr val="141B33"/>
          </a:solidFill>
          <a:ln/>
        </p:spPr>
      </p:sp>
      <p:sp>
        <p:nvSpPr>
          <p:cNvPr id="22" name="Shape 20"/>
          <p:cNvSpPr/>
          <p:nvPr/>
        </p:nvSpPr>
        <p:spPr>
          <a:xfrm>
            <a:off x="649224" y="4937760"/>
            <a:ext cx="109728" cy="109728"/>
          </a:xfrm>
          <a:prstGeom prst="ellipse">
            <a:avLst/>
          </a:prstGeom>
          <a:solidFill>
            <a:srgbClr val="FF6B6B"/>
          </a:solidFill>
          <a:ln/>
        </p:spPr>
      </p:sp>
      <p:sp>
        <p:nvSpPr>
          <p:cNvPr id="23" name="Shape 21"/>
          <p:cNvSpPr/>
          <p:nvPr/>
        </p:nvSpPr>
        <p:spPr>
          <a:xfrm>
            <a:off x="822960" y="4937760"/>
            <a:ext cx="109728" cy="109728"/>
          </a:xfrm>
          <a:prstGeom prst="ellipse">
            <a:avLst/>
          </a:prstGeom>
          <a:solidFill>
            <a:srgbClr val="FFD166"/>
          </a:solidFill>
          <a:ln/>
        </p:spPr>
      </p:sp>
      <p:sp>
        <p:nvSpPr>
          <p:cNvPr id="24" name="Shape 22"/>
          <p:cNvSpPr/>
          <p:nvPr/>
        </p:nvSpPr>
        <p:spPr>
          <a:xfrm>
            <a:off x="996696" y="4937760"/>
            <a:ext cx="109728" cy="109728"/>
          </a:xfrm>
          <a:prstGeom prst="ellipse">
            <a:avLst/>
          </a:prstGeom>
          <a:solidFill>
            <a:srgbClr val="2FD8A2"/>
          </a:solidFill>
          <a:ln/>
        </p:spPr>
      </p:sp>
      <p:sp>
        <p:nvSpPr>
          <p:cNvPr id="25" name="Text 23"/>
          <p:cNvSpPr/>
          <p:nvPr/>
        </p:nvSpPr>
        <p:spPr>
          <a:xfrm>
            <a:off x="502920" y="48463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skeleton</a:t>
            </a:r>
            <a:endParaRPr lang="en-US" sz="1000" dirty="0"/>
          </a:p>
        </p:txBody>
      </p:sp>
      <p:sp>
        <p:nvSpPr>
          <p:cNvPr id="26" name="Text 24"/>
          <p:cNvSpPr/>
          <p:nvPr/>
        </p:nvSpPr>
        <p:spPr>
          <a:xfrm>
            <a:off x="722376" y="5257800"/>
            <a:ext cx="5321808" cy="932688"/>
          </a:xfrm>
          <a:prstGeom prst="rect">
            <a:avLst/>
          </a:prstGeom>
          <a:noFill/>
          <a:ln/>
        </p:spPr>
        <p:txBody>
          <a:bodyPr wrap="square" lIns="0" tIns="0" rIns="0" bIns="0" rtlCol="0" anchor="t"/>
          <a:lstStyle/>
          <a:p>
            <a:pPr algn="l" indent="0" marL="0">
              <a:lnSpc>
                <a:spcPct val="122000"/>
              </a:lnSpc>
              <a:buNone/>
            </a:pPr>
            <a:r>
              <a:rPr lang="en-US" sz="1200" dirty="0">
                <a:solidFill>
                  <a:srgbClr val="FF8FB1"/>
                </a:solidFill>
                <a:latin typeface="Courier New" pitchFamily="34" charset="0"/>
                <a:ea typeface="Courier New" pitchFamily="34" charset="-122"/>
                <a:cs typeface="Courier New" pitchFamily="34" charset="-120"/>
              </a:rPr>
              <a:t>#include &lt;iostream&gt;</a:t>
            </a:r>
            <a:endParaRPr lang="en-US" sz="1200" dirty="0"/>
          </a:p>
          <a:p>
            <a:pPr algn="l" indent="0" marL="0">
              <a:lnSpc>
                <a:spcPct val="122000"/>
              </a:lnSpc>
              <a:buNone/>
            </a:pPr>
            <a:r>
              <a:rPr lang="en-US" sz="1200" dirty="0">
                <a:solidFill>
                  <a:srgbClr val="7FB2FF"/>
                </a:solidFill>
                <a:latin typeface="Courier New" pitchFamily="34" charset="0"/>
                <a:ea typeface="Courier New" pitchFamily="34" charset="-122"/>
                <a:cs typeface="Courier New" pitchFamily="34" charset="-120"/>
              </a:rPr>
              <a:t>using</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7FB2FF"/>
                </a:solidFill>
                <a:latin typeface="Courier New" pitchFamily="34" charset="0"/>
                <a:ea typeface="Courier New" pitchFamily="34" charset="-122"/>
                <a:cs typeface="Courier New" pitchFamily="34" charset="-120"/>
              </a:rPr>
              <a:t>namespace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std</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declarations, input,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processing, output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p:txBody>
      </p:sp>
      <p:sp>
        <p:nvSpPr>
          <p:cNvPr id="27" name="Shape 25"/>
          <p:cNvSpPr/>
          <p:nvPr/>
        </p:nvSpPr>
        <p:spPr>
          <a:xfrm>
            <a:off x="6903720" y="1600200"/>
            <a:ext cx="4800600" cy="3017520"/>
          </a:xfrm>
          <a:prstGeom prst="roundRect">
            <a:avLst>
              <a:gd name="adj" fmla="val 2727"/>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8" name="Shape 26"/>
          <p:cNvSpPr/>
          <p:nvPr/>
        </p:nvSpPr>
        <p:spPr>
          <a:xfrm>
            <a:off x="6903720" y="1600200"/>
            <a:ext cx="4800600" cy="292608"/>
          </a:xfrm>
          <a:prstGeom prst="rect">
            <a:avLst/>
          </a:prstGeom>
          <a:solidFill>
            <a:srgbClr val="141B33"/>
          </a:solidFill>
          <a:ln/>
        </p:spPr>
      </p:sp>
      <p:sp>
        <p:nvSpPr>
          <p:cNvPr id="29" name="Shape 27"/>
          <p:cNvSpPr/>
          <p:nvPr/>
        </p:nvSpPr>
        <p:spPr>
          <a:xfrm>
            <a:off x="7050024" y="1691640"/>
            <a:ext cx="109728" cy="109728"/>
          </a:xfrm>
          <a:prstGeom prst="ellipse">
            <a:avLst/>
          </a:prstGeom>
          <a:solidFill>
            <a:srgbClr val="FF6B6B"/>
          </a:solidFill>
          <a:ln/>
        </p:spPr>
      </p:sp>
      <p:sp>
        <p:nvSpPr>
          <p:cNvPr id="30" name="Shape 28"/>
          <p:cNvSpPr/>
          <p:nvPr/>
        </p:nvSpPr>
        <p:spPr>
          <a:xfrm>
            <a:off x="7223760" y="1691640"/>
            <a:ext cx="109728" cy="109728"/>
          </a:xfrm>
          <a:prstGeom prst="ellipse">
            <a:avLst/>
          </a:prstGeom>
          <a:solidFill>
            <a:srgbClr val="FFD166"/>
          </a:solidFill>
          <a:ln/>
        </p:spPr>
      </p:sp>
      <p:sp>
        <p:nvSpPr>
          <p:cNvPr id="31" name="Shape 29"/>
          <p:cNvSpPr/>
          <p:nvPr/>
        </p:nvSpPr>
        <p:spPr>
          <a:xfrm>
            <a:off x="7397496" y="1691640"/>
            <a:ext cx="109728" cy="109728"/>
          </a:xfrm>
          <a:prstGeom prst="ellipse">
            <a:avLst/>
          </a:prstGeom>
          <a:solidFill>
            <a:srgbClr val="2FD8A2"/>
          </a:solidFill>
          <a:ln/>
        </p:spPr>
      </p:sp>
      <p:sp>
        <p:nvSpPr>
          <p:cNvPr id="32" name="Text 30"/>
          <p:cNvSpPr/>
          <p:nvPr/>
        </p:nvSpPr>
        <p:spPr>
          <a:xfrm>
            <a:off x="6903720" y="160020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add two numbers</a:t>
            </a:r>
            <a:endParaRPr lang="en-US" sz="1000" dirty="0"/>
          </a:p>
        </p:txBody>
      </p:sp>
      <p:sp>
        <p:nvSpPr>
          <p:cNvPr id="33" name="Text 31"/>
          <p:cNvSpPr/>
          <p:nvPr/>
        </p:nvSpPr>
        <p:spPr>
          <a:xfrm>
            <a:off x="7123176" y="2011680"/>
            <a:ext cx="4361688" cy="2487168"/>
          </a:xfrm>
          <a:prstGeom prst="rect">
            <a:avLst/>
          </a:prstGeom>
          <a:noFill/>
          <a:ln/>
        </p:spPr>
        <p:txBody>
          <a:bodyPr wrap="square" lIns="0" tIns="0" rIns="0" bIns="0" rtlCol="0" anchor="t"/>
          <a:lstStyle/>
          <a:p>
            <a:pPr algn="l" indent="0" marL="0">
              <a:lnSpc>
                <a:spcPct val="122000"/>
              </a:lnSpc>
              <a:buNone/>
            </a:pPr>
            <a:r>
              <a:rPr lang="en-US" sz="1250" dirty="0">
                <a:solidFill>
                  <a:srgbClr val="FF8FB1"/>
                </a:solidFill>
                <a:latin typeface="Courier New" pitchFamily="34" charset="0"/>
                <a:ea typeface="Courier New" pitchFamily="34" charset="-122"/>
                <a:cs typeface="Courier New" pitchFamily="34" charset="-120"/>
              </a:rPr>
              <a:t>#include &lt;iostream&gt;</a:t>
            </a:r>
            <a:endParaRPr lang="en-US" sz="1250" dirty="0"/>
          </a:p>
          <a:p>
            <a:pPr algn="l" indent="0" marL="0">
              <a:lnSpc>
                <a:spcPct val="122000"/>
              </a:lnSpc>
              <a:buNone/>
            </a:pPr>
            <a:r>
              <a:rPr lang="en-US" sz="1250" dirty="0">
                <a:solidFill>
                  <a:srgbClr val="7FB2FF"/>
                </a:solidFill>
                <a:latin typeface="Courier New" pitchFamily="34" charset="0"/>
                <a:ea typeface="Courier New" pitchFamily="34" charset="-122"/>
                <a:cs typeface="Courier New" pitchFamily="34" charset="-120"/>
              </a:rPr>
              <a:t>using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7FB2FF"/>
                </a:solidFill>
                <a:latin typeface="Courier New" pitchFamily="34" charset="0"/>
                <a:ea typeface="Courier New" pitchFamily="34" charset="-122"/>
                <a:cs typeface="Courier New" pitchFamily="34" charset="-120"/>
              </a:rPr>
              <a:t>namespace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std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declarations</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&gt;&gt;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&gt;&gt;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input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sum</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processing</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sum</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output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34" name="Shape 32"/>
          <p:cNvSpPr/>
          <p:nvPr/>
        </p:nvSpPr>
        <p:spPr>
          <a:xfrm>
            <a:off x="6903720" y="4800600"/>
            <a:ext cx="4800600" cy="1508760"/>
          </a:xfrm>
          <a:prstGeom prst="roundRect">
            <a:avLst>
              <a:gd name="adj" fmla="val 4848"/>
            </a:avLst>
          </a:prstGeom>
          <a:solidFill>
            <a:srgbClr val="EAFBF4"/>
          </a:solidFill>
          <a:ln w="12700">
            <a:solidFill>
              <a:srgbClr val="16A67C"/>
            </a:solidFill>
            <a:prstDash val="solid"/>
          </a:ln>
        </p:spPr>
      </p:sp>
      <p:sp>
        <p:nvSpPr>
          <p:cNvPr id="35" name="Text 33"/>
          <p:cNvSpPr/>
          <p:nvPr/>
        </p:nvSpPr>
        <p:spPr>
          <a:xfrm>
            <a:off x="7086600" y="488289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Mini exercise</a:t>
            </a:r>
            <a:endParaRPr lang="en-US" sz="1050" dirty="0"/>
          </a:p>
        </p:txBody>
      </p:sp>
      <p:sp>
        <p:nvSpPr>
          <p:cNvPr id="36" name="Text 34"/>
          <p:cNvSpPr/>
          <p:nvPr/>
        </p:nvSpPr>
        <p:spPr>
          <a:xfrm>
            <a:off x="7086600" y="5148072"/>
            <a:ext cx="4434840" cy="10698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Modify this program to also print the product and the difference of a and b, each on its own line.</a:t>
            </a:r>
            <a:endParaRPr lang="en-US" sz="1100" dirty="0"/>
          </a:p>
        </p:txBody>
      </p:sp>
      <p:sp>
        <p:nvSpPr>
          <p:cNvPr id="38" name="Text 35"/>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9" name="Text 36"/>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5</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Variables — The Memory Box Model</a:t>
            </a:r>
            <a:endParaRPr lang="en-US" sz="2800" dirty="0"/>
          </a:p>
        </p:txBody>
      </p:sp>
      <p:sp>
        <p:nvSpPr>
          <p:cNvPr id="4" name="Text 2"/>
          <p:cNvSpPr/>
          <p:nvPr/>
        </p:nvSpPr>
        <p:spPr>
          <a:xfrm>
            <a:off x="502920" y="1554480"/>
            <a:ext cx="11155680" cy="548640"/>
          </a:xfrm>
          <a:prstGeom prst="rect">
            <a:avLst/>
          </a:prstGeom>
          <a:noFill/>
          <a:ln/>
        </p:spPr>
        <p:txBody>
          <a:bodyPr wrap="square" rtlCol="0" anchor="t"/>
          <a:lstStyle/>
          <a:p>
            <a:pPr indent="0" marL="0">
              <a:buNone/>
            </a:pPr>
            <a:r>
              <a:rPr lang="en-US" sz="1250" dirty="0">
                <a:solidFill>
                  <a:srgbClr val="545C7E"/>
                </a:solidFill>
                <a:latin typeface="Calibri" pitchFamily="34" charset="0"/>
                <a:ea typeface="Calibri" pitchFamily="34" charset="-122"/>
                <a:cs typeface="Calibri" pitchFamily="34" charset="-120"/>
              </a:rPr>
              <a:t>Think of a variable as a labelled box in memory. Declaring it reserves the box; assigning gives it a value; reassigning replaces what's inside — the label never changes.</a:t>
            </a:r>
            <a:endParaRPr lang="en-US" sz="1250" dirty="0"/>
          </a:p>
        </p:txBody>
      </p:sp>
      <p:sp>
        <p:nvSpPr>
          <p:cNvPr id="5" name="Shape 3"/>
          <p:cNvSpPr/>
          <p:nvPr/>
        </p:nvSpPr>
        <p:spPr>
          <a:xfrm>
            <a:off x="502920" y="2377440"/>
            <a:ext cx="1371600" cy="777240"/>
          </a:xfrm>
          <a:prstGeom prst="rect">
            <a:avLst/>
          </a:prstGeom>
          <a:solidFill>
            <a:srgbClr val="FFFFFF"/>
          </a:solidFill>
          <a:ln w="15875">
            <a:solidFill>
              <a:srgbClr val="0B132B"/>
            </a:solidFill>
            <a:prstDash val="solid"/>
          </a:ln>
        </p:spPr>
      </p:sp>
      <p:sp>
        <p:nvSpPr>
          <p:cNvPr id="6" name="Text 4"/>
          <p:cNvSpPr/>
          <p:nvPr/>
        </p:nvSpPr>
        <p:spPr>
          <a:xfrm>
            <a:off x="502920" y="2377440"/>
            <a:ext cx="1371600" cy="777240"/>
          </a:xfrm>
          <a:prstGeom prst="rect">
            <a:avLst/>
          </a:prstGeom>
          <a:noFill/>
          <a:ln/>
        </p:spPr>
        <p:txBody>
          <a:bodyPr wrap="square" rtlCol="0" anchor="ctr"/>
          <a:lstStyle/>
          <a:p>
            <a:pPr algn="ctr" indent="0" marL="0">
              <a:buNone/>
            </a:pPr>
            <a:r>
              <a:rPr lang="en-US" sz="2000" b="1" dirty="0">
                <a:solidFill>
                  <a:srgbClr val="12172B"/>
                </a:solidFill>
                <a:latin typeface="Courier New" pitchFamily="34" charset="0"/>
                <a:ea typeface="Courier New" pitchFamily="34" charset="-122"/>
                <a:cs typeface="Courier New" pitchFamily="34" charset="-120"/>
              </a:rPr>
              <a:t>20</a:t>
            </a:r>
            <a:endParaRPr lang="en-US" sz="2000" dirty="0"/>
          </a:p>
        </p:txBody>
      </p:sp>
      <p:sp>
        <p:nvSpPr>
          <p:cNvPr id="7" name="Text 5"/>
          <p:cNvSpPr/>
          <p:nvPr/>
        </p:nvSpPr>
        <p:spPr>
          <a:xfrm>
            <a:off x="502920" y="3191256"/>
            <a:ext cx="137160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age</a:t>
            </a:r>
            <a:endParaRPr lang="en-US" sz="950" dirty="0"/>
          </a:p>
        </p:txBody>
      </p:sp>
      <p:sp>
        <p:nvSpPr>
          <p:cNvPr id="8" name="Text 6"/>
          <p:cNvSpPr/>
          <p:nvPr/>
        </p:nvSpPr>
        <p:spPr>
          <a:xfrm>
            <a:off x="2240280" y="2606040"/>
            <a:ext cx="3017520" cy="365760"/>
          </a:xfrm>
          <a:prstGeom prst="rect">
            <a:avLst/>
          </a:prstGeom>
          <a:noFill/>
          <a:ln/>
        </p:spPr>
        <p:txBody>
          <a:bodyPr wrap="square" rtlCol="0" anchor="ctr"/>
          <a:lstStyle/>
          <a:p>
            <a:pPr indent="0" marL="0">
              <a:buNone/>
            </a:pPr>
            <a:r>
              <a:rPr lang="en-US" sz="1500" b="1" dirty="0">
                <a:solidFill>
                  <a:srgbClr val="12172B"/>
                </a:solidFill>
                <a:latin typeface="Courier New" pitchFamily="34" charset="0"/>
                <a:ea typeface="Courier New" pitchFamily="34" charset="-122"/>
                <a:cs typeface="Courier New" pitchFamily="34" charset="-120"/>
              </a:rPr>
              <a:t>int age = 20;</a:t>
            </a:r>
            <a:endParaRPr lang="en-US" sz="1500" dirty="0"/>
          </a:p>
        </p:txBody>
      </p:sp>
      <p:sp>
        <p:nvSpPr>
          <p:cNvPr id="9" name="Shape 7"/>
          <p:cNvSpPr/>
          <p:nvPr/>
        </p:nvSpPr>
        <p:spPr>
          <a:xfrm>
            <a:off x="502920" y="3520440"/>
            <a:ext cx="5760720" cy="2651760"/>
          </a:xfrm>
          <a:prstGeom prst="roundRect">
            <a:avLst>
              <a:gd name="adj" fmla="val 310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0" name="Shape 8"/>
          <p:cNvSpPr/>
          <p:nvPr/>
        </p:nvSpPr>
        <p:spPr>
          <a:xfrm>
            <a:off x="502920" y="3520440"/>
            <a:ext cx="5760720" cy="292608"/>
          </a:xfrm>
          <a:prstGeom prst="rect">
            <a:avLst/>
          </a:prstGeom>
          <a:solidFill>
            <a:srgbClr val="141B33"/>
          </a:solidFill>
          <a:ln/>
        </p:spPr>
      </p:sp>
      <p:sp>
        <p:nvSpPr>
          <p:cNvPr id="11" name="Shape 9"/>
          <p:cNvSpPr/>
          <p:nvPr/>
        </p:nvSpPr>
        <p:spPr>
          <a:xfrm>
            <a:off x="649224" y="3611880"/>
            <a:ext cx="109728" cy="109728"/>
          </a:xfrm>
          <a:prstGeom prst="ellipse">
            <a:avLst/>
          </a:prstGeom>
          <a:solidFill>
            <a:srgbClr val="FF6B6B"/>
          </a:solidFill>
          <a:ln/>
        </p:spPr>
      </p:sp>
      <p:sp>
        <p:nvSpPr>
          <p:cNvPr id="12" name="Shape 10"/>
          <p:cNvSpPr/>
          <p:nvPr/>
        </p:nvSpPr>
        <p:spPr>
          <a:xfrm>
            <a:off x="822960" y="3611880"/>
            <a:ext cx="109728" cy="109728"/>
          </a:xfrm>
          <a:prstGeom prst="ellipse">
            <a:avLst/>
          </a:prstGeom>
          <a:solidFill>
            <a:srgbClr val="FFD166"/>
          </a:solidFill>
          <a:ln/>
        </p:spPr>
      </p:sp>
      <p:sp>
        <p:nvSpPr>
          <p:cNvPr id="13" name="Shape 11"/>
          <p:cNvSpPr/>
          <p:nvPr/>
        </p:nvSpPr>
        <p:spPr>
          <a:xfrm>
            <a:off x="996696" y="3611880"/>
            <a:ext cx="109728" cy="109728"/>
          </a:xfrm>
          <a:prstGeom prst="ellipse">
            <a:avLst/>
          </a:prstGeom>
          <a:solidFill>
            <a:srgbClr val="2FD8A2"/>
          </a:solidFill>
          <a:ln/>
        </p:spPr>
      </p:sp>
      <p:sp>
        <p:nvSpPr>
          <p:cNvPr id="14" name="Text 12"/>
          <p:cNvSpPr/>
          <p:nvPr/>
        </p:nvSpPr>
        <p:spPr>
          <a:xfrm>
            <a:off x="502920" y="35204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declare · init · assign</a:t>
            </a:r>
            <a:endParaRPr lang="en-US" sz="1000" dirty="0"/>
          </a:p>
        </p:txBody>
      </p:sp>
      <p:sp>
        <p:nvSpPr>
          <p:cNvPr id="15" name="Text 13"/>
          <p:cNvSpPr/>
          <p:nvPr/>
        </p:nvSpPr>
        <p:spPr>
          <a:xfrm>
            <a:off x="722376" y="3931920"/>
            <a:ext cx="5321808" cy="212140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age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declaration — box exists, empty</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age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assignment  — value placed inside</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age2</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declaration + initialisation</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age3</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brace initialisation (modern, safe)</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age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reassignment — box's value changes</a:t>
            </a:r>
            <a:endParaRPr lang="en-US" sz="1300" dirty="0"/>
          </a:p>
        </p:txBody>
      </p:sp>
      <p:sp>
        <p:nvSpPr>
          <p:cNvPr id="16" name="Shape 14"/>
          <p:cNvSpPr/>
          <p:nvPr/>
        </p:nvSpPr>
        <p:spPr>
          <a:xfrm>
            <a:off x="6903720" y="1554480"/>
            <a:ext cx="4800600" cy="1417320"/>
          </a:xfrm>
          <a:prstGeom prst="roundRect">
            <a:avLst>
              <a:gd name="adj" fmla="val 5161"/>
            </a:avLst>
          </a:prstGeom>
          <a:solidFill>
            <a:srgbClr val="FDEBEE"/>
          </a:solidFill>
          <a:ln w="12700">
            <a:solidFill>
              <a:srgbClr val="E0455B"/>
            </a:solidFill>
            <a:prstDash val="solid"/>
          </a:ln>
        </p:spPr>
      </p:sp>
      <p:sp>
        <p:nvSpPr>
          <p:cNvPr id="17" name="Text 15"/>
          <p:cNvSpPr/>
          <p:nvPr/>
        </p:nvSpPr>
        <p:spPr>
          <a:xfrm>
            <a:off x="7086600" y="1636776"/>
            <a:ext cx="4434840" cy="237744"/>
          </a:xfrm>
          <a:prstGeom prst="rect">
            <a:avLst/>
          </a:prstGeom>
          <a:noFill/>
          <a:ln/>
        </p:spPr>
        <p:txBody>
          <a:bodyPr wrap="square" rtlCol="0" anchor="ctr"/>
          <a:lstStyle/>
          <a:p>
            <a:pPr indent="0" marL="0">
              <a:buNone/>
            </a:pPr>
            <a:r>
              <a:rPr lang="en-US" sz="1050" b="1" spc="100" kern="0" dirty="0">
                <a:solidFill>
                  <a:srgbClr val="E0455B"/>
                </a:solidFill>
                <a:latin typeface="Calibri" pitchFamily="34" charset="0"/>
                <a:ea typeface="Calibri" pitchFamily="34" charset="-122"/>
                <a:cs typeface="Calibri" pitchFamily="34" charset="-120"/>
              </a:rPr>
              <a:t>Uninitialised = garbage</a:t>
            </a:r>
            <a:endParaRPr lang="en-US" sz="1050" dirty="0"/>
          </a:p>
        </p:txBody>
      </p:sp>
      <p:sp>
        <p:nvSpPr>
          <p:cNvPr id="18" name="Text 16"/>
          <p:cNvSpPr/>
          <p:nvPr/>
        </p:nvSpPr>
        <p:spPr>
          <a:xfrm>
            <a:off x="7086600" y="1901952"/>
            <a:ext cx="4434840" cy="9784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int age; without a value can hold whatever bytes were already sitting in that memory. Always initialise before you read a variable.</a:t>
            </a:r>
            <a:endParaRPr lang="en-US" sz="1100" dirty="0"/>
          </a:p>
        </p:txBody>
      </p:sp>
      <p:sp>
        <p:nvSpPr>
          <p:cNvPr id="19" name="Shape 17"/>
          <p:cNvSpPr/>
          <p:nvPr/>
        </p:nvSpPr>
        <p:spPr>
          <a:xfrm>
            <a:off x="6903720" y="3246120"/>
            <a:ext cx="146304" cy="146304"/>
          </a:xfrm>
          <a:prstGeom prst="ellipse">
            <a:avLst/>
          </a:prstGeom>
          <a:solidFill>
            <a:srgbClr val="2FD8A2"/>
          </a:solidFill>
          <a:ln/>
        </p:spPr>
      </p:sp>
      <p:sp>
        <p:nvSpPr>
          <p:cNvPr id="20" name="Text 18"/>
          <p:cNvSpPr/>
          <p:nvPr/>
        </p:nvSpPr>
        <p:spPr>
          <a:xfrm>
            <a:off x="7196328" y="3145536"/>
            <a:ext cx="450799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Declaration</a:t>
            </a:r>
            <a:endParaRPr lang="en-US" sz="1300" dirty="0"/>
          </a:p>
        </p:txBody>
      </p:sp>
      <p:sp>
        <p:nvSpPr>
          <p:cNvPr id="21" name="Text 19"/>
          <p:cNvSpPr/>
          <p:nvPr/>
        </p:nvSpPr>
        <p:spPr>
          <a:xfrm>
            <a:off x="7196328" y="3401568"/>
            <a:ext cx="450799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Reserves a named box of the right size for its type.</a:t>
            </a:r>
            <a:endParaRPr lang="en-US" sz="1050" dirty="0"/>
          </a:p>
        </p:txBody>
      </p:sp>
      <p:sp>
        <p:nvSpPr>
          <p:cNvPr id="22" name="Shape 20"/>
          <p:cNvSpPr/>
          <p:nvPr/>
        </p:nvSpPr>
        <p:spPr>
          <a:xfrm>
            <a:off x="6903720" y="3813048"/>
            <a:ext cx="146304" cy="146304"/>
          </a:xfrm>
          <a:prstGeom prst="ellipse">
            <a:avLst/>
          </a:prstGeom>
          <a:solidFill>
            <a:srgbClr val="2FD8A2"/>
          </a:solidFill>
          <a:ln/>
        </p:spPr>
      </p:sp>
      <p:sp>
        <p:nvSpPr>
          <p:cNvPr id="23" name="Text 21"/>
          <p:cNvSpPr/>
          <p:nvPr/>
        </p:nvSpPr>
        <p:spPr>
          <a:xfrm>
            <a:off x="7196328" y="3712464"/>
            <a:ext cx="450799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Initialisation</a:t>
            </a:r>
            <a:endParaRPr lang="en-US" sz="1300" dirty="0"/>
          </a:p>
        </p:txBody>
      </p:sp>
      <p:sp>
        <p:nvSpPr>
          <p:cNvPr id="24" name="Text 22"/>
          <p:cNvSpPr/>
          <p:nvPr/>
        </p:nvSpPr>
        <p:spPr>
          <a:xfrm>
            <a:off x="7196328" y="3968496"/>
            <a:ext cx="450799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Giving a value at the moment of declaration.</a:t>
            </a:r>
            <a:endParaRPr lang="en-US" sz="1050" dirty="0"/>
          </a:p>
        </p:txBody>
      </p:sp>
      <p:sp>
        <p:nvSpPr>
          <p:cNvPr id="25" name="Shape 23"/>
          <p:cNvSpPr/>
          <p:nvPr/>
        </p:nvSpPr>
        <p:spPr>
          <a:xfrm>
            <a:off x="6903720" y="4379976"/>
            <a:ext cx="146304" cy="146304"/>
          </a:xfrm>
          <a:prstGeom prst="ellipse">
            <a:avLst/>
          </a:prstGeom>
          <a:solidFill>
            <a:srgbClr val="2FD8A2"/>
          </a:solidFill>
          <a:ln/>
        </p:spPr>
      </p:sp>
      <p:sp>
        <p:nvSpPr>
          <p:cNvPr id="26" name="Text 24"/>
          <p:cNvSpPr/>
          <p:nvPr/>
        </p:nvSpPr>
        <p:spPr>
          <a:xfrm>
            <a:off x="7196328" y="4279392"/>
            <a:ext cx="450799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Assignment / Reassignment</a:t>
            </a:r>
            <a:endParaRPr lang="en-US" sz="1300" dirty="0"/>
          </a:p>
        </p:txBody>
      </p:sp>
      <p:sp>
        <p:nvSpPr>
          <p:cNvPr id="27" name="Text 25"/>
          <p:cNvSpPr/>
          <p:nvPr/>
        </p:nvSpPr>
        <p:spPr>
          <a:xfrm>
            <a:off x="7196328" y="4535424"/>
            <a:ext cx="450799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Placing or replacing the value later with =.</a:t>
            </a:r>
            <a:endParaRPr lang="en-US" sz="1050" dirty="0"/>
          </a:p>
        </p:txBody>
      </p:sp>
      <p:sp>
        <p:nvSpPr>
          <p:cNvPr id="29" name="Text 26"/>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0" name="Text 27"/>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5–6</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Data Types, sizeof(), Constants &amp; Literals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5852160" cy="914400"/>
        </p:xfrm>
        <a:graphic>
          <a:graphicData uri="http://schemas.openxmlformats.org/drawingml/2006/table">
            <a:tbl>
              <a:tblPr/>
              <a:tblGrid>
                <a:gridCol w="1371600"/>
                <a:gridCol w="2926080"/>
                <a:gridCol w="1554480"/>
              </a:tblGrid>
              <a:tr h="29718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Typical size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29718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int</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Whole numbers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4 bytes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718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long long</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Very large whole numbers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8 bytes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718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float</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Decimal, less precise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4 bytes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718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double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Decimal, more precise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8 bytes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718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char</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A single character</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1 byte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718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bool</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true / false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1 byte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718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string</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Text (needs &lt;string&gt;)</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varies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4114800"/>
            <a:ext cx="5852160" cy="502920"/>
          </a:xfrm>
          <a:prstGeom prst="rect">
            <a:avLst/>
          </a:prstGeom>
          <a:noFill/>
          <a:ln/>
        </p:spPr>
        <p:txBody>
          <a:bodyPr wrap="square" rtlCol="0" anchor="t"/>
          <a:lstStyle/>
          <a:p>
            <a:pPr indent="0" marL="0">
              <a:buNone/>
            </a:pPr>
            <a:r>
              <a:rPr lang="en-US" sz="1050" i="1" dirty="0">
                <a:solidFill>
                  <a:srgbClr val="545C7E"/>
                </a:solidFill>
                <a:latin typeface="Calibri" pitchFamily="34" charset="0"/>
                <a:ea typeface="Calibri" pitchFamily="34" charset="-122"/>
                <a:cs typeface="Calibri" pitchFamily="34" charset="-120"/>
              </a:rPr>
              <a:t>Sizes are system-dependent — check with sizeof(). DSA problems that overflow int (&gt;~2.1 billion) are a classic reason to reach for long long.</a:t>
            </a:r>
            <a:endParaRPr lang="en-US" sz="1050" dirty="0"/>
          </a:p>
        </p:txBody>
      </p:sp>
      <p:sp>
        <p:nvSpPr>
          <p:cNvPr id="6" name="Shape 3"/>
          <p:cNvSpPr/>
          <p:nvPr/>
        </p:nvSpPr>
        <p:spPr>
          <a:xfrm>
            <a:off x="502920" y="4663440"/>
            <a:ext cx="5852160" cy="1645920"/>
          </a:xfrm>
          <a:prstGeom prst="roundRect">
            <a:avLst>
              <a:gd name="adj" fmla="val 500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7" name="Shape 4"/>
          <p:cNvSpPr/>
          <p:nvPr/>
        </p:nvSpPr>
        <p:spPr>
          <a:xfrm>
            <a:off x="502920" y="4663440"/>
            <a:ext cx="5852160" cy="292608"/>
          </a:xfrm>
          <a:prstGeom prst="rect">
            <a:avLst/>
          </a:prstGeom>
          <a:solidFill>
            <a:srgbClr val="141B33"/>
          </a:solidFill>
          <a:ln/>
        </p:spPr>
      </p:sp>
      <p:sp>
        <p:nvSpPr>
          <p:cNvPr id="8" name="Shape 5"/>
          <p:cNvSpPr/>
          <p:nvPr/>
        </p:nvSpPr>
        <p:spPr>
          <a:xfrm>
            <a:off x="649224" y="4754880"/>
            <a:ext cx="109728" cy="109728"/>
          </a:xfrm>
          <a:prstGeom prst="ellipse">
            <a:avLst/>
          </a:prstGeom>
          <a:solidFill>
            <a:srgbClr val="FF6B6B"/>
          </a:solidFill>
          <a:ln/>
        </p:spPr>
      </p:sp>
      <p:sp>
        <p:nvSpPr>
          <p:cNvPr id="9" name="Shape 6"/>
          <p:cNvSpPr/>
          <p:nvPr/>
        </p:nvSpPr>
        <p:spPr>
          <a:xfrm>
            <a:off x="822960" y="4754880"/>
            <a:ext cx="109728" cy="109728"/>
          </a:xfrm>
          <a:prstGeom prst="ellipse">
            <a:avLst/>
          </a:prstGeom>
          <a:solidFill>
            <a:srgbClr val="FFD166"/>
          </a:solidFill>
          <a:ln/>
        </p:spPr>
      </p:sp>
      <p:sp>
        <p:nvSpPr>
          <p:cNvPr id="10" name="Shape 7"/>
          <p:cNvSpPr/>
          <p:nvPr/>
        </p:nvSpPr>
        <p:spPr>
          <a:xfrm>
            <a:off x="996696" y="4754880"/>
            <a:ext cx="109728" cy="109728"/>
          </a:xfrm>
          <a:prstGeom prst="ellipse">
            <a:avLst/>
          </a:prstGeom>
          <a:solidFill>
            <a:srgbClr val="2FD8A2"/>
          </a:solidFill>
          <a:ln/>
        </p:spPr>
      </p:sp>
      <p:sp>
        <p:nvSpPr>
          <p:cNvPr id="11" name="Text 8"/>
          <p:cNvSpPr/>
          <p:nvPr/>
        </p:nvSpPr>
        <p:spPr>
          <a:xfrm>
            <a:off x="502920" y="4663440"/>
            <a:ext cx="566928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sizeof()</a:t>
            </a:r>
            <a:endParaRPr lang="en-US" sz="1000" dirty="0"/>
          </a:p>
        </p:txBody>
      </p:sp>
      <p:sp>
        <p:nvSpPr>
          <p:cNvPr id="12" name="Text 9"/>
          <p:cNvSpPr/>
          <p:nvPr/>
        </p:nvSpPr>
        <p:spPr>
          <a:xfrm>
            <a:off x="722376" y="5074920"/>
            <a:ext cx="5413248" cy="111556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sizeof</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4</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sizeof</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long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long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8</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long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long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bigCount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10000000000LL</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3" name="Shape 10"/>
          <p:cNvSpPr/>
          <p:nvPr/>
        </p:nvSpPr>
        <p:spPr>
          <a:xfrm>
            <a:off x="6995160" y="1600200"/>
            <a:ext cx="4754880" cy="2148840"/>
          </a:xfrm>
          <a:prstGeom prst="roundRect">
            <a:avLst>
              <a:gd name="adj" fmla="val 383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4" name="Shape 11"/>
          <p:cNvSpPr/>
          <p:nvPr/>
        </p:nvSpPr>
        <p:spPr>
          <a:xfrm>
            <a:off x="6995160" y="1600200"/>
            <a:ext cx="4754880" cy="292608"/>
          </a:xfrm>
          <a:prstGeom prst="rect">
            <a:avLst/>
          </a:prstGeom>
          <a:solidFill>
            <a:srgbClr val="141B33"/>
          </a:solidFill>
          <a:ln/>
        </p:spPr>
      </p:sp>
      <p:sp>
        <p:nvSpPr>
          <p:cNvPr id="15" name="Shape 12"/>
          <p:cNvSpPr/>
          <p:nvPr/>
        </p:nvSpPr>
        <p:spPr>
          <a:xfrm>
            <a:off x="7141464" y="1691640"/>
            <a:ext cx="109728" cy="109728"/>
          </a:xfrm>
          <a:prstGeom prst="ellipse">
            <a:avLst/>
          </a:prstGeom>
          <a:solidFill>
            <a:srgbClr val="FF6B6B"/>
          </a:solidFill>
          <a:ln/>
        </p:spPr>
      </p:sp>
      <p:sp>
        <p:nvSpPr>
          <p:cNvPr id="16" name="Shape 13"/>
          <p:cNvSpPr/>
          <p:nvPr/>
        </p:nvSpPr>
        <p:spPr>
          <a:xfrm>
            <a:off x="7315200" y="1691640"/>
            <a:ext cx="109728" cy="109728"/>
          </a:xfrm>
          <a:prstGeom prst="ellipse">
            <a:avLst/>
          </a:prstGeom>
          <a:solidFill>
            <a:srgbClr val="FFD166"/>
          </a:solidFill>
          <a:ln/>
        </p:spPr>
      </p:sp>
      <p:sp>
        <p:nvSpPr>
          <p:cNvPr id="17" name="Shape 14"/>
          <p:cNvSpPr/>
          <p:nvPr/>
        </p:nvSpPr>
        <p:spPr>
          <a:xfrm>
            <a:off x="7488936" y="1691640"/>
            <a:ext cx="109728" cy="109728"/>
          </a:xfrm>
          <a:prstGeom prst="ellipse">
            <a:avLst/>
          </a:prstGeom>
          <a:solidFill>
            <a:srgbClr val="2FD8A2"/>
          </a:solidFill>
          <a:ln/>
        </p:spPr>
      </p:sp>
      <p:sp>
        <p:nvSpPr>
          <p:cNvPr id="18" name="Text 15"/>
          <p:cNvSpPr/>
          <p:nvPr/>
        </p:nvSpPr>
        <p:spPr>
          <a:xfrm>
            <a:off x="6995160" y="1600200"/>
            <a:ext cx="457200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constants &amp; literals</a:t>
            </a:r>
            <a:endParaRPr lang="en-US" sz="1000" dirty="0"/>
          </a:p>
        </p:txBody>
      </p:sp>
      <p:sp>
        <p:nvSpPr>
          <p:cNvPr id="19" name="Text 16"/>
          <p:cNvSpPr/>
          <p:nvPr/>
        </p:nvSpPr>
        <p:spPr>
          <a:xfrm>
            <a:off x="7214616" y="2011680"/>
            <a:ext cx="4315968" cy="1618488"/>
          </a:xfrm>
          <a:prstGeom prst="rect">
            <a:avLst/>
          </a:prstGeom>
          <a:noFill/>
          <a:ln/>
        </p:spPr>
        <p:txBody>
          <a:bodyPr wrap="square" lIns="0" tIns="0" rIns="0" bIns="0" rtlCol="0" anchor="t"/>
          <a:lstStyle/>
          <a:p>
            <a:pPr algn="l" indent="0" marL="0">
              <a:lnSpc>
                <a:spcPct val="122000"/>
              </a:lnSpc>
              <a:buNone/>
            </a:pPr>
            <a:r>
              <a:rPr lang="en-US" sz="1200" dirty="0">
                <a:solidFill>
                  <a:srgbClr val="7FB2FF"/>
                </a:solidFill>
                <a:latin typeface="Courier New" pitchFamily="34" charset="0"/>
                <a:ea typeface="Courier New" pitchFamily="34" charset="-122"/>
                <a:cs typeface="Courier New" pitchFamily="34" charset="-120"/>
              </a:rPr>
              <a:t>const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PI</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3.14159</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score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100</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integer literal</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price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49.99</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float literal</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char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grade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3B778"/>
                </a:solidFill>
                <a:latin typeface="Courier New" pitchFamily="34" charset="0"/>
                <a:ea typeface="Courier New" pitchFamily="34" charset="-122"/>
                <a:cs typeface="Courier New" pitchFamily="34" charset="-120"/>
              </a:rPr>
              <a:t>'A'</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char literal</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3B778"/>
                </a:solidFill>
                <a:latin typeface="Courier New" pitchFamily="34" charset="0"/>
                <a:ea typeface="Courier New" pitchFamily="34" charset="-122"/>
                <a:cs typeface="Courier New" pitchFamily="34" charset="-120"/>
              </a:rPr>
              <a:t>"Farhaan"</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string literal</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bool</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passed</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true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bool literal</a:t>
            </a:r>
            <a:endParaRPr lang="en-US" sz="1200" dirty="0"/>
          </a:p>
        </p:txBody>
      </p:sp>
      <p:sp>
        <p:nvSpPr>
          <p:cNvPr id="20" name="Shape 17"/>
          <p:cNvSpPr/>
          <p:nvPr/>
        </p:nvSpPr>
        <p:spPr>
          <a:xfrm>
            <a:off x="6995160" y="3931920"/>
            <a:ext cx="4754880" cy="1051560"/>
          </a:xfrm>
          <a:prstGeom prst="roundRect">
            <a:avLst>
              <a:gd name="adj" fmla="val 6957"/>
            </a:avLst>
          </a:prstGeom>
          <a:solidFill>
            <a:srgbClr val="EAFBF4"/>
          </a:solidFill>
          <a:ln w="12700">
            <a:solidFill>
              <a:srgbClr val="16A67C"/>
            </a:solidFill>
            <a:prstDash val="solid"/>
          </a:ln>
        </p:spPr>
      </p:sp>
      <p:sp>
        <p:nvSpPr>
          <p:cNvPr id="21" name="Text 18"/>
          <p:cNvSpPr/>
          <p:nvPr/>
        </p:nvSpPr>
        <p:spPr>
          <a:xfrm>
            <a:off x="7178040" y="4014216"/>
            <a:ext cx="438912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'A' vs "A"</a:t>
            </a:r>
            <a:endParaRPr lang="en-US" sz="1050" dirty="0"/>
          </a:p>
        </p:txBody>
      </p:sp>
      <p:sp>
        <p:nvSpPr>
          <p:cNvPr id="22" name="Text 19"/>
          <p:cNvSpPr/>
          <p:nvPr/>
        </p:nvSpPr>
        <p:spPr>
          <a:xfrm>
            <a:off x="7178040" y="4279392"/>
            <a:ext cx="4389120" cy="6126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'A' is a single char (1 byte). "A" is a std::string containing one character plus structure — they are not interchangeable.</a:t>
            </a:r>
            <a:endParaRPr lang="en-US" sz="1100" dirty="0"/>
          </a:p>
        </p:txBody>
      </p:sp>
      <p:sp>
        <p:nvSpPr>
          <p:cNvPr id="23" name="Shape 20"/>
          <p:cNvSpPr/>
          <p:nvPr/>
        </p:nvSpPr>
        <p:spPr>
          <a:xfrm>
            <a:off x="6995160" y="5120640"/>
            <a:ext cx="4754880" cy="1188720"/>
          </a:xfrm>
          <a:prstGeom prst="roundRect">
            <a:avLst>
              <a:gd name="adj" fmla="val 6154"/>
            </a:avLst>
          </a:prstGeom>
          <a:solidFill>
            <a:srgbClr val="FFF6E4"/>
          </a:solidFill>
          <a:ln w="12700">
            <a:solidFill>
              <a:srgbClr val="E08A00"/>
            </a:solidFill>
            <a:prstDash val="solid"/>
          </a:ln>
        </p:spPr>
      </p:sp>
      <p:sp>
        <p:nvSpPr>
          <p:cNvPr id="24" name="Text 21"/>
          <p:cNvSpPr/>
          <p:nvPr/>
        </p:nvSpPr>
        <p:spPr>
          <a:xfrm>
            <a:off x="7178040" y="5202936"/>
            <a:ext cx="438912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Why const?</a:t>
            </a:r>
            <a:endParaRPr lang="en-US" sz="1050" dirty="0"/>
          </a:p>
        </p:txBody>
      </p:sp>
      <p:sp>
        <p:nvSpPr>
          <p:cNvPr id="25" name="Text 22"/>
          <p:cNvSpPr/>
          <p:nvPr/>
        </p:nvSpPr>
        <p:spPr>
          <a:xfrm>
            <a:off x="7178040" y="5468112"/>
            <a:ext cx="4389120" cy="7498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const PI = 3.14159 both protects the value from accidental change and reads better than a bare, unexplained 3.14159 scattered through your code.</a:t>
            </a:r>
            <a:endParaRPr lang="en-US" sz="1100" dirty="0"/>
          </a:p>
        </p:txBody>
      </p:sp>
      <p:sp>
        <p:nvSpPr>
          <p:cNvPr id="27" name="Text 23"/>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8" name="Text 24"/>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7</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Input &amp; Output</a:t>
            </a:r>
            <a:endParaRPr lang="en-US" sz="2800" dirty="0"/>
          </a:p>
        </p:txBody>
      </p:sp>
      <p:sp>
        <p:nvSpPr>
          <p:cNvPr id="4" name="Shape 2"/>
          <p:cNvSpPr/>
          <p:nvPr/>
        </p:nvSpPr>
        <p:spPr>
          <a:xfrm>
            <a:off x="502920" y="1600200"/>
            <a:ext cx="5760720" cy="1965960"/>
          </a:xfrm>
          <a:prstGeom prst="roundRect">
            <a:avLst>
              <a:gd name="adj" fmla="val 41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00200"/>
            <a:ext cx="5760720" cy="292608"/>
          </a:xfrm>
          <a:prstGeom prst="rect">
            <a:avLst/>
          </a:prstGeom>
          <a:solidFill>
            <a:srgbClr val="141B33"/>
          </a:solidFill>
          <a:ln/>
        </p:spPr>
      </p:sp>
      <p:sp>
        <p:nvSpPr>
          <p:cNvPr id="6" name="Shape 4"/>
          <p:cNvSpPr/>
          <p:nvPr/>
        </p:nvSpPr>
        <p:spPr>
          <a:xfrm>
            <a:off x="649224" y="1691640"/>
            <a:ext cx="109728" cy="109728"/>
          </a:xfrm>
          <a:prstGeom prst="ellipse">
            <a:avLst/>
          </a:prstGeom>
          <a:solidFill>
            <a:srgbClr val="FF6B6B"/>
          </a:solidFill>
          <a:ln/>
        </p:spPr>
      </p:sp>
      <p:sp>
        <p:nvSpPr>
          <p:cNvPr id="7" name="Shape 5"/>
          <p:cNvSpPr/>
          <p:nvPr/>
        </p:nvSpPr>
        <p:spPr>
          <a:xfrm>
            <a:off x="822960" y="1691640"/>
            <a:ext cx="109728" cy="109728"/>
          </a:xfrm>
          <a:prstGeom prst="ellipse">
            <a:avLst/>
          </a:prstGeom>
          <a:solidFill>
            <a:srgbClr val="FFD166"/>
          </a:solidFill>
          <a:ln/>
        </p:spPr>
      </p:sp>
      <p:sp>
        <p:nvSpPr>
          <p:cNvPr id="8" name="Shape 6"/>
          <p:cNvSpPr/>
          <p:nvPr/>
        </p:nvSpPr>
        <p:spPr>
          <a:xfrm>
            <a:off x="996696" y="1691640"/>
            <a:ext cx="109728" cy="109728"/>
          </a:xfrm>
          <a:prstGeom prst="ellipse">
            <a:avLst/>
          </a:prstGeom>
          <a:solidFill>
            <a:srgbClr val="2FD8A2"/>
          </a:solidFill>
          <a:ln/>
        </p:spPr>
      </p:sp>
      <p:sp>
        <p:nvSpPr>
          <p:cNvPr id="9" name="Text 7"/>
          <p:cNvSpPr/>
          <p:nvPr/>
        </p:nvSpPr>
        <p:spPr>
          <a:xfrm>
            <a:off x="502920" y="160020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cin / cout</a:t>
            </a:r>
            <a:endParaRPr lang="en-US" sz="1000" dirty="0"/>
          </a:p>
        </p:txBody>
      </p:sp>
      <p:sp>
        <p:nvSpPr>
          <p:cNvPr id="10" name="Text 8"/>
          <p:cNvSpPr/>
          <p:nvPr/>
        </p:nvSpPr>
        <p:spPr>
          <a:xfrm>
            <a:off x="722376" y="2011680"/>
            <a:ext cx="5321808" cy="1435608"/>
          </a:xfrm>
          <a:prstGeom prst="rect">
            <a:avLst/>
          </a:prstGeom>
          <a:noFill/>
          <a:ln/>
        </p:spPr>
        <p:txBody>
          <a:bodyPr wrap="square" lIns="0" tIns="0" rIns="0" bIns="0" rtlCol="0" anchor="t"/>
          <a:lstStyle/>
          <a:p>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&gt;&gt;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&gt;&gt;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i="1" dirty="0">
                <a:solidFill>
                  <a:srgbClr val="7FA36B"/>
                </a:solidFill>
                <a:latin typeface="Courier New" pitchFamily="34" charset="0"/>
                <a:ea typeface="Courier New" pitchFamily="34" charset="-122"/>
                <a:cs typeface="Courier New" pitchFamily="34" charset="-120"/>
              </a:rPr>
              <a:t>// read two ints</a:t>
            </a:r>
            <a:endParaRPr lang="en-US" sz="1350" dirty="0"/>
          </a:p>
          <a:p>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3B778"/>
                </a:solidFill>
                <a:latin typeface="Courier New" pitchFamily="34" charset="0"/>
                <a:ea typeface="Courier New" pitchFamily="34" charset="-122"/>
                <a:cs typeface="Courier New" pitchFamily="34" charset="-120"/>
              </a:rPr>
              <a:t>'\n'</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i="1" dirty="0">
                <a:solidFill>
                  <a:srgbClr val="7FA36B"/>
                </a:solidFill>
                <a:latin typeface="Courier New" pitchFamily="34" charset="0"/>
                <a:ea typeface="Courier New" pitchFamily="34" charset="-122"/>
                <a:cs typeface="Courier New" pitchFamily="34" charset="-120"/>
              </a:rPr>
              <a:t>// print result</a:t>
            </a:r>
            <a:endParaRPr lang="en-US" sz="1350" dirty="0"/>
          </a:p>
        </p:txBody>
      </p:sp>
      <p:sp>
        <p:nvSpPr>
          <p:cNvPr id="11" name="Shape 9"/>
          <p:cNvSpPr/>
          <p:nvPr/>
        </p:nvSpPr>
        <p:spPr>
          <a:xfrm>
            <a:off x="502920" y="3794760"/>
            <a:ext cx="146304" cy="146304"/>
          </a:xfrm>
          <a:prstGeom prst="ellipse">
            <a:avLst/>
          </a:prstGeom>
          <a:solidFill>
            <a:srgbClr val="2FD8A2"/>
          </a:solidFill>
          <a:ln/>
        </p:spPr>
      </p:sp>
      <p:sp>
        <p:nvSpPr>
          <p:cNvPr id="12" name="Text 10"/>
          <p:cNvSpPr/>
          <p:nvPr/>
        </p:nvSpPr>
        <p:spPr>
          <a:xfrm>
            <a:off x="795528" y="3648456"/>
            <a:ext cx="5468112" cy="365760"/>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cin &gt;&gt; reads values; &gt;&gt; can be chained: cin &gt;&gt; a &gt;&gt; b;</a:t>
            </a:r>
            <a:endParaRPr lang="en-US" sz="1100" dirty="0"/>
          </a:p>
        </p:txBody>
      </p:sp>
      <p:sp>
        <p:nvSpPr>
          <p:cNvPr id="13" name="Shape 11"/>
          <p:cNvSpPr/>
          <p:nvPr/>
        </p:nvSpPr>
        <p:spPr>
          <a:xfrm>
            <a:off x="502920" y="4251960"/>
            <a:ext cx="146304" cy="146304"/>
          </a:xfrm>
          <a:prstGeom prst="ellipse">
            <a:avLst/>
          </a:prstGeom>
          <a:solidFill>
            <a:srgbClr val="2FD8A2"/>
          </a:solidFill>
          <a:ln/>
        </p:spPr>
      </p:sp>
      <p:sp>
        <p:nvSpPr>
          <p:cNvPr id="14" name="Text 12"/>
          <p:cNvSpPr/>
          <p:nvPr/>
        </p:nvSpPr>
        <p:spPr>
          <a:xfrm>
            <a:off x="795528" y="4105656"/>
            <a:ext cx="5468112" cy="365760"/>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cout &lt;&lt; prints values; &lt;&lt; can be chained too.</a:t>
            </a:r>
            <a:endParaRPr lang="en-US" sz="1100" dirty="0"/>
          </a:p>
        </p:txBody>
      </p:sp>
      <p:sp>
        <p:nvSpPr>
          <p:cNvPr id="15" name="Shape 13"/>
          <p:cNvSpPr/>
          <p:nvPr/>
        </p:nvSpPr>
        <p:spPr>
          <a:xfrm>
            <a:off x="502920" y="4709160"/>
            <a:ext cx="146304" cy="146304"/>
          </a:xfrm>
          <a:prstGeom prst="ellipse">
            <a:avLst/>
          </a:prstGeom>
          <a:solidFill>
            <a:srgbClr val="2FD8A2"/>
          </a:solidFill>
          <a:ln/>
        </p:spPr>
      </p:sp>
      <p:sp>
        <p:nvSpPr>
          <p:cNvPr id="16" name="Text 14"/>
          <p:cNvSpPr/>
          <p:nvPr/>
        </p:nvSpPr>
        <p:spPr>
          <a:xfrm>
            <a:off x="795528" y="4562856"/>
            <a:ext cx="5468112" cy="365760"/>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'\n' is generally preferred over endl in tight loops — endl also flushes the output buffer, which costs time.</a:t>
            </a:r>
            <a:endParaRPr lang="en-US" sz="1100" dirty="0"/>
          </a:p>
        </p:txBody>
      </p:sp>
      <p:sp>
        <p:nvSpPr>
          <p:cNvPr id="17" name="Shape 15"/>
          <p:cNvSpPr/>
          <p:nvPr/>
        </p:nvSpPr>
        <p:spPr>
          <a:xfrm>
            <a:off x="502920" y="5349240"/>
            <a:ext cx="5760720" cy="960120"/>
          </a:xfrm>
          <a:prstGeom prst="roundRect">
            <a:avLst>
              <a:gd name="adj" fmla="val 8571"/>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8" name="Shape 16"/>
          <p:cNvSpPr/>
          <p:nvPr/>
        </p:nvSpPr>
        <p:spPr>
          <a:xfrm>
            <a:off x="502920" y="5349240"/>
            <a:ext cx="5760720" cy="292608"/>
          </a:xfrm>
          <a:prstGeom prst="rect">
            <a:avLst/>
          </a:prstGeom>
          <a:solidFill>
            <a:srgbClr val="141B33"/>
          </a:solidFill>
          <a:ln/>
        </p:spPr>
      </p:sp>
      <p:sp>
        <p:nvSpPr>
          <p:cNvPr id="19" name="Shape 17"/>
          <p:cNvSpPr/>
          <p:nvPr/>
        </p:nvSpPr>
        <p:spPr>
          <a:xfrm>
            <a:off x="649224" y="5440680"/>
            <a:ext cx="109728" cy="109728"/>
          </a:xfrm>
          <a:prstGeom prst="ellipse">
            <a:avLst/>
          </a:prstGeom>
          <a:solidFill>
            <a:srgbClr val="FF6B6B"/>
          </a:solidFill>
          <a:ln/>
        </p:spPr>
      </p:sp>
      <p:sp>
        <p:nvSpPr>
          <p:cNvPr id="20" name="Shape 18"/>
          <p:cNvSpPr/>
          <p:nvPr/>
        </p:nvSpPr>
        <p:spPr>
          <a:xfrm>
            <a:off x="822960" y="5440680"/>
            <a:ext cx="109728" cy="109728"/>
          </a:xfrm>
          <a:prstGeom prst="ellipse">
            <a:avLst/>
          </a:prstGeom>
          <a:solidFill>
            <a:srgbClr val="FFD166"/>
          </a:solidFill>
          <a:ln/>
        </p:spPr>
      </p:sp>
      <p:sp>
        <p:nvSpPr>
          <p:cNvPr id="21" name="Shape 19"/>
          <p:cNvSpPr/>
          <p:nvPr/>
        </p:nvSpPr>
        <p:spPr>
          <a:xfrm>
            <a:off x="996696" y="5440680"/>
            <a:ext cx="109728" cy="109728"/>
          </a:xfrm>
          <a:prstGeom prst="ellipse">
            <a:avLst/>
          </a:prstGeom>
          <a:solidFill>
            <a:srgbClr val="2FD8A2"/>
          </a:solidFill>
          <a:ln/>
        </p:spPr>
      </p:sp>
      <p:sp>
        <p:nvSpPr>
          <p:cNvPr id="22" name="Text 20"/>
          <p:cNvSpPr/>
          <p:nvPr/>
        </p:nvSpPr>
        <p:spPr>
          <a:xfrm>
            <a:off x="502920" y="53492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endl vs '\n'</a:t>
            </a:r>
            <a:endParaRPr lang="en-US" sz="1000" dirty="0"/>
          </a:p>
        </p:txBody>
      </p:sp>
      <p:sp>
        <p:nvSpPr>
          <p:cNvPr id="23" name="Text 21"/>
          <p:cNvSpPr/>
          <p:nvPr/>
        </p:nvSpPr>
        <p:spPr>
          <a:xfrm>
            <a:off x="722376" y="5760720"/>
            <a:ext cx="5321808" cy="429768"/>
          </a:xfrm>
          <a:prstGeom prst="rect">
            <a:avLst/>
          </a:prstGeom>
          <a:noFill/>
          <a:ln/>
        </p:spPr>
        <p:txBody>
          <a:bodyPr wrap="square" lIns="0" tIns="0" rIns="0" bIns="0" rtlCol="0" anchor="t"/>
          <a:lstStyle/>
          <a:p>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3B778"/>
                </a:solidFill>
                <a:latin typeface="Courier New" pitchFamily="34" charset="0"/>
                <a:ea typeface="Courier New" pitchFamily="34" charset="-122"/>
                <a:cs typeface="Courier New" pitchFamily="34" charset="-120"/>
              </a:rPr>
              <a:t>"Answer: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answer</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endl</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3B778"/>
                </a:solidFill>
                <a:latin typeface="Courier New" pitchFamily="34" charset="0"/>
                <a:ea typeface="Courier New" pitchFamily="34" charset="-122"/>
                <a:cs typeface="Courier New" pitchFamily="34" charset="-120"/>
              </a:rPr>
              <a:t>"Answer: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answer</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3B778"/>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p:txBody>
      </p:sp>
      <p:sp>
        <p:nvSpPr>
          <p:cNvPr id="24" name="Shape 22"/>
          <p:cNvSpPr/>
          <p:nvPr/>
        </p:nvSpPr>
        <p:spPr>
          <a:xfrm>
            <a:off x="6903720" y="1600200"/>
            <a:ext cx="4800600" cy="1554480"/>
          </a:xfrm>
          <a:prstGeom prst="roundRect">
            <a:avLst>
              <a:gd name="adj" fmla="val 5294"/>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5" name="Shape 23"/>
          <p:cNvSpPr/>
          <p:nvPr/>
        </p:nvSpPr>
        <p:spPr>
          <a:xfrm>
            <a:off x="6903720" y="1600200"/>
            <a:ext cx="4800600" cy="292608"/>
          </a:xfrm>
          <a:prstGeom prst="rect">
            <a:avLst/>
          </a:prstGeom>
          <a:solidFill>
            <a:srgbClr val="141B33"/>
          </a:solidFill>
          <a:ln/>
        </p:spPr>
      </p:sp>
      <p:sp>
        <p:nvSpPr>
          <p:cNvPr id="26" name="Shape 24"/>
          <p:cNvSpPr/>
          <p:nvPr/>
        </p:nvSpPr>
        <p:spPr>
          <a:xfrm>
            <a:off x="7050024" y="1691640"/>
            <a:ext cx="109728" cy="109728"/>
          </a:xfrm>
          <a:prstGeom prst="ellipse">
            <a:avLst/>
          </a:prstGeom>
          <a:solidFill>
            <a:srgbClr val="FF6B6B"/>
          </a:solidFill>
          <a:ln/>
        </p:spPr>
      </p:sp>
      <p:sp>
        <p:nvSpPr>
          <p:cNvPr id="27" name="Shape 25"/>
          <p:cNvSpPr/>
          <p:nvPr/>
        </p:nvSpPr>
        <p:spPr>
          <a:xfrm>
            <a:off x="7223760" y="1691640"/>
            <a:ext cx="109728" cy="109728"/>
          </a:xfrm>
          <a:prstGeom prst="ellipse">
            <a:avLst/>
          </a:prstGeom>
          <a:solidFill>
            <a:srgbClr val="FFD166"/>
          </a:solidFill>
          <a:ln/>
        </p:spPr>
      </p:sp>
      <p:sp>
        <p:nvSpPr>
          <p:cNvPr id="28" name="Shape 26"/>
          <p:cNvSpPr/>
          <p:nvPr/>
        </p:nvSpPr>
        <p:spPr>
          <a:xfrm>
            <a:off x="7397496" y="1691640"/>
            <a:ext cx="109728" cy="109728"/>
          </a:xfrm>
          <a:prstGeom prst="ellipse">
            <a:avLst/>
          </a:prstGeom>
          <a:solidFill>
            <a:srgbClr val="2FD8A2"/>
          </a:solidFill>
          <a:ln/>
        </p:spPr>
      </p:sp>
      <p:sp>
        <p:nvSpPr>
          <p:cNvPr id="29" name="Text 27"/>
          <p:cNvSpPr/>
          <p:nvPr/>
        </p:nvSpPr>
        <p:spPr>
          <a:xfrm>
            <a:off x="6903720" y="160020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getline()</a:t>
            </a:r>
            <a:endParaRPr lang="en-US" sz="1000" dirty="0"/>
          </a:p>
        </p:txBody>
      </p:sp>
      <p:sp>
        <p:nvSpPr>
          <p:cNvPr id="30" name="Text 28"/>
          <p:cNvSpPr/>
          <p:nvPr/>
        </p:nvSpPr>
        <p:spPr>
          <a:xfrm>
            <a:off x="7123176" y="2011680"/>
            <a:ext cx="4361688" cy="1024128"/>
          </a:xfrm>
          <a:prstGeom prst="rect">
            <a:avLst/>
          </a:prstGeom>
          <a:noFill/>
          <a:ln/>
        </p:spPr>
        <p:txBody>
          <a:bodyPr wrap="square" lIns="0" tIns="0" rIns="0" bIns="0" rtlCol="0" anchor="t"/>
          <a:lstStyle/>
          <a:p>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getline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i="1" dirty="0">
                <a:solidFill>
                  <a:srgbClr val="7FA36B"/>
                </a:solidFill>
                <a:latin typeface="Courier New" pitchFamily="34" charset="0"/>
                <a:ea typeface="Courier New" pitchFamily="34" charset="-122"/>
                <a:cs typeface="Courier New" pitchFamily="34" charset="-120"/>
              </a:rPr>
              <a:t>// reads a full line</a:t>
            </a:r>
            <a:endParaRPr lang="en-US" sz="1350" dirty="0"/>
          </a:p>
        </p:txBody>
      </p:sp>
      <p:sp>
        <p:nvSpPr>
          <p:cNvPr id="31" name="Shape 29"/>
          <p:cNvSpPr/>
          <p:nvPr/>
        </p:nvSpPr>
        <p:spPr>
          <a:xfrm>
            <a:off x="6903720" y="3337560"/>
            <a:ext cx="4800600" cy="1417320"/>
          </a:xfrm>
          <a:prstGeom prst="roundRect">
            <a:avLst>
              <a:gd name="adj" fmla="val 5161"/>
            </a:avLst>
          </a:prstGeom>
          <a:solidFill>
            <a:srgbClr val="FDEBEE"/>
          </a:solidFill>
          <a:ln w="12700">
            <a:solidFill>
              <a:srgbClr val="E0455B"/>
            </a:solidFill>
            <a:prstDash val="solid"/>
          </a:ln>
        </p:spPr>
      </p:sp>
      <p:sp>
        <p:nvSpPr>
          <p:cNvPr id="32" name="Text 30"/>
          <p:cNvSpPr/>
          <p:nvPr/>
        </p:nvSpPr>
        <p:spPr>
          <a:xfrm>
            <a:off x="7086600" y="3419856"/>
            <a:ext cx="4434840" cy="237744"/>
          </a:xfrm>
          <a:prstGeom prst="rect">
            <a:avLst/>
          </a:prstGeom>
          <a:noFill/>
          <a:ln/>
        </p:spPr>
        <p:txBody>
          <a:bodyPr wrap="square" rtlCol="0" anchor="ctr"/>
          <a:lstStyle/>
          <a:p>
            <a:pPr indent="0" marL="0">
              <a:buNone/>
            </a:pPr>
            <a:r>
              <a:rPr lang="en-US" sz="1050" b="1" spc="100" kern="0" dirty="0">
                <a:solidFill>
                  <a:srgbClr val="E0455B"/>
                </a:solidFill>
                <a:latin typeface="Calibri" pitchFamily="34" charset="0"/>
                <a:ea typeface="Calibri" pitchFamily="34" charset="-122"/>
                <a:cs typeface="Calibri" pitchFamily="34" charset="-120"/>
              </a:rPr>
              <a:t>The classic trap</a:t>
            </a:r>
            <a:endParaRPr lang="en-US" sz="1050" dirty="0"/>
          </a:p>
        </p:txBody>
      </p:sp>
      <p:sp>
        <p:nvSpPr>
          <p:cNvPr id="33" name="Text 31"/>
          <p:cNvSpPr/>
          <p:nvPr/>
        </p:nvSpPr>
        <p:spPr>
          <a:xfrm>
            <a:off x="7086600" y="3685032"/>
            <a:ext cx="4434840" cy="9784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cin &gt;&gt; leaves a trailing '\n' in the input buffer. A getline() called right after silently reads that leftover newline instead of your next line.</a:t>
            </a:r>
            <a:endParaRPr lang="en-US" sz="1100" dirty="0"/>
          </a:p>
        </p:txBody>
      </p:sp>
      <p:sp>
        <p:nvSpPr>
          <p:cNvPr id="34" name="Shape 32"/>
          <p:cNvSpPr/>
          <p:nvPr/>
        </p:nvSpPr>
        <p:spPr>
          <a:xfrm>
            <a:off x="6903720" y="4937760"/>
            <a:ext cx="4800600" cy="1371600"/>
          </a:xfrm>
          <a:prstGeom prst="roundRect">
            <a:avLst>
              <a:gd name="adj" fmla="val 600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35" name="Shape 33"/>
          <p:cNvSpPr/>
          <p:nvPr/>
        </p:nvSpPr>
        <p:spPr>
          <a:xfrm>
            <a:off x="6903720" y="4937760"/>
            <a:ext cx="4800600" cy="292608"/>
          </a:xfrm>
          <a:prstGeom prst="rect">
            <a:avLst/>
          </a:prstGeom>
          <a:solidFill>
            <a:srgbClr val="141B33"/>
          </a:solidFill>
          <a:ln/>
        </p:spPr>
      </p:sp>
      <p:sp>
        <p:nvSpPr>
          <p:cNvPr id="36" name="Shape 34"/>
          <p:cNvSpPr/>
          <p:nvPr/>
        </p:nvSpPr>
        <p:spPr>
          <a:xfrm>
            <a:off x="7050024" y="5029200"/>
            <a:ext cx="109728" cy="109728"/>
          </a:xfrm>
          <a:prstGeom prst="ellipse">
            <a:avLst/>
          </a:prstGeom>
          <a:solidFill>
            <a:srgbClr val="FF6B6B"/>
          </a:solidFill>
          <a:ln/>
        </p:spPr>
      </p:sp>
      <p:sp>
        <p:nvSpPr>
          <p:cNvPr id="37" name="Shape 35"/>
          <p:cNvSpPr/>
          <p:nvPr/>
        </p:nvSpPr>
        <p:spPr>
          <a:xfrm>
            <a:off x="7223760" y="5029200"/>
            <a:ext cx="109728" cy="109728"/>
          </a:xfrm>
          <a:prstGeom prst="ellipse">
            <a:avLst/>
          </a:prstGeom>
          <a:solidFill>
            <a:srgbClr val="FFD166"/>
          </a:solidFill>
          <a:ln/>
        </p:spPr>
      </p:sp>
      <p:sp>
        <p:nvSpPr>
          <p:cNvPr id="38" name="Shape 36"/>
          <p:cNvSpPr/>
          <p:nvPr/>
        </p:nvSpPr>
        <p:spPr>
          <a:xfrm>
            <a:off x="7397496" y="5029200"/>
            <a:ext cx="109728" cy="109728"/>
          </a:xfrm>
          <a:prstGeom prst="ellipse">
            <a:avLst/>
          </a:prstGeom>
          <a:solidFill>
            <a:srgbClr val="2FD8A2"/>
          </a:solidFill>
          <a:ln/>
        </p:spPr>
      </p:sp>
      <p:sp>
        <p:nvSpPr>
          <p:cNvPr id="39" name="Text 37"/>
          <p:cNvSpPr/>
          <p:nvPr/>
        </p:nvSpPr>
        <p:spPr>
          <a:xfrm>
            <a:off x="6903720" y="493776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the fix</a:t>
            </a:r>
            <a:endParaRPr lang="en-US" sz="1000" dirty="0"/>
          </a:p>
        </p:txBody>
      </p:sp>
      <p:sp>
        <p:nvSpPr>
          <p:cNvPr id="40" name="Text 38"/>
          <p:cNvSpPr/>
          <p:nvPr/>
        </p:nvSpPr>
        <p:spPr>
          <a:xfrm>
            <a:off x="7123176" y="5349240"/>
            <a:ext cx="4361688" cy="841248"/>
          </a:xfrm>
          <a:prstGeom prst="rect">
            <a:avLst/>
          </a:prstGeom>
          <a:noFill/>
          <a:ln/>
        </p:spPr>
        <p:txBody>
          <a:bodyPr wrap="square" lIns="0" tIns="0" rIns="0" bIns="0" rtlCol="0" anchor="t"/>
          <a:lstStyle/>
          <a:p>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ignore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i="1" dirty="0">
                <a:solidFill>
                  <a:srgbClr val="7FA36B"/>
                </a:solidFill>
                <a:latin typeface="Courier New" pitchFamily="34" charset="0"/>
                <a:ea typeface="Courier New" pitchFamily="34" charset="-122"/>
                <a:cs typeface="Courier New" pitchFamily="34" charset="-120"/>
              </a:rPr>
              <a:t>// discard leftover '\n'</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getline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p:txBody>
      </p:sp>
      <p:sp>
        <p:nvSpPr>
          <p:cNvPr id="42" name="Text 39"/>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43" name="Text 40"/>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8</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Operators I — Arithmetic</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5029200" cy="914400"/>
        </p:xfrm>
        <a:graphic>
          <a:graphicData uri="http://schemas.openxmlformats.org/drawingml/2006/table">
            <a:tbl>
              <a:tblPr/>
              <a:tblGrid>
                <a:gridCol w="1463040"/>
                <a:gridCol w="356616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Operator</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384048">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Addition</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Subtraction</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84048">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Multiplication</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Division</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84048">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2172B"/>
                          </a:solidFill>
                          <a:latin typeface="Calibri" pitchFamily="34" charset="0"/>
                          <a:ea typeface="Calibri" pitchFamily="34" charset="-122"/>
                          <a:cs typeface="Calibri" pitchFamily="34" charset="-120"/>
                        </a:rPr>
                        <a:t>Modulus (remainder)</a:t>
                      </a:r>
                      <a:endParaRPr lang="en-US" sz="12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023360"/>
            <a:ext cx="5029200" cy="960120"/>
          </a:xfrm>
          <a:prstGeom prst="roundRect">
            <a:avLst>
              <a:gd name="adj" fmla="val 7619"/>
            </a:avLst>
          </a:prstGeom>
          <a:solidFill>
            <a:srgbClr val="EAFBF4"/>
          </a:solidFill>
          <a:ln w="12700">
            <a:solidFill>
              <a:srgbClr val="16A67C"/>
            </a:solidFill>
            <a:prstDash val="solid"/>
          </a:ln>
        </p:spPr>
      </p:sp>
      <p:sp>
        <p:nvSpPr>
          <p:cNvPr id="6" name="Text 3"/>
          <p:cNvSpPr/>
          <p:nvPr/>
        </p:nvSpPr>
        <p:spPr>
          <a:xfrm>
            <a:off x="685800" y="4105656"/>
            <a:ext cx="46634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Whole numbers only</a:t>
            </a:r>
            <a:endParaRPr lang="en-US" sz="1050" dirty="0"/>
          </a:p>
        </p:txBody>
      </p:sp>
      <p:sp>
        <p:nvSpPr>
          <p:cNvPr id="7" name="Text 4"/>
          <p:cNvSpPr/>
          <p:nvPr/>
        </p:nvSpPr>
        <p:spPr>
          <a:xfrm>
            <a:off x="685800" y="4370832"/>
            <a:ext cx="4663440" cy="5212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 only works on integers — it finds the remainder after division, essential for even/odd checks and cycling indices.</a:t>
            </a:r>
            <a:endParaRPr lang="en-US" sz="1100" dirty="0"/>
          </a:p>
        </p:txBody>
      </p:sp>
      <p:sp>
        <p:nvSpPr>
          <p:cNvPr id="8" name="Shape 5"/>
          <p:cNvSpPr/>
          <p:nvPr/>
        </p:nvSpPr>
        <p:spPr>
          <a:xfrm>
            <a:off x="6949440" y="1645920"/>
            <a:ext cx="4754880" cy="3383280"/>
          </a:xfrm>
          <a:prstGeom prst="roundRect">
            <a:avLst>
              <a:gd name="adj" fmla="val 2432"/>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9" name="Shape 6"/>
          <p:cNvSpPr/>
          <p:nvPr/>
        </p:nvSpPr>
        <p:spPr>
          <a:xfrm>
            <a:off x="6949440" y="1645920"/>
            <a:ext cx="4754880" cy="292608"/>
          </a:xfrm>
          <a:prstGeom prst="rect">
            <a:avLst/>
          </a:prstGeom>
          <a:solidFill>
            <a:srgbClr val="141B33"/>
          </a:solidFill>
          <a:ln/>
        </p:spPr>
      </p:sp>
      <p:sp>
        <p:nvSpPr>
          <p:cNvPr id="10" name="Shape 7"/>
          <p:cNvSpPr/>
          <p:nvPr/>
        </p:nvSpPr>
        <p:spPr>
          <a:xfrm>
            <a:off x="7095744" y="1737360"/>
            <a:ext cx="109728" cy="109728"/>
          </a:xfrm>
          <a:prstGeom prst="ellipse">
            <a:avLst/>
          </a:prstGeom>
          <a:solidFill>
            <a:srgbClr val="FF6B6B"/>
          </a:solidFill>
          <a:ln/>
        </p:spPr>
      </p:sp>
      <p:sp>
        <p:nvSpPr>
          <p:cNvPr id="11" name="Shape 8"/>
          <p:cNvSpPr/>
          <p:nvPr/>
        </p:nvSpPr>
        <p:spPr>
          <a:xfrm>
            <a:off x="7269480" y="1737360"/>
            <a:ext cx="109728" cy="109728"/>
          </a:xfrm>
          <a:prstGeom prst="ellipse">
            <a:avLst/>
          </a:prstGeom>
          <a:solidFill>
            <a:srgbClr val="FFD166"/>
          </a:solidFill>
          <a:ln/>
        </p:spPr>
      </p:sp>
      <p:sp>
        <p:nvSpPr>
          <p:cNvPr id="12" name="Shape 9"/>
          <p:cNvSpPr/>
          <p:nvPr/>
        </p:nvSpPr>
        <p:spPr>
          <a:xfrm>
            <a:off x="7443216" y="1737360"/>
            <a:ext cx="109728" cy="109728"/>
          </a:xfrm>
          <a:prstGeom prst="ellipse">
            <a:avLst/>
          </a:prstGeom>
          <a:solidFill>
            <a:srgbClr val="2FD8A2"/>
          </a:solidFill>
          <a:ln/>
        </p:spPr>
      </p:sp>
      <p:sp>
        <p:nvSpPr>
          <p:cNvPr id="13" name="Text 10"/>
          <p:cNvSpPr/>
          <p:nvPr/>
        </p:nvSpPr>
        <p:spPr>
          <a:xfrm>
            <a:off x="6949440" y="1645920"/>
            <a:ext cx="457200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integer division gotcha</a:t>
            </a:r>
            <a:endParaRPr lang="en-US" sz="1000" dirty="0"/>
          </a:p>
        </p:txBody>
      </p:sp>
      <p:sp>
        <p:nvSpPr>
          <p:cNvPr id="14" name="Text 11"/>
          <p:cNvSpPr/>
          <p:nvPr/>
        </p:nvSpPr>
        <p:spPr>
          <a:xfrm>
            <a:off x="7168896" y="2057400"/>
            <a:ext cx="4315968" cy="285292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2   (integer division!)</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2.5 (one operand is double)</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1   (remainder)</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7</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3</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1</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a = 15</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a = 30</a:t>
            </a:r>
            <a:endParaRPr lang="en-US" sz="1300" dirty="0"/>
          </a:p>
        </p:txBody>
      </p:sp>
      <p:sp>
        <p:nvSpPr>
          <p:cNvPr id="15" name="Shape 12"/>
          <p:cNvSpPr/>
          <p:nvPr/>
        </p:nvSpPr>
        <p:spPr>
          <a:xfrm>
            <a:off x="502920" y="5120640"/>
            <a:ext cx="11750040" cy="1051560"/>
          </a:xfrm>
          <a:prstGeom prst="roundRect">
            <a:avLst>
              <a:gd name="adj" fmla="val 6957"/>
            </a:avLst>
          </a:prstGeom>
          <a:solidFill>
            <a:srgbClr val="FDEBEE"/>
          </a:solidFill>
          <a:ln w="12700">
            <a:solidFill>
              <a:srgbClr val="E0455B"/>
            </a:solidFill>
            <a:prstDash val="solid"/>
          </a:ln>
        </p:spPr>
      </p:sp>
      <p:sp>
        <p:nvSpPr>
          <p:cNvPr id="16" name="Text 13"/>
          <p:cNvSpPr/>
          <p:nvPr/>
        </p:nvSpPr>
        <p:spPr>
          <a:xfrm>
            <a:off x="685800" y="5202936"/>
            <a:ext cx="11384280" cy="237744"/>
          </a:xfrm>
          <a:prstGeom prst="rect">
            <a:avLst/>
          </a:prstGeom>
          <a:noFill/>
          <a:ln/>
        </p:spPr>
        <p:txBody>
          <a:bodyPr wrap="square" rtlCol="0" anchor="ctr"/>
          <a:lstStyle/>
          <a:p>
            <a:pPr indent="0" marL="0">
              <a:buNone/>
            </a:pPr>
            <a:r>
              <a:rPr lang="en-US" sz="1050" b="1" spc="100" kern="0" dirty="0">
                <a:solidFill>
                  <a:srgbClr val="E0455B"/>
                </a:solidFill>
                <a:latin typeface="Calibri" pitchFamily="34" charset="0"/>
                <a:ea typeface="Calibri" pitchFamily="34" charset="-122"/>
                <a:cs typeface="Calibri" pitchFamily="34" charset="-120"/>
              </a:rPr>
              <a:t>The #1 DSA bug</a:t>
            </a:r>
            <a:endParaRPr lang="en-US" sz="1050" dirty="0"/>
          </a:p>
        </p:txBody>
      </p:sp>
      <p:sp>
        <p:nvSpPr>
          <p:cNvPr id="17" name="Text 14"/>
          <p:cNvSpPr/>
          <p:nvPr/>
        </p:nvSpPr>
        <p:spPr>
          <a:xfrm>
            <a:off x="685800" y="5468112"/>
            <a:ext cx="11384280" cy="6126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5 / 2 gives 2, not 2.5 — because both operands are int, C++ performs integer division and silently drops the remainder. This trips up more beginners than almost anything else in this course.</a:t>
            </a:r>
            <a:endParaRPr lang="en-US" sz="1100" dirty="0"/>
          </a:p>
        </p:txBody>
      </p:sp>
      <p:sp>
        <p:nvSpPr>
          <p:cNvPr id="19" name="Text 15"/>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0" name="Text 16"/>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8</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Operators II — Relational, Logical, Assignment</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3017520"/>
                <a:gridCol w="8138160"/>
              </a:tblGrid>
              <a:tr h="5029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Group</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Operators</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502920">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Relational</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   !=   &lt;   &gt;   &lt;=   &gt;=</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02920">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Logical</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&amp;&amp;  (and)     ||  (or)     !  (not)</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502920">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Assignment</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   +=   -=   *=   /=</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02920">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Increment / decrement</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250" dirty="0">
                          <a:solidFill>
                            <a:srgbClr val="12172B"/>
                          </a:solidFill>
                          <a:latin typeface="Calibri" pitchFamily="34" charset="0"/>
                          <a:ea typeface="Calibri" pitchFamily="34" charset="-122"/>
                          <a:cs typeface="Calibri" pitchFamily="34" charset="-120"/>
                        </a:rPr>
                        <a:t>++x  (prefix)     x++  (postfix)</a:t>
                      </a:r>
                      <a:endParaRPr lang="en-US" sz="12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bl>
          </a:graphicData>
        </a:graphic>
      </p:graphicFrame>
      <p:sp>
        <p:nvSpPr>
          <p:cNvPr id="5" name="Shape 2"/>
          <p:cNvSpPr/>
          <p:nvPr/>
        </p:nvSpPr>
        <p:spPr>
          <a:xfrm>
            <a:off x="502920" y="3977640"/>
            <a:ext cx="5760720" cy="1280160"/>
          </a:xfrm>
          <a:prstGeom prst="roundRect">
            <a:avLst>
              <a:gd name="adj" fmla="val 6429"/>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6" name="Shape 3"/>
          <p:cNvSpPr/>
          <p:nvPr/>
        </p:nvSpPr>
        <p:spPr>
          <a:xfrm>
            <a:off x="502920" y="3977640"/>
            <a:ext cx="5760720" cy="292608"/>
          </a:xfrm>
          <a:prstGeom prst="rect">
            <a:avLst/>
          </a:prstGeom>
          <a:solidFill>
            <a:srgbClr val="141B33"/>
          </a:solidFill>
          <a:ln/>
        </p:spPr>
      </p:sp>
      <p:sp>
        <p:nvSpPr>
          <p:cNvPr id="7" name="Shape 4"/>
          <p:cNvSpPr/>
          <p:nvPr/>
        </p:nvSpPr>
        <p:spPr>
          <a:xfrm>
            <a:off x="649224" y="4069080"/>
            <a:ext cx="109728" cy="109728"/>
          </a:xfrm>
          <a:prstGeom prst="ellipse">
            <a:avLst/>
          </a:prstGeom>
          <a:solidFill>
            <a:srgbClr val="FF6B6B"/>
          </a:solidFill>
          <a:ln/>
        </p:spPr>
      </p:sp>
      <p:sp>
        <p:nvSpPr>
          <p:cNvPr id="8" name="Shape 5"/>
          <p:cNvSpPr/>
          <p:nvPr/>
        </p:nvSpPr>
        <p:spPr>
          <a:xfrm>
            <a:off x="822960" y="4069080"/>
            <a:ext cx="109728" cy="109728"/>
          </a:xfrm>
          <a:prstGeom prst="ellipse">
            <a:avLst/>
          </a:prstGeom>
          <a:solidFill>
            <a:srgbClr val="FFD166"/>
          </a:solidFill>
          <a:ln/>
        </p:spPr>
      </p:sp>
      <p:sp>
        <p:nvSpPr>
          <p:cNvPr id="9" name="Shape 6"/>
          <p:cNvSpPr/>
          <p:nvPr/>
        </p:nvSpPr>
        <p:spPr>
          <a:xfrm>
            <a:off x="996696" y="4069080"/>
            <a:ext cx="109728" cy="109728"/>
          </a:xfrm>
          <a:prstGeom prst="ellipse">
            <a:avLst/>
          </a:prstGeom>
          <a:solidFill>
            <a:srgbClr val="2FD8A2"/>
          </a:solidFill>
          <a:ln/>
        </p:spPr>
      </p:sp>
      <p:sp>
        <p:nvSpPr>
          <p:cNvPr id="10" name="Text 7"/>
          <p:cNvSpPr/>
          <p:nvPr/>
        </p:nvSpPr>
        <p:spPr>
          <a:xfrm>
            <a:off x="502920" y="3977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prefix vs postfix</a:t>
            </a:r>
            <a:endParaRPr lang="en-US" sz="1000" dirty="0"/>
          </a:p>
        </p:txBody>
      </p:sp>
      <p:sp>
        <p:nvSpPr>
          <p:cNvPr id="11" name="Text 8"/>
          <p:cNvSpPr/>
          <p:nvPr/>
        </p:nvSpPr>
        <p:spPr>
          <a:xfrm>
            <a:off x="722376" y="4389120"/>
            <a:ext cx="5321808" cy="74980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x becomes 6, then used</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x used, then becomes 7</a:t>
            </a:r>
            <a:endParaRPr lang="en-US" sz="1250" dirty="0"/>
          </a:p>
        </p:txBody>
      </p:sp>
      <p:sp>
        <p:nvSpPr>
          <p:cNvPr id="12" name="Shape 9"/>
          <p:cNvSpPr/>
          <p:nvPr/>
        </p:nvSpPr>
        <p:spPr>
          <a:xfrm>
            <a:off x="6903720" y="3977640"/>
            <a:ext cx="4800600" cy="1280160"/>
          </a:xfrm>
          <a:prstGeom prst="roundRect">
            <a:avLst>
              <a:gd name="adj" fmla="val 5714"/>
            </a:avLst>
          </a:prstGeom>
          <a:solidFill>
            <a:srgbClr val="FFF6E4"/>
          </a:solidFill>
          <a:ln w="12700">
            <a:solidFill>
              <a:srgbClr val="E08A00"/>
            </a:solidFill>
            <a:prstDash val="solid"/>
          </a:ln>
        </p:spPr>
      </p:sp>
      <p:sp>
        <p:nvSpPr>
          <p:cNvPr id="13" name="Text 10"/>
          <p:cNvSpPr/>
          <p:nvPr/>
        </p:nvSpPr>
        <p:spPr>
          <a:xfrm>
            <a:off x="7086600" y="405993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Precedence surprises</a:t>
            </a:r>
            <a:endParaRPr lang="en-US" sz="1050" dirty="0"/>
          </a:p>
        </p:txBody>
      </p:sp>
      <p:sp>
        <p:nvSpPr>
          <p:cNvPr id="14" name="Text 11"/>
          <p:cNvSpPr/>
          <p:nvPr/>
        </p:nvSpPr>
        <p:spPr>
          <a:xfrm>
            <a:off x="7086600" y="4325112"/>
            <a:ext cx="4434840" cy="8412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 and / bind tighter than + and -, and relational operators bind tighter than &amp;&amp; / ||. When in doubt, add parentheses — clarity beats cleverness.</a:t>
            </a:r>
            <a:endParaRPr lang="en-US" sz="1100" dirty="0"/>
          </a:p>
        </p:txBody>
      </p:sp>
      <p:sp>
        <p:nvSpPr>
          <p:cNvPr id="15" name="Shape 12"/>
          <p:cNvSpPr/>
          <p:nvPr/>
        </p:nvSpPr>
        <p:spPr>
          <a:xfrm>
            <a:off x="502920" y="5440680"/>
            <a:ext cx="11155680" cy="868680"/>
          </a:xfrm>
          <a:prstGeom prst="roundRect">
            <a:avLst>
              <a:gd name="adj" fmla="val 8421"/>
            </a:avLst>
          </a:prstGeom>
          <a:solidFill>
            <a:srgbClr val="FDEBEE"/>
          </a:solidFill>
          <a:ln w="12700">
            <a:solidFill>
              <a:srgbClr val="E0455B"/>
            </a:solidFill>
            <a:prstDash val="solid"/>
          </a:ln>
        </p:spPr>
      </p:sp>
      <p:sp>
        <p:nvSpPr>
          <p:cNvPr id="16" name="Text 13"/>
          <p:cNvSpPr/>
          <p:nvPr/>
        </p:nvSpPr>
        <p:spPr>
          <a:xfrm>
            <a:off x="685800" y="5522976"/>
            <a:ext cx="10789920" cy="237744"/>
          </a:xfrm>
          <a:prstGeom prst="rect">
            <a:avLst/>
          </a:prstGeom>
          <a:noFill/>
          <a:ln/>
        </p:spPr>
        <p:txBody>
          <a:bodyPr wrap="square" rtlCol="0" anchor="ctr"/>
          <a:lstStyle/>
          <a:p>
            <a:pPr indent="0" marL="0">
              <a:buNone/>
            </a:pPr>
            <a:r>
              <a:rPr lang="en-US" sz="1050" b="1" spc="100" kern="0" dirty="0">
                <a:solidFill>
                  <a:srgbClr val="E0455B"/>
                </a:solidFill>
                <a:latin typeface="Calibri" pitchFamily="34" charset="0"/>
                <a:ea typeface="Calibri" pitchFamily="34" charset="-122"/>
                <a:cs typeface="Calibri" pitchFamily="34" charset="-120"/>
              </a:rPr>
              <a:t>Assignment vs comparison</a:t>
            </a:r>
            <a:endParaRPr lang="en-US" sz="1050" dirty="0"/>
          </a:p>
        </p:txBody>
      </p:sp>
      <p:sp>
        <p:nvSpPr>
          <p:cNvPr id="17" name="Text 14"/>
          <p:cNvSpPr/>
          <p:nvPr/>
        </p:nvSpPr>
        <p:spPr>
          <a:xfrm>
            <a:off x="685800" y="5788152"/>
            <a:ext cx="10789920" cy="42976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 assigns a value; == compares two values. Writing if (x = 5) compiles — it assigns 5 to x and the condition is always true. This is one of the most common silent bugs for C programmers moving to C++.</a:t>
            </a:r>
            <a:endParaRPr lang="en-US" sz="1100" dirty="0"/>
          </a:p>
        </p:txBody>
      </p:sp>
      <p:sp>
        <p:nvSpPr>
          <p:cNvPr id="19" name="Text 15"/>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0" name="Text 16"/>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9</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Type Conversion &amp; Casting</a:t>
            </a:r>
            <a:endParaRPr lang="en-US" sz="2800" dirty="0"/>
          </a:p>
        </p:txBody>
      </p:sp>
      <p:sp>
        <p:nvSpPr>
          <p:cNvPr id="4" name="Shape 2"/>
          <p:cNvSpPr/>
          <p:nvPr/>
        </p:nvSpPr>
        <p:spPr>
          <a:xfrm>
            <a:off x="502920" y="1737360"/>
            <a:ext cx="146304" cy="146304"/>
          </a:xfrm>
          <a:prstGeom prst="ellipse">
            <a:avLst/>
          </a:prstGeom>
          <a:solidFill>
            <a:srgbClr val="2FD8A2"/>
          </a:solidFill>
          <a:ln/>
        </p:spPr>
      </p:sp>
      <p:sp>
        <p:nvSpPr>
          <p:cNvPr id="5" name="Text 3"/>
          <p:cNvSpPr/>
          <p:nvPr/>
        </p:nvSpPr>
        <p:spPr>
          <a:xfrm>
            <a:off x="795528" y="1636776"/>
            <a:ext cx="5468112" cy="274320"/>
          </a:xfrm>
          <a:prstGeom prst="rect">
            <a:avLst/>
          </a:prstGeom>
          <a:noFill/>
          <a:ln/>
        </p:spPr>
        <p:txBody>
          <a:bodyPr wrap="square" rtlCol="0" anchor="ctr"/>
          <a:lstStyle/>
          <a:p>
            <a:pPr indent="0" marL="0">
              <a:buNone/>
            </a:pPr>
            <a:r>
              <a:rPr lang="en-US" sz="1400" b="1" dirty="0">
                <a:solidFill>
                  <a:srgbClr val="12172B"/>
                </a:solidFill>
                <a:latin typeface="Calibri" pitchFamily="34" charset="0"/>
                <a:ea typeface="Calibri" pitchFamily="34" charset="-122"/>
                <a:cs typeface="Calibri" pitchFamily="34" charset="-120"/>
              </a:rPr>
              <a:t>Implicit conversion</a:t>
            </a:r>
            <a:endParaRPr lang="en-US" sz="1400" dirty="0"/>
          </a:p>
        </p:txBody>
      </p:sp>
      <p:sp>
        <p:nvSpPr>
          <p:cNvPr id="6" name="Text 4"/>
          <p:cNvSpPr/>
          <p:nvPr/>
        </p:nvSpPr>
        <p:spPr>
          <a:xfrm>
            <a:off x="795528" y="1892808"/>
            <a:ext cx="5468112" cy="457200"/>
          </a:xfrm>
          <a:prstGeom prst="rect">
            <a:avLst/>
          </a:prstGeom>
          <a:noFill/>
          <a:ln/>
        </p:spPr>
        <p:txBody>
          <a:bodyPr wrap="square" rtlCol="0" anchor="t"/>
          <a:lstStyle/>
          <a:p>
            <a:pPr indent="0" marL="0">
              <a:buNone/>
            </a:pPr>
            <a:r>
              <a:rPr lang="en-US" sz="1150" dirty="0">
                <a:solidFill>
                  <a:srgbClr val="545C7E"/>
                </a:solidFill>
                <a:latin typeface="Calibri" pitchFamily="34" charset="0"/>
                <a:ea typeface="Calibri" pitchFamily="34" charset="-122"/>
                <a:cs typeface="Calibri" pitchFamily="34" charset="-120"/>
              </a:rPr>
              <a:t>C++ silently converts int to double when needed — convenient, but not always what you want.</a:t>
            </a:r>
            <a:endParaRPr lang="en-US" sz="1150" dirty="0"/>
          </a:p>
        </p:txBody>
      </p:sp>
      <p:sp>
        <p:nvSpPr>
          <p:cNvPr id="7" name="Shape 5"/>
          <p:cNvSpPr/>
          <p:nvPr/>
        </p:nvSpPr>
        <p:spPr>
          <a:xfrm>
            <a:off x="502920" y="2304288"/>
            <a:ext cx="146304" cy="146304"/>
          </a:xfrm>
          <a:prstGeom prst="ellipse">
            <a:avLst/>
          </a:prstGeom>
          <a:solidFill>
            <a:srgbClr val="2FD8A2"/>
          </a:solidFill>
          <a:ln/>
        </p:spPr>
      </p:sp>
      <p:sp>
        <p:nvSpPr>
          <p:cNvPr id="8" name="Text 6"/>
          <p:cNvSpPr/>
          <p:nvPr/>
        </p:nvSpPr>
        <p:spPr>
          <a:xfrm>
            <a:off x="795528" y="2203704"/>
            <a:ext cx="5468112" cy="274320"/>
          </a:xfrm>
          <a:prstGeom prst="rect">
            <a:avLst/>
          </a:prstGeom>
          <a:noFill/>
          <a:ln/>
        </p:spPr>
        <p:txBody>
          <a:bodyPr wrap="square" rtlCol="0" anchor="ctr"/>
          <a:lstStyle/>
          <a:p>
            <a:pPr indent="0" marL="0">
              <a:buNone/>
            </a:pPr>
            <a:r>
              <a:rPr lang="en-US" sz="1400" b="1" dirty="0">
                <a:solidFill>
                  <a:srgbClr val="12172B"/>
                </a:solidFill>
                <a:latin typeface="Calibri" pitchFamily="34" charset="0"/>
                <a:ea typeface="Calibri" pitchFamily="34" charset="-122"/>
                <a:cs typeface="Calibri" pitchFamily="34" charset="-120"/>
              </a:rPr>
              <a:t>Explicit conversion</a:t>
            </a:r>
            <a:endParaRPr lang="en-US" sz="1400" dirty="0"/>
          </a:p>
        </p:txBody>
      </p:sp>
      <p:sp>
        <p:nvSpPr>
          <p:cNvPr id="9" name="Text 7"/>
          <p:cNvSpPr/>
          <p:nvPr/>
        </p:nvSpPr>
        <p:spPr>
          <a:xfrm>
            <a:off x="795528" y="2459736"/>
            <a:ext cx="5468112" cy="457200"/>
          </a:xfrm>
          <a:prstGeom prst="rect">
            <a:avLst/>
          </a:prstGeom>
          <a:noFill/>
          <a:ln/>
        </p:spPr>
        <p:txBody>
          <a:bodyPr wrap="square" rtlCol="0" anchor="t"/>
          <a:lstStyle/>
          <a:p>
            <a:pPr indent="0" marL="0">
              <a:buNone/>
            </a:pPr>
            <a:r>
              <a:rPr lang="en-US" sz="1150" dirty="0">
                <a:solidFill>
                  <a:srgbClr val="545C7E"/>
                </a:solidFill>
                <a:latin typeface="Calibri" pitchFamily="34" charset="0"/>
                <a:ea typeface="Calibri" pitchFamily="34" charset="-122"/>
                <a:cs typeface="Calibri" pitchFamily="34" charset="-120"/>
              </a:rPr>
              <a:t>static_cast&lt;double&gt;(x) tells the compiler exactly what you intend, in a way the reader can see immediately.</a:t>
            </a:r>
            <a:endParaRPr lang="en-US" sz="1150" dirty="0"/>
          </a:p>
        </p:txBody>
      </p:sp>
      <p:sp>
        <p:nvSpPr>
          <p:cNvPr id="10" name="Shape 8"/>
          <p:cNvSpPr/>
          <p:nvPr/>
        </p:nvSpPr>
        <p:spPr>
          <a:xfrm>
            <a:off x="502920" y="3794760"/>
            <a:ext cx="5760720" cy="1417320"/>
          </a:xfrm>
          <a:prstGeom prst="roundRect">
            <a:avLst>
              <a:gd name="adj" fmla="val 5161"/>
            </a:avLst>
          </a:prstGeom>
          <a:solidFill>
            <a:srgbClr val="EAFBF4"/>
          </a:solidFill>
          <a:ln w="12700">
            <a:solidFill>
              <a:srgbClr val="16A67C"/>
            </a:solidFill>
            <a:prstDash val="solid"/>
          </a:ln>
        </p:spPr>
      </p:sp>
      <p:sp>
        <p:nvSpPr>
          <p:cNvPr id="11" name="Text 9"/>
          <p:cNvSpPr/>
          <p:nvPr/>
        </p:nvSpPr>
        <p:spPr>
          <a:xfrm>
            <a:off x="685800" y="3877056"/>
            <a:ext cx="539496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Prefer static_cast</a:t>
            </a:r>
            <a:endParaRPr lang="en-US" sz="1050" dirty="0"/>
          </a:p>
        </p:txBody>
      </p:sp>
      <p:sp>
        <p:nvSpPr>
          <p:cNvPr id="12" name="Text 10"/>
          <p:cNvSpPr/>
          <p:nvPr/>
        </p:nvSpPr>
        <p:spPr>
          <a:xfrm>
            <a:off x="685800" y="4142232"/>
            <a:ext cx="5394960" cy="9784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Old-style C casts like (double)a still compile but hide intent and are easy to misuse. static_cast&lt;double&gt;(a) is safer and self-documenting — use it in new C++ code.</a:t>
            </a:r>
            <a:endParaRPr lang="en-US" sz="1100" dirty="0"/>
          </a:p>
        </p:txBody>
      </p:sp>
      <p:sp>
        <p:nvSpPr>
          <p:cNvPr id="13" name="Shape 11"/>
          <p:cNvSpPr/>
          <p:nvPr/>
        </p:nvSpPr>
        <p:spPr>
          <a:xfrm>
            <a:off x="6903720" y="1691640"/>
            <a:ext cx="4800600" cy="3566160"/>
          </a:xfrm>
          <a:prstGeom prst="roundRect">
            <a:avLst>
              <a:gd name="adj" fmla="val 2308"/>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4" name="Shape 12"/>
          <p:cNvSpPr/>
          <p:nvPr/>
        </p:nvSpPr>
        <p:spPr>
          <a:xfrm>
            <a:off x="6903720" y="1691640"/>
            <a:ext cx="4800600" cy="292608"/>
          </a:xfrm>
          <a:prstGeom prst="rect">
            <a:avLst/>
          </a:prstGeom>
          <a:solidFill>
            <a:srgbClr val="141B33"/>
          </a:solidFill>
          <a:ln/>
        </p:spPr>
      </p:sp>
      <p:sp>
        <p:nvSpPr>
          <p:cNvPr id="15" name="Shape 13"/>
          <p:cNvSpPr/>
          <p:nvPr/>
        </p:nvSpPr>
        <p:spPr>
          <a:xfrm>
            <a:off x="7050024" y="1783080"/>
            <a:ext cx="109728" cy="109728"/>
          </a:xfrm>
          <a:prstGeom prst="ellipse">
            <a:avLst/>
          </a:prstGeom>
          <a:solidFill>
            <a:srgbClr val="FF6B6B"/>
          </a:solidFill>
          <a:ln/>
        </p:spPr>
      </p:sp>
      <p:sp>
        <p:nvSpPr>
          <p:cNvPr id="16" name="Shape 14"/>
          <p:cNvSpPr/>
          <p:nvPr/>
        </p:nvSpPr>
        <p:spPr>
          <a:xfrm>
            <a:off x="7223760" y="1783080"/>
            <a:ext cx="109728" cy="109728"/>
          </a:xfrm>
          <a:prstGeom prst="ellipse">
            <a:avLst/>
          </a:prstGeom>
          <a:solidFill>
            <a:srgbClr val="FFD166"/>
          </a:solidFill>
          <a:ln/>
        </p:spPr>
      </p:sp>
      <p:sp>
        <p:nvSpPr>
          <p:cNvPr id="17" name="Shape 15"/>
          <p:cNvSpPr/>
          <p:nvPr/>
        </p:nvSpPr>
        <p:spPr>
          <a:xfrm>
            <a:off x="7397496" y="1783080"/>
            <a:ext cx="109728" cy="109728"/>
          </a:xfrm>
          <a:prstGeom prst="ellipse">
            <a:avLst/>
          </a:prstGeom>
          <a:solidFill>
            <a:srgbClr val="2FD8A2"/>
          </a:solidFill>
          <a:ln/>
        </p:spPr>
      </p:sp>
      <p:sp>
        <p:nvSpPr>
          <p:cNvPr id="18" name="Text 16"/>
          <p:cNvSpPr/>
          <p:nvPr/>
        </p:nvSpPr>
        <p:spPr>
          <a:xfrm>
            <a:off x="6903720" y="1691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avoiding integer division</a:t>
            </a:r>
            <a:endParaRPr lang="en-US" sz="1000" dirty="0"/>
          </a:p>
        </p:txBody>
      </p:sp>
      <p:sp>
        <p:nvSpPr>
          <p:cNvPr id="19" name="Text 17"/>
          <p:cNvSpPr/>
          <p:nvPr/>
        </p:nvSpPr>
        <p:spPr>
          <a:xfrm>
            <a:off x="7123176" y="2103120"/>
            <a:ext cx="4361688" cy="303580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y</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implicit: y = 5.0</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result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2.0  (!)</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fixed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static_cast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2.5</a:t>
            </a:r>
            <a:endParaRPr lang="en-US" sz="1250" dirty="0"/>
          </a:p>
        </p:txBody>
      </p:sp>
      <p:sp>
        <p:nvSpPr>
          <p:cNvPr id="21" name="Text 1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2" name="Text 1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DAY 2 OF 7</a:t>
            </a:r>
            <a:endParaRPr lang="en-US" sz="1200" dirty="0"/>
          </a:p>
        </p:txBody>
      </p:sp>
      <p:sp>
        <p:nvSpPr>
          <p:cNvPr id="3" name="Text 1"/>
          <p:cNvSpPr/>
          <p:nvPr/>
        </p:nvSpPr>
        <p:spPr>
          <a:xfrm>
            <a:off x="502920" y="1645920"/>
            <a:ext cx="107899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Conditions &amp; Loops</a:t>
            </a:r>
            <a:endParaRPr lang="en-US" sz="3800" dirty="0"/>
          </a:p>
        </p:txBody>
      </p:sp>
      <p:sp>
        <p:nvSpPr>
          <p:cNvPr id="4" name="Text 2"/>
          <p:cNvSpPr/>
          <p:nvPr/>
        </p:nvSpPr>
        <p:spPr>
          <a:xfrm>
            <a:off x="502920" y="2880360"/>
            <a:ext cx="8778240" cy="777240"/>
          </a:xfrm>
          <a:prstGeom prst="rect">
            <a:avLst/>
          </a:prstGeom>
          <a:noFill/>
          <a:ln/>
        </p:spPr>
        <p:txBody>
          <a:bodyPr wrap="square" rtlCol="0" anchor="t"/>
          <a:lstStyle/>
          <a:p>
            <a:pPr indent="0" marL="0">
              <a:buNone/>
            </a:pPr>
            <a:r>
              <a:rPr lang="en-US" sz="1450" dirty="0">
                <a:solidFill>
                  <a:srgbClr val="C7CFE8"/>
                </a:solidFill>
                <a:latin typeface="Calibri" pitchFamily="34" charset="0"/>
                <a:ea typeface="Calibri" pitchFamily="34" charset="-122"/>
                <a:cs typeface="Calibri" pitchFamily="34" charset="-120"/>
              </a:rPr>
              <a:t>This is where programs start making decisions and repeating work — the two ingredients behind almost every DSA pattern you'll meet later, from binary search to sliding windows.</a:t>
            </a:r>
            <a:endParaRPr lang="en-US" sz="1450" dirty="0"/>
          </a:p>
        </p:txBody>
      </p:sp>
      <p:sp>
        <p:nvSpPr>
          <p:cNvPr id="5" name="Shape 3"/>
          <p:cNvSpPr/>
          <p:nvPr/>
        </p:nvSpPr>
        <p:spPr>
          <a:xfrm>
            <a:off x="502920" y="3977640"/>
            <a:ext cx="1076249" cy="365760"/>
          </a:xfrm>
          <a:prstGeom prst="roundRect">
            <a:avLst>
              <a:gd name="adj" fmla="val 50000"/>
            </a:avLst>
          </a:prstGeom>
          <a:solidFill>
            <a:srgbClr val="16213E"/>
          </a:solidFill>
          <a:ln w="9525">
            <a:solidFill>
              <a:srgbClr val="2FD8A2"/>
            </a:solidFill>
            <a:prstDash val="solid"/>
          </a:ln>
        </p:spPr>
      </p:sp>
      <p:sp>
        <p:nvSpPr>
          <p:cNvPr id="6" name="Text 4"/>
          <p:cNvSpPr/>
          <p:nvPr/>
        </p:nvSpPr>
        <p:spPr>
          <a:xfrm>
            <a:off x="502920" y="3977640"/>
            <a:ext cx="1076249"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if / else</a:t>
            </a:r>
            <a:endParaRPr lang="en-US" sz="1050" dirty="0"/>
          </a:p>
        </p:txBody>
      </p:sp>
      <p:sp>
        <p:nvSpPr>
          <p:cNvPr id="7" name="Shape 5"/>
          <p:cNvSpPr/>
          <p:nvPr/>
        </p:nvSpPr>
        <p:spPr>
          <a:xfrm>
            <a:off x="1743761" y="3977640"/>
            <a:ext cx="821131" cy="365760"/>
          </a:xfrm>
          <a:prstGeom prst="roundRect">
            <a:avLst>
              <a:gd name="adj" fmla="val 50000"/>
            </a:avLst>
          </a:prstGeom>
          <a:solidFill>
            <a:srgbClr val="16213E"/>
          </a:solidFill>
          <a:ln w="9525">
            <a:solidFill>
              <a:srgbClr val="2FD8A2"/>
            </a:solidFill>
            <a:prstDash val="solid"/>
          </a:ln>
        </p:spPr>
      </p:sp>
      <p:sp>
        <p:nvSpPr>
          <p:cNvPr id="8" name="Text 6"/>
          <p:cNvSpPr/>
          <p:nvPr/>
        </p:nvSpPr>
        <p:spPr>
          <a:xfrm>
            <a:off x="1743761" y="3977640"/>
            <a:ext cx="821131"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switch</a:t>
            </a:r>
            <a:endParaRPr lang="en-US" sz="1050" dirty="0"/>
          </a:p>
        </p:txBody>
      </p:sp>
      <p:sp>
        <p:nvSpPr>
          <p:cNvPr id="9" name="Shape 7"/>
          <p:cNvSpPr/>
          <p:nvPr/>
        </p:nvSpPr>
        <p:spPr>
          <a:xfrm>
            <a:off x="2729484" y="3977640"/>
            <a:ext cx="1671523" cy="365760"/>
          </a:xfrm>
          <a:prstGeom prst="roundRect">
            <a:avLst>
              <a:gd name="adj" fmla="val 50000"/>
            </a:avLst>
          </a:prstGeom>
          <a:solidFill>
            <a:srgbClr val="16213E"/>
          </a:solidFill>
          <a:ln w="9525">
            <a:solidFill>
              <a:srgbClr val="2FD8A2"/>
            </a:solidFill>
            <a:prstDash val="solid"/>
          </a:ln>
        </p:spPr>
      </p:sp>
      <p:sp>
        <p:nvSpPr>
          <p:cNvPr id="10" name="Text 8"/>
          <p:cNvSpPr/>
          <p:nvPr/>
        </p:nvSpPr>
        <p:spPr>
          <a:xfrm>
            <a:off x="2729484" y="3977640"/>
            <a:ext cx="1671523"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while &amp; do-while</a:t>
            </a:r>
            <a:endParaRPr lang="en-US" sz="1050" dirty="0"/>
          </a:p>
        </p:txBody>
      </p:sp>
      <p:sp>
        <p:nvSpPr>
          <p:cNvPr id="11" name="Shape 9"/>
          <p:cNvSpPr/>
          <p:nvPr/>
        </p:nvSpPr>
        <p:spPr>
          <a:xfrm>
            <a:off x="4565599" y="3977640"/>
            <a:ext cx="1076249" cy="365760"/>
          </a:xfrm>
          <a:prstGeom prst="roundRect">
            <a:avLst>
              <a:gd name="adj" fmla="val 50000"/>
            </a:avLst>
          </a:prstGeom>
          <a:solidFill>
            <a:srgbClr val="16213E"/>
          </a:solidFill>
          <a:ln w="9525">
            <a:solidFill>
              <a:srgbClr val="2FD8A2"/>
            </a:solidFill>
            <a:prstDash val="solid"/>
          </a:ln>
        </p:spPr>
      </p:sp>
      <p:sp>
        <p:nvSpPr>
          <p:cNvPr id="12" name="Text 10"/>
          <p:cNvSpPr/>
          <p:nvPr/>
        </p:nvSpPr>
        <p:spPr>
          <a:xfrm>
            <a:off x="4565599" y="3977640"/>
            <a:ext cx="1076249"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for loops</a:t>
            </a:r>
            <a:endParaRPr lang="en-US" sz="1050" dirty="0"/>
          </a:p>
        </p:txBody>
      </p:sp>
      <p:sp>
        <p:nvSpPr>
          <p:cNvPr id="13" name="Shape 11"/>
          <p:cNvSpPr/>
          <p:nvPr/>
        </p:nvSpPr>
        <p:spPr>
          <a:xfrm>
            <a:off x="5806440" y="3977640"/>
            <a:ext cx="1671523" cy="365760"/>
          </a:xfrm>
          <a:prstGeom prst="roundRect">
            <a:avLst>
              <a:gd name="adj" fmla="val 50000"/>
            </a:avLst>
          </a:prstGeom>
          <a:solidFill>
            <a:srgbClr val="16213E"/>
          </a:solidFill>
          <a:ln w="9525">
            <a:solidFill>
              <a:srgbClr val="2FD8A2"/>
            </a:solidFill>
            <a:prstDash val="solid"/>
          </a:ln>
        </p:spPr>
      </p:sp>
      <p:sp>
        <p:nvSpPr>
          <p:cNvPr id="14" name="Text 12"/>
          <p:cNvSpPr/>
          <p:nvPr/>
        </p:nvSpPr>
        <p:spPr>
          <a:xfrm>
            <a:off x="5806440" y="3977640"/>
            <a:ext cx="1671523"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break &amp; continue</a:t>
            </a:r>
            <a:endParaRPr lang="en-US" sz="1050" dirty="0"/>
          </a:p>
        </p:txBody>
      </p:sp>
      <p:sp>
        <p:nvSpPr>
          <p:cNvPr id="15" name="Shape 13"/>
          <p:cNvSpPr/>
          <p:nvPr/>
        </p:nvSpPr>
        <p:spPr>
          <a:xfrm>
            <a:off x="7642555" y="3977640"/>
            <a:ext cx="1331366" cy="365760"/>
          </a:xfrm>
          <a:prstGeom prst="roundRect">
            <a:avLst>
              <a:gd name="adj" fmla="val 50000"/>
            </a:avLst>
          </a:prstGeom>
          <a:solidFill>
            <a:srgbClr val="16213E"/>
          </a:solidFill>
          <a:ln w="9525">
            <a:solidFill>
              <a:srgbClr val="2FD8A2"/>
            </a:solidFill>
            <a:prstDash val="solid"/>
          </a:ln>
        </p:spPr>
      </p:sp>
      <p:sp>
        <p:nvSpPr>
          <p:cNvPr id="16" name="Text 14"/>
          <p:cNvSpPr/>
          <p:nvPr/>
        </p:nvSpPr>
        <p:spPr>
          <a:xfrm>
            <a:off x="7642555" y="3977640"/>
            <a:ext cx="1331366"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nested loops</a:t>
            </a:r>
            <a:endParaRPr lang="en-US" sz="1050" dirty="0"/>
          </a:p>
        </p:txBody>
      </p:sp>
      <p:sp>
        <p:nvSpPr>
          <p:cNvPr id="17" name="Shape 15"/>
          <p:cNvSpPr/>
          <p:nvPr/>
        </p:nvSpPr>
        <p:spPr>
          <a:xfrm>
            <a:off x="8945575" y="4892040"/>
            <a:ext cx="2743200" cy="1417320"/>
          </a:xfrm>
          <a:prstGeom prst="roundRect">
            <a:avLst>
              <a:gd name="adj" fmla="val 580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8" name="Shape 16"/>
          <p:cNvSpPr/>
          <p:nvPr/>
        </p:nvSpPr>
        <p:spPr>
          <a:xfrm>
            <a:off x="8945575" y="4892040"/>
            <a:ext cx="2743200" cy="292608"/>
          </a:xfrm>
          <a:prstGeom prst="rect">
            <a:avLst/>
          </a:prstGeom>
          <a:solidFill>
            <a:srgbClr val="141B33"/>
          </a:solidFill>
          <a:ln/>
        </p:spPr>
      </p:sp>
      <p:sp>
        <p:nvSpPr>
          <p:cNvPr id="19" name="Shape 17"/>
          <p:cNvSpPr/>
          <p:nvPr/>
        </p:nvSpPr>
        <p:spPr>
          <a:xfrm>
            <a:off x="9091879" y="4983480"/>
            <a:ext cx="109728" cy="109728"/>
          </a:xfrm>
          <a:prstGeom prst="ellipse">
            <a:avLst/>
          </a:prstGeom>
          <a:solidFill>
            <a:srgbClr val="FF6B6B"/>
          </a:solidFill>
          <a:ln/>
        </p:spPr>
      </p:sp>
      <p:sp>
        <p:nvSpPr>
          <p:cNvPr id="20" name="Shape 18"/>
          <p:cNvSpPr/>
          <p:nvPr/>
        </p:nvSpPr>
        <p:spPr>
          <a:xfrm>
            <a:off x="9265615" y="4983480"/>
            <a:ext cx="109728" cy="109728"/>
          </a:xfrm>
          <a:prstGeom prst="ellipse">
            <a:avLst/>
          </a:prstGeom>
          <a:solidFill>
            <a:srgbClr val="FFD166"/>
          </a:solidFill>
          <a:ln/>
        </p:spPr>
      </p:sp>
      <p:sp>
        <p:nvSpPr>
          <p:cNvPr id="21" name="Shape 19"/>
          <p:cNvSpPr/>
          <p:nvPr/>
        </p:nvSpPr>
        <p:spPr>
          <a:xfrm>
            <a:off x="9439351" y="4983480"/>
            <a:ext cx="109728" cy="109728"/>
          </a:xfrm>
          <a:prstGeom prst="ellipse">
            <a:avLst/>
          </a:prstGeom>
          <a:solidFill>
            <a:srgbClr val="2FD8A2"/>
          </a:solidFill>
          <a:ln/>
        </p:spPr>
      </p:sp>
      <p:sp>
        <p:nvSpPr>
          <p:cNvPr id="23" name="Text 20"/>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4" name="Text 21"/>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10</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Conditional Statements</a:t>
            </a:r>
            <a:endParaRPr lang="en-US" sz="2800" dirty="0"/>
          </a:p>
        </p:txBody>
      </p:sp>
      <p:sp>
        <p:nvSpPr>
          <p:cNvPr id="4" name="Shape 2"/>
          <p:cNvSpPr/>
          <p:nvPr/>
        </p:nvSpPr>
        <p:spPr>
          <a:xfrm>
            <a:off x="502920" y="1600200"/>
            <a:ext cx="5760720" cy="2788920"/>
          </a:xfrm>
          <a:prstGeom prst="roundRect">
            <a:avLst>
              <a:gd name="adj" fmla="val 2951"/>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00200"/>
            <a:ext cx="5760720" cy="292608"/>
          </a:xfrm>
          <a:prstGeom prst="rect">
            <a:avLst/>
          </a:prstGeom>
          <a:solidFill>
            <a:srgbClr val="141B33"/>
          </a:solidFill>
          <a:ln/>
        </p:spPr>
      </p:sp>
      <p:sp>
        <p:nvSpPr>
          <p:cNvPr id="6" name="Shape 4"/>
          <p:cNvSpPr/>
          <p:nvPr/>
        </p:nvSpPr>
        <p:spPr>
          <a:xfrm>
            <a:off x="649224" y="1691640"/>
            <a:ext cx="109728" cy="109728"/>
          </a:xfrm>
          <a:prstGeom prst="ellipse">
            <a:avLst/>
          </a:prstGeom>
          <a:solidFill>
            <a:srgbClr val="FF6B6B"/>
          </a:solidFill>
          <a:ln/>
        </p:spPr>
      </p:sp>
      <p:sp>
        <p:nvSpPr>
          <p:cNvPr id="7" name="Shape 5"/>
          <p:cNvSpPr/>
          <p:nvPr/>
        </p:nvSpPr>
        <p:spPr>
          <a:xfrm>
            <a:off x="822960" y="1691640"/>
            <a:ext cx="109728" cy="109728"/>
          </a:xfrm>
          <a:prstGeom prst="ellipse">
            <a:avLst/>
          </a:prstGeom>
          <a:solidFill>
            <a:srgbClr val="FFD166"/>
          </a:solidFill>
          <a:ln/>
        </p:spPr>
      </p:sp>
      <p:sp>
        <p:nvSpPr>
          <p:cNvPr id="8" name="Shape 6"/>
          <p:cNvSpPr/>
          <p:nvPr/>
        </p:nvSpPr>
        <p:spPr>
          <a:xfrm>
            <a:off x="996696" y="1691640"/>
            <a:ext cx="109728" cy="109728"/>
          </a:xfrm>
          <a:prstGeom prst="ellipse">
            <a:avLst/>
          </a:prstGeom>
          <a:solidFill>
            <a:srgbClr val="2FD8A2"/>
          </a:solidFill>
          <a:ln/>
        </p:spPr>
      </p:sp>
      <p:sp>
        <p:nvSpPr>
          <p:cNvPr id="9" name="Text 7"/>
          <p:cNvSpPr/>
          <p:nvPr/>
        </p:nvSpPr>
        <p:spPr>
          <a:xfrm>
            <a:off x="502920" y="160020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largest of three</a:t>
            </a:r>
            <a:endParaRPr lang="en-US" sz="1000" dirty="0"/>
          </a:p>
        </p:txBody>
      </p:sp>
      <p:sp>
        <p:nvSpPr>
          <p:cNvPr id="10" name="Text 8"/>
          <p:cNvSpPr/>
          <p:nvPr/>
        </p:nvSpPr>
        <p:spPr>
          <a:xfrm>
            <a:off x="722376" y="2011680"/>
            <a:ext cx="5321808" cy="2258568"/>
          </a:xfrm>
          <a:prstGeom prst="rect">
            <a:avLst/>
          </a:prstGeom>
          <a:noFill/>
          <a:ln/>
        </p:spPr>
        <p:txBody>
          <a:bodyPr wrap="square" lIns="0" tIns="0" rIns="0" bIns="0" rtlCol="0" anchor="t"/>
          <a:lstStyle/>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&amp;&amp;</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"a is largest"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else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"b is largest"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else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"c is largest"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502920" y="4526280"/>
            <a:ext cx="5760720" cy="1691640"/>
          </a:xfrm>
          <a:prstGeom prst="roundRect">
            <a:avLst>
              <a:gd name="adj" fmla="val 4324"/>
            </a:avLst>
          </a:prstGeom>
          <a:solidFill>
            <a:srgbClr val="FDEBEE"/>
          </a:solidFill>
          <a:ln w="12700">
            <a:solidFill>
              <a:srgbClr val="E0455B"/>
            </a:solidFill>
            <a:prstDash val="solid"/>
          </a:ln>
        </p:spPr>
      </p:sp>
      <p:sp>
        <p:nvSpPr>
          <p:cNvPr id="12" name="Text 10"/>
          <p:cNvSpPr/>
          <p:nvPr/>
        </p:nvSpPr>
        <p:spPr>
          <a:xfrm>
            <a:off x="685800" y="4608576"/>
            <a:ext cx="5394960" cy="237744"/>
          </a:xfrm>
          <a:prstGeom prst="rect">
            <a:avLst/>
          </a:prstGeom>
          <a:noFill/>
          <a:ln/>
        </p:spPr>
        <p:txBody>
          <a:bodyPr wrap="square" rtlCol="0" anchor="ctr"/>
          <a:lstStyle/>
          <a:p>
            <a:pPr indent="0" marL="0">
              <a:buNone/>
            </a:pPr>
            <a:r>
              <a:rPr lang="en-US" sz="1050" b="1" spc="100" kern="0" dirty="0">
                <a:solidFill>
                  <a:srgbClr val="E0455B"/>
                </a:solidFill>
                <a:latin typeface="Calibri" pitchFamily="34" charset="0"/>
                <a:ea typeface="Calibri" pitchFamily="34" charset="-122"/>
                <a:cs typeface="Calibri" pitchFamily="34" charset="-120"/>
              </a:rPr>
              <a:t>= vs ==</a:t>
            </a:r>
            <a:endParaRPr lang="en-US" sz="1050" dirty="0"/>
          </a:p>
        </p:txBody>
      </p:sp>
      <p:sp>
        <p:nvSpPr>
          <p:cNvPr id="13" name="Text 11"/>
          <p:cNvSpPr/>
          <p:nvPr/>
        </p:nvSpPr>
        <p:spPr>
          <a:xfrm>
            <a:off x="685800" y="4873752"/>
            <a:ext cx="5394960" cy="12527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if (x = 5) assigns 5 to x — always true. if (x == 5) compares x with 5. C++ won't stop you from making this mistake; only careful reading will.</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903720" y="1600200"/>
          <a:ext cx="4800600" cy="914400"/>
        </p:xfrm>
        <a:graphic>
          <a:graphicData uri="http://schemas.openxmlformats.org/drawingml/2006/table">
            <a:tbl>
              <a:tblPr/>
              <a:tblGrid>
                <a:gridCol w="1051560"/>
                <a:gridCol w="502920"/>
                <a:gridCol w="502920"/>
                <a:gridCol w="502920"/>
                <a:gridCol w="914400"/>
                <a:gridCol w="594360"/>
                <a:gridCol w="731520"/>
              </a:tblGrid>
              <a:tr h="41148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b</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a&gt;b &amp;&amp; a&gt;c</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b&gt;c</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Output</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411480">
                <a:tc>
                  <a:txBody>
                    <a:bodyPr/>
                    <a:lstStyle/>
                    <a:p>
                      <a:pPr algn="l" indent="0" marL="0">
                        <a:buNone/>
                      </a:pPr>
                      <a:r>
                        <a:rPr lang="en-US" sz="950" dirty="0">
                          <a:solidFill>
                            <a:srgbClr val="12172B"/>
                          </a:solidFill>
                          <a:latin typeface="Calibri" pitchFamily="34" charset="0"/>
                          <a:ea typeface="Calibri" pitchFamily="34" charset="-122"/>
                          <a:cs typeface="Calibri" pitchFamily="34" charset="-120"/>
                        </a:rPr>
                        <a:t>a=3,b=7,c=5</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2172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2172B"/>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2172B"/>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2172B"/>
                          </a:solidFill>
                          <a:latin typeface="Calibri" pitchFamily="34" charset="0"/>
                          <a:ea typeface="Calibri" pitchFamily="34" charset="-122"/>
                          <a:cs typeface="Calibri" pitchFamily="34" charset="-120"/>
                        </a:rPr>
                        <a:t>false</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2172B"/>
                          </a:solidFill>
                          <a:latin typeface="Calibri" pitchFamily="34" charset="0"/>
                          <a:ea typeface="Calibri" pitchFamily="34" charset="-122"/>
                          <a:cs typeface="Calibri" pitchFamily="34" charset="-120"/>
                        </a:rPr>
                        <a:t>true</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50" dirty="0">
                          <a:solidFill>
                            <a:srgbClr val="12172B"/>
                          </a:solidFill>
                          <a:latin typeface="Calibri" pitchFamily="34" charset="0"/>
                          <a:ea typeface="Calibri" pitchFamily="34" charset="-122"/>
                          <a:cs typeface="Calibri" pitchFamily="34" charset="-120"/>
                        </a:rPr>
                        <a:t>“b is largest”</a:t>
                      </a:r>
                      <a:endParaRPr lang="en-US" sz="9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bl>
          </a:graphicData>
        </a:graphic>
      </p:graphicFrame>
      <p:sp>
        <p:nvSpPr>
          <p:cNvPr id="15" name="Text 12"/>
          <p:cNvSpPr/>
          <p:nvPr/>
        </p:nvSpPr>
        <p:spPr>
          <a:xfrm>
            <a:off x="6903720" y="2148840"/>
            <a:ext cx="4800600" cy="274320"/>
          </a:xfrm>
          <a:prstGeom prst="rect">
            <a:avLst/>
          </a:prstGeom>
          <a:noFill/>
          <a:ln/>
        </p:spPr>
        <p:txBody>
          <a:bodyPr wrap="square" rtlCol="0" anchor="ctr"/>
          <a:lstStyle/>
          <a:p>
            <a:pPr indent="0" marL="0">
              <a:buNone/>
            </a:pPr>
            <a:r>
              <a:rPr lang="en-US" sz="1000" i="1" dirty="0">
                <a:solidFill>
                  <a:srgbClr val="545C7E"/>
                </a:solidFill>
                <a:latin typeface="Calibri" pitchFamily="34" charset="0"/>
                <a:ea typeface="Calibri" pitchFamily="34" charset="-122"/>
                <a:cs typeface="Calibri" pitchFamily="34" charset="-120"/>
              </a:rPr>
              <a:t>Dry run — trace the condition before trusting the code</a:t>
            </a:r>
            <a:endParaRPr lang="en-US" sz="1000" dirty="0"/>
          </a:p>
        </p:txBody>
      </p:sp>
      <p:sp>
        <p:nvSpPr>
          <p:cNvPr id="16" name="Shape 13"/>
          <p:cNvSpPr/>
          <p:nvPr/>
        </p:nvSpPr>
        <p:spPr>
          <a:xfrm>
            <a:off x="6903720" y="2697480"/>
            <a:ext cx="146304" cy="146304"/>
          </a:xfrm>
          <a:prstGeom prst="ellipse">
            <a:avLst/>
          </a:prstGeom>
          <a:solidFill>
            <a:srgbClr val="2FD8A2"/>
          </a:solidFill>
          <a:ln/>
        </p:spPr>
      </p:sp>
      <p:sp>
        <p:nvSpPr>
          <p:cNvPr id="17" name="Text 14"/>
          <p:cNvSpPr/>
          <p:nvPr/>
        </p:nvSpPr>
        <p:spPr>
          <a:xfrm>
            <a:off x="7196328" y="2551176"/>
            <a:ext cx="4507992" cy="365760"/>
          </a:xfrm>
          <a:prstGeom prst="rect">
            <a:avLst/>
          </a:prstGeom>
          <a:noFill/>
          <a:ln/>
        </p:spPr>
        <p:txBody>
          <a:bodyPr wrap="square" rtlCol="0" anchor="ctr"/>
          <a:lstStyle/>
          <a:p>
            <a:pPr indent="0" marL="0">
              <a:buNone/>
            </a:pPr>
            <a:r>
              <a:rPr lang="en-US" sz="1080" dirty="0">
                <a:solidFill>
                  <a:srgbClr val="12172B"/>
                </a:solidFill>
                <a:latin typeface="Calibri" pitchFamily="34" charset="0"/>
                <a:ea typeface="Calibri" pitchFamily="34" charset="-122"/>
                <a:cs typeface="Calibri" pitchFamily="34" charset="-120"/>
              </a:rPr>
              <a:t>Nested if lets you check a condition only after an outer one is already true.</a:t>
            </a:r>
            <a:endParaRPr lang="en-US" sz="1080" dirty="0"/>
          </a:p>
        </p:txBody>
      </p:sp>
      <p:sp>
        <p:nvSpPr>
          <p:cNvPr id="18" name="Shape 15"/>
          <p:cNvSpPr/>
          <p:nvPr/>
        </p:nvSpPr>
        <p:spPr>
          <a:xfrm>
            <a:off x="6903720" y="3264408"/>
            <a:ext cx="146304" cy="146304"/>
          </a:xfrm>
          <a:prstGeom prst="ellipse">
            <a:avLst/>
          </a:prstGeom>
          <a:solidFill>
            <a:srgbClr val="2FD8A2"/>
          </a:solidFill>
          <a:ln/>
        </p:spPr>
      </p:sp>
      <p:sp>
        <p:nvSpPr>
          <p:cNvPr id="19" name="Text 16"/>
          <p:cNvSpPr/>
          <p:nvPr/>
        </p:nvSpPr>
        <p:spPr>
          <a:xfrm>
            <a:off x="7196328" y="3118104"/>
            <a:ext cx="4507992" cy="365760"/>
          </a:xfrm>
          <a:prstGeom prst="rect">
            <a:avLst/>
          </a:prstGeom>
          <a:noFill/>
          <a:ln/>
        </p:spPr>
        <p:txBody>
          <a:bodyPr wrap="square" rtlCol="0" anchor="ctr"/>
          <a:lstStyle/>
          <a:p>
            <a:pPr indent="0" marL="0">
              <a:buNone/>
            </a:pPr>
            <a:r>
              <a:rPr lang="en-US" sz="1080" dirty="0">
                <a:solidFill>
                  <a:srgbClr val="12172B"/>
                </a:solidFill>
                <a:latin typeface="Calibri" pitchFamily="34" charset="0"/>
                <a:ea typeface="Calibri" pitchFamily="34" charset="-122"/>
                <a:cs typeface="Calibri" pitchFamily="34" charset="-120"/>
              </a:rPr>
              <a:t>else if chains are checked top-to-bottom — the first true branch wins, the rest are skipped.</a:t>
            </a:r>
            <a:endParaRPr lang="en-US" sz="1080" dirty="0"/>
          </a:p>
        </p:txBody>
      </p:sp>
      <p:sp>
        <p:nvSpPr>
          <p:cNvPr id="20" name="Shape 17"/>
          <p:cNvSpPr/>
          <p:nvPr/>
        </p:nvSpPr>
        <p:spPr>
          <a:xfrm>
            <a:off x="6903720" y="3831336"/>
            <a:ext cx="146304" cy="146304"/>
          </a:xfrm>
          <a:prstGeom prst="ellipse">
            <a:avLst/>
          </a:prstGeom>
          <a:solidFill>
            <a:srgbClr val="2FD8A2"/>
          </a:solidFill>
          <a:ln/>
        </p:spPr>
      </p:sp>
      <p:sp>
        <p:nvSpPr>
          <p:cNvPr id="21" name="Text 18"/>
          <p:cNvSpPr/>
          <p:nvPr/>
        </p:nvSpPr>
        <p:spPr>
          <a:xfrm>
            <a:off x="7196328" y="3685032"/>
            <a:ext cx="4507992" cy="365760"/>
          </a:xfrm>
          <a:prstGeom prst="rect">
            <a:avLst/>
          </a:prstGeom>
          <a:noFill/>
          <a:ln/>
        </p:spPr>
        <p:txBody>
          <a:bodyPr wrap="square" rtlCol="0" anchor="ctr"/>
          <a:lstStyle/>
          <a:p>
            <a:pPr indent="0" marL="0">
              <a:buNone/>
            </a:pPr>
            <a:r>
              <a:rPr lang="en-US" sz="1080" dirty="0">
                <a:solidFill>
                  <a:srgbClr val="12172B"/>
                </a:solidFill>
                <a:latin typeface="Calibri" pitchFamily="34" charset="0"/>
                <a:ea typeface="Calibri" pitchFamily="34" charset="-122"/>
                <a:cs typeface="Calibri" pitchFamily="34" charset="-120"/>
              </a:rPr>
              <a:t>Practice: even/odd check, sign of a number (positive / negative / zero), largest of two numbers.</a:t>
            </a:r>
            <a:endParaRPr lang="en-US" sz="1080" dirty="0"/>
          </a:p>
        </p:txBody>
      </p:sp>
      <p:sp>
        <p:nvSpPr>
          <p:cNvPr id="23" name="Text 19"/>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4" name="Text 20"/>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11</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Switch Statement</a:t>
            </a:r>
            <a:endParaRPr lang="en-US" sz="2800" dirty="0"/>
          </a:p>
        </p:txBody>
      </p:sp>
      <p:sp>
        <p:nvSpPr>
          <p:cNvPr id="4" name="Shape 2"/>
          <p:cNvSpPr/>
          <p:nvPr/>
        </p:nvSpPr>
        <p:spPr>
          <a:xfrm>
            <a:off x="502920" y="1600200"/>
            <a:ext cx="5760720" cy="3794760"/>
          </a:xfrm>
          <a:prstGeom prst="roundRect">
            <a:avLst>
              <a:gd name="adj" fmla="val 2169"/>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00200"/>
            <a:ext cx="5760720" cy="292608"/>
          </a:xfrm>
          <a:prstGeom prst="rect">
            <a:avLst/>
          </a:prstGeom>
          <a:solidFill>
            <a:srgbClr val="141B33"/>
          </a:solidFill>
          <a:ln/>
        </p:spPr>
      </p:sp>
      <p:sp>
        <p:nvSpPr>
          <p:cNvPr id="6" name="Shape 4"/>
          <p:cNvSpPr/>
          <p:nvPr/>
        </p:nvSpPr>
        <p:spPr>
          <a:xfrm>
            <a:off x="649224" y="1691640"/>
            <a:ext cx="109728" cy="109728"/>
          </a:xfrm>
          <a:prstGeom prst="ellipse">
            <a:avLst/>
          </a:prstGeom>
          <a:solidFill>
            <a:srgbClr val="FF6B6B"/>
          </a:solidFill>
          <a:ln/>
        </p:spPr>
      </p:sp>
      <p:sp>
        <p:nvSpPr>
          <p:cNvPr id="7" name="Shape 5"/>
          <p:cNvSpPr/>
          <p:nvPr/>
        </p:nvSpPr>
        <p:spPr>
          <a:xfrm>
            <a:off x="822960" y="1691640"/>
            <a:ext cx="109728" cy="109728"/>
          </a:xfrm>
          <a:prstGeom prst="ellipse">
            <a:avLst/>
          </a:prstGeom>
          <a:solidFill>
            <a:srgbClr val="FFD166"/>
          </a:solidFill>
          <a:ln/>
        </p:spPr>
      </p:sp>
      <p:sp>
        <p:nvSpPr>
          <p:cNvPr id="8" name="Shape 6"/>
          <p:cNvSpPr/>
          <p:nvPr/>
        </p:nvSpPr>
        <p:spPr>
          <a:xfrm>
            <a:off x="996696" y="1691640"/>
            <a:ext cx="109728" cy="109728"/>
          </a:xfrm>
          <a:prstGeom prst="ellipse">
            <a:avLst/>
          </a:prstGeom>
          <a:solidFill>
            <a:srgbClr val="2FD8A2"/>
          </a:solidFill>
          <a:ln/>
        </p:spPr>
      </p:sp>
      <p:sp>
        <p:nvSpPr>
          <p:cNvPr id="9" name="Text 7"/>
          <p:cNvSpPr/>
          <p:nvPr/>
        </p:nvSpPr>
        <p:spPr>
          <a:xfrm>
            <a:off x="502920" y="160020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syntax</a:t>
            </a:r>
            <a:endParaRPr lang="en-US" sz="1000" dirty="0"/>
          </a:p>
        </p:txBody>
      </p:sp>
      <p:sp>
        <p:nvSpPr>
          <p:cNvPr id="10" name="Text 8"/>
          <p:cNvSpPr/>
          <p:nvPr/>
        </p:nvSpPr>
        <p:spPr>
          <a:xfrm>
            <a:off x="722376" y="2011680"/>
            <a:ext cx="5321808" cy="3264408"/>
          </a:xfrm>
          <a:prstGeom prst="rect">
            <a:avLst/>
          </a:prstGeom>
          <a:noFill/>
          <a:ln/>
        </p:spPr>
        <p:txBody>
          <a:bodyPr wrap="square" lIns="0" tIns="0" rIns="0" bIns="0" rtlCol="0" anchor="t"/>
          <a:lstStyle/>
          <a:p>
            <a:pPr algn="l" indent="0" marL="0">
              <a:lnSpc>
                <a:spcPct val="122000"/>
              </a:lnSpc>
              <a:buNone/>
            </a:pPr>
            <a:r>
              <a:rPr lang="en-US" sz="1350" b="1" dirty="0">
                <a:solidFill>
                  <a:srgbClr val="7FB2FF"/>
                </a:solidFill>
                <a:latin typeface="Courier New" pitchFamily="34" charset="0"/>
                <a:ea typeface="Courier New" pitchFamily="34" charset="-122"/>
                <a:cs typeface="Courier New" pitchFamily="34" charset="-120"/>
              </a:rPr>
              <a:t>switch</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choice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b="1" dirty="0">
                <a:solidFill>
                  <a:srgbClr val="7FB2FF"/>
                </a:solidFill>
                <a:latin typeface="Courier New" pitchFamily="34" charset="0"/>
                <a:ea typeface="Courier New" pitchFamily="34" charset="-122"/>
                <a:cs typeface="Courier New" pitchFamily="34" charset="-120"/>
              </a:rPr>
              <a:t>case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3B778"/>
                </a:solidFill>
                <a:latin typeface="Courier New" pitchFamily="34" charset="0"/>
                <a:ea typeface="Courier New" pitchFamily="34" charset="-122"/>
                <a:cs typeface="Courier New" pitchFamily="34" charset="-120"/>
              </a:rPr>
              <a:t>"Option 1"</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b="1" dirty="0">
                <a:solidFill>
                  <a:srgbClr val="7FB2FF"/>
                </a:solidFill>
                <a:latin typeface="Courier New" pitchFamily="34" charset="0"/>
                <a:ea typeface="Courier New" pitchFamily="34" charset="-122"/>
                <a:cs typeface="Courier New" pitchFamily="34" charset="-120"/>
              </a:rPr>
              <a:t>break</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b="1" dirty="0">
                <a:solidFill>
                  <a:srgbClr val="7FB2FF"/>
                </a:solidFill>
                <a:latin typeface="Courier New" pitchFamily="34" charset="0"/>
                <a:ea typeface="Courier New" pitchFamily="34" charset="-122"/>
                <a:cs typeface="Courier New" pitchFamily="34" charset="-120"/>
              </a:rPr>
              <a:t>case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3B778"/>
                </a:solidFill>
                <a:latin typeface="Courier New" pitchFamily="34" charset="0"/>
                <a:ea typeface="Courier New" pitchFamily="34" charset="-122"/>
                <a:cs typeface="Courier New" pitchFamily="34" charset="-120"/>
              </a:rPr>
              <a:t>"Option 2"</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b="1" dirty="0">
                <a:solidFill>
                  <a:srgbClr val="7FB2FF"/>
                </a:solidFill>
                <a:latin typeface="Courier New" pitchFamily="34" charset="0"/>
                <a:ea typeface="Courier New" pitchFamily="34" charset="-122"/>
                <a:cs typeface="Courier New" pitchFamily="34" charset="-120"/>
              </a:rPr>
              <a:t>break</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b="1" dirty="0">
                <a:solidFill>
                  <a:srgbClr val="7FB2FF"/>
                </a:solidFill>
                <a:latin typeface="Courier New" pitchFamily="34" charset="0"/>
                <a:ea typeface="Courier New" pitchFamily="34" charset="-122"/>
                <a:cs typeface="Courier New" pitchFamily="34" charset="-120"/>
              </a:rPr>
              <a:t>default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3B778"/>
                </a:solidFill>
                <a:latin typeface="Courier New" pitchFamily="34" charset="0"/>
                <a:ea typeface="Courier New" pitchFamily="34" charset="-122"/>
                <a:cs typeface="Courier New" pitchFamily="34" charset="-120"/>
              </a:rPr>
              <a:t>"Invalid option"</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p:txBody>
      </p:sp>
      <p:sp>
        <p:nvSpPr>
          <p:cNvPr id="11" name="Shape 9"/>
          <p:cNvSpPr/>
          <p:nvPr/>
        </p:nvSpPr>
        <p:spPr>
          <a:xfrm>
            <a:off x="6903720" y="1600200"/>
            <a:ext cx="4800600" cy="2788920"/>
          </a:xfrm>
          <a:prstGeom prst="roundRect">
            <a:avLst>
              <a:gd name="adj" fmla="val 2951"/>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2" name="Shape 10"/>
          <p:cNvSpPr/>
          <p:nvPr/>
        </p:nvSpPr>
        <p:spPr>
          <a:xfrm>
            <a:off x="6903720" y="1600200"/>
            <a:ext cx="4800600" cy="292608"/>
          </a:xfrm>
          <a:prstGeom prst="rect">
            <a:avLst/>
          </a:prstGeom>
          <a:solidFill>
            <a:srgbClr val="141B33"/>
          </a:solidFill>
          <a:ln/>
        </p:spPr>
      </p:sp>
      <p:sp>
        <p:nvSpPr>
          <p:cNvPr id="13" name="Shape 11"/>
          <p:cNvSpPr/>
          <p:nvPr/>
        </p:nvSpPr>
        <p:spPr>
          <a:xfrm>
            <a:off x="7050024" y="1691640"/>
            <a:ext cx="109728" cy="109728"/>
          </a:xfrm>
          <a:prstGeom prst="ellipse">
            <a:avLst/>
          </a:prstGeom>
          <a:solidFill>
            <a:srgbClr val="FF6B6B"/>
          </a:solidFill>
          <a:ln/>
        </p:spPr>
      </p:sp>
      <p:sp>
        <p:nvSpPr>
          <p:cNvPr id="14" name="Shape 12"/>
          <p:cNvSpPr/>
          <p:nvPr/>
        </p:nvSpPr>
        <p:spPr>
          <a:xfrm>
            <a:off x="7223760" y="1691640"/>
            <a:ext cx="109728" cy="109728"/>
          </a:xfrm>
          <a:prstGeom prst="ellipse">
            <a:avLst/>
          </a:prstGeom>
          <a:solidFill>
            <a:srgbClr val="FFD166"/>
          </a:solidFill>
          <a:ln/>
        </p:spPr>
      </p:sp>
      <p:sp>
        <p:nvSpPr>
          <p:cNvPr id="15" name="Shape 13"/>
          <p:cNvSpPr/>
          <p:nvPr/>
        </p:nvSpPr>
        <p:spPr>
          <a:xfrm>
            <a:off x="7397496" y="1691640"/>
            <a:ext cx="109728" cy="109728"/>
          </a:xfrm>
          <a:prstGeom prst="ellipse">
            <a:avLst/>
          </a:prstGeom>
          <a:solidFill>
            <a:srgbClr val="2FD8A2"/>
          </a:solidFill>
          <a:ln/>
        </p:spPr>
      </p:sp>
      <p:sp>
        <p:nvSpPr>
          <p:cNvPr id="16" name="Text 14"/>
          <p:cNvSpPr/>
          <p:nvPr/>
        </p:nvSpPr>
        <p:spPr>
          <a:xfrm>
            <a:off x="6903720" y="160020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mini calculator</a:t>
            </a:r>
            <a:endParaRPr lang="en-US" sz="1000" dirty="0"/>
          </a:p>
        </p:txBody>
      </p:sp>
      <p:sp>
        <p:nvSpPr>
          <p:cNvPr id="17" name="Text 15"/>
          <p:cNvSpPr/>
          <p:nvPr/>
        </p:nvSpPr>
        <p:spPr>
          <a:xfrm>
            <a:off x="7123176" y="2011680"/>
            <a:ext cx="4361688" cy="2258568"/>
          </a:xfrm>
          <a:prstGeom prst="rect">
            <a:avLst/>
          </a:prstGeom>
          <a:noFill/>
          <a:ln/>
        </p:spPr>
        <p:txBody>
          <a:bodyPr wrap="square" lIns="0" tIns="0" rIns="0" bIns="0" rtlCol="0" anchor="t"/>
          <a:lstStyle/>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op</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&gt;&gt;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op</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switch</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op</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case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break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case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break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case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3</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break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default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3B778"/>
                </a:solidFill>
                <a:latin typeface="Courier New" pitchFamily="34" charset="0"/>
                <a:ea typeface="Courier New" pitchFamily="34" charset="-122"/>
                <a:cs typeface="Courier New" pitchFamily="34" charset="-120"/>
              </a:rPr>
              <a:t>"Invalid"</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p:txBody>
      </p:sp>
      <p:sp>
        <p:nvSpPr>
          <p:cNvPr id="18" name="Shape 16"/>
          <p:cNvSpPr/>
          <p:nvPr/>
        </p:nvSpPr>
        <p:spPr>
          <a:xfrm>
            <a:off x="6903720" y="4617720"/>
            <a:ext cx="146304" cy="146304"/>
          </a:xfrm>
          <a:prstGeom prst="ellipse">
            <a:avLst/>
          </a:prstGeom>
          <a:solidFill>
            <a:srgbClr val="2FD8A2"/>
          </a:solidFill>
          <a:ln/>
        </p:spPr>
      </p:sp>
      <p:sp>
        <p:nvSpPr>
          <p:cNvPr id="19" name="Text 17"/>
          <p:cNvSpPr/>
          <p:nvPr/>
        </p:nvSpPr>
        <p:spPr>
          <a:xfrm>
            <a:off x="7196328" y="4517136"/>
            <a:ext cx="450799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break stops fall-through</a:t>
            </a:r>
            <a:endParaRPr lang="en-US" sz="1250" dirty="0"/>
          </a:p>
        </p:txBody>
      </p:sp>
      <p:sp>
        <p:nvSpPr>
          <p:cNvPr id="20" name="Text 18"/>
          <p:cNvSpPr/>
          <p:nvPr/>
        </p:nvSpPr>
        <p:spPr>
          <a:xfrm>
            <a:off x="7196328" y="4773168"/>
            <a:ext cx="450799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Omit it and execution continues into the next case — usually a bug, occasionally intentional.</a:t>
            </a:r>
            <a:endParaRPr lang="en-US" sz="1050" dirty="0"/>
          </a:p>
        </p:txBody>
      </p:sp>
      <p:sp>
        <p:nvSpPr>
          <p:cNvPr id="21" name="Shape 19"/>
          <p:cNvSpPr/>
          <p:nvPr/>
        </p:nvSpPr>
        <p:spPr>
          <a:xfrm>
            <a:off x="6903720" y="5184648"/>
            <a:ext cx="146304" cy="146304"/>
          </a:xfrm>
          <a:prstGeom prst="ellipse">
            <a:avLst/>
          </a:prstGeom>
          <a:solidFill>
            <a:srgbClr val="2FD8A2"/>
          </a:solidFill>
          <a:ln/>
        </p:spPr>
      </p:sp>
      <p:sp>
        <p:nvSpPr>
          <p:cNvPr id="22" name="Text 20"/>
          <p:cNvSpPr/>
          <p:nvPr/>
        </p:nvSpPr>
        <p:spPr>
          <a:xfrm>
            <a:off x="7196328" y="5084064"/>
            <a:ext cx="450799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switch vs if-else</a:t>
            </a:r>
            <a:endParaRPr lang="en-US" sz="1250" dirty="0"/>
          </a:p>
        </p:txBody>
      </p:sp>
      <p:sp>
        <p:nvSpPr>
          <p:cNvPr id="23" name="Text 21"/>
          <p:cNvSpPr/>
          <p:nvPr/>
        </p:nvSpPr>
        <p:spPr>
          <a:xfrm>
            <a:off x="7196328" y="5340096"/>
            <a:ext cx="450799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switch shines when comparing one variable to many exact constants; if-else handles ranges and complex conditions better.</a:t>
            </a:r>
            <a:endParaRPr lang="en-US" sz="1050" dirty="0"/>
          </a:p>
        </p:txBody>
      </p:sp>
      <p:sp>
        <p:nvSpPr>
          <p:cNvPr id="25" name="Text 2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6" name="Text 2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While &amp; Do-While Loops</a:t>
            </a:r>
            <a:endParaRPr lang="en-US" sz="2800" dirty="0"/>
          </a:p>
        </p:txBody>
      </p:sp>
      <p:sp>
        <p:nvSpPr>
          <p:cNvPr id="4" name="Shape 2"/>
          <p:cNvSpPr/>
          <p:nvPr/>
        </p:nvSpPr>
        <p:spPr>
          <a:xfrm>
            <a:off x="502920" y="1691640"/>
            <a:ext cx="5760720" cy="2103120"/>
          </a:xfrm>
          <a:prstGeom prst="roundRect">
            <a:avLst>
              <a:gd name="adj" fmla="val 391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91640"/>
            <a:ext cx="5760720" cy="292608"/>
          </a:xfrm>
          <a:prstGeom prst="rect">
            <a:avLst/>
          </a:prstGeom>
          <a:solidFill>
            <a:srgbClr val="141B33"/>
          </a:solidFill>
          <a:ln/>
        </p:spPr>
      </p:sp>
      <p:sp>
        <p:nvSpPr>
          <p:cNvPr id="6" name="Shape 4"/>
          <p:cNvSpPr/>
          <p:nvPr/>
        </p:nvSpPr>
        <p:spPr>
          <a:xfrm>
            <a:off x="649224" y="1783080"/>
            <a:ext cx="109728" cy="109728"/>
          </a:xfrm>
          <a:prstGeom prst="ellipse">
            <a:avLst/>
          </a:prstGeom>
          <a:solidFill>
            <a:srgbClr val="FF6B6B"/>
          </a:solidFill>
          <a:ln/>
        </p:spPr>
      </p:sp>
      <p:sp>
        <p:nvSpPr>
          <p:cNvPr id="7" name="Shape 5"/>
          <p:cNvSpPr/>
          <p:nvPr/>
        </p:nvSpPr>
        <p:spPr>
          <a:xfrm>
            <a:off x="822960" y="1783080"/>
            <a:ext cx="109728" cy="109728"/>
          </a:xfrm>
          <a:prstGeom prst="ellipse">
            <a:avLst/>
          </a:prstGeom>
          <a:solidFill>
            <a:srgbClr val="FFD166"/>
          </a:solidFill>
          <a:ln/>
        </p:spPr>
      </p:sp>
      <p:sp>
        <p:nvSpPr>
          <p:cNvPr id="8" name="Shape 6"/>
          <p:cNvSpPr/>
          <p:nvPr/>
        </p:nvSpPr>
        <p:spPr>
          <a:xfrm>
            <a:off x="996696" y="1783080"/>
            <a:ext cx="109728" cy="109728"/>
          </a:xfrm>
          <a:prstGeom prst="ellipse">
            <a:avLst/>
          </a:prstGeom>
          <a:solidFill>
            <a:srgbClr val="2FD8A2"/>
          </a:solidFill>
          <a:ln/>
        </p:spPr>
      </p:sp>
      <p:sp>
        <p:nvSpPr>
          <p:cNvPr id="9" name="Text 7"/>
          <p:cNvSpPr/>
          <p:nvPr/>
        </p:nvSpPr>
        <p:spPr>
          <a:xfrm>
            <a:off x="502920" y="1691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while</a:t>
            </a:r>
            <a:endParaRPr lang="en-US" sz="1000" dirty="0"/>
          </a:p>
        </p:txBody>
      </p:sp>
      <p:sp>
        <p:nvSpPr>
          <p:cNvPr id="10" name="Text 8"/>
          <p:cNvSpPr/>
          <p:nvPr/>
        </p:nvSpPr>
        <p:spPr>
          <a:xfrm>
            <a:off x="722376" y="2103120"/>
            <a:ext cx="5321808" cy="157276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while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Output: 1 2 3 4 5</a:t>
            </a:r>
            <a:endParaRPr lang="en-US" sz="1300" dirty="0"/>
          </a:p>
        </p:txBody>
      </p:sp>
      <p:sp>
        <p:nvSpPr>
          <p:cNvPr id="11" name="Shape 9"/>
          <p:cNvSpPr/>
          <p:nvPr/>
        </p:nvSpPr>
        <p:spPr>
          <a:xfrm>
            <a:off x="502920" y="4023360"/>
            <a:ext cx="5760720" cy="2103120"/>
          </a:xfrm>
          <a:prstGeom prst="roundRect">
            <a:avLst>
              <a:gd name="adj" fmla="val 391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2" name="Shape 10"/>
          <p:cNvSpPr/>
          <p:nvPr/>
        </p:nvSpPr>
        <p:spPr>
          <a:xfrm>
            <a:off x="502920" y="4023360"/>
            <a:ext cx="5760720" cy="292608"/>
          </a:xfrm>
          <a:prstGeom prst="rect">
            <a:avLst/>
          </a:prstGeom>
          <a:solidFill>
            <a:srgbClr val="141B33"/>
          </a:solidFill>
          <a:ln/>
        </p:spPr>
      </p:sp>
      <p:sp>
        <p:nvSpPr>
          <p:cNvPr id="13" name="Shape 11"/>
          <p:cNvSpPr/>
          <p:nvPr/>
        </p:nvSpPr>
        <p:spPr>
          <a:xfrm>
            <a:off x="649224" y="4114800"/>
            <a:ext cx="109728" cy="109728"/>
          </a:xfrm>
          <a:prstGeom prst="ellipse">
            <a:avLst/>
          </a:prstGeom>
          <a:solidFill>
            <a:srgbClr val="FF6B6B"/>
          </a:solidFill>
          <a:ln/>
        </p:spPr>
      </p:sp>
      <p:sp>
        <p:nvSpPr>
          <p:cNvPr id="14" name="Shape 12"/>
          <p:cNvSpPr/>
          <p:nvPr/>
        </p:nvSpPr>
        <p:spPr>
          <a:xfrm>
            <a:off x="822960" y="4114800"/>
            <a:ext cx="109728" cy="109728"/>
          </a:xfrm>
          <a:prstGeom prst="ellipse">
            <a:avLst/>
          </a:prstGeom>
          <a:solidFill>
            <a:srgbClr val="FFD166"/>
          </a:solidFill>
          <a:ln/>
        </p:spPr>
      </p:sp>
      <p:sp>
        <p:nvSpPr>
          <p:cNvPr id="15" name="Shape 13"/>
          <p:cNvSpPr/>
          <p:nvPr/>
        </p:nvSpPr>
        <p:spPr>
          <a:xfrm>
            <a:off x="996696" y="4114800"/>
            <a:ext cx="109728" cy="109728"/>
          </a:xfrm>
          <a:prstGeom prst="ellipse">
            <a:avLst/>
          </a:prstGeom>
          <a:solidFill>
            <a:srgbClr val="2FD8A2"/>
          </a:solidFill>
          <a:ln/>
        </p:spPr>
      </p:sp>
      <p:sp>
        <p:nvSpPr>
          <p:cNvPr id="16" name="Text 14"/>
          <p:cNvSpPr/>
          <p:nvPr/>
        </p:nvSpPr>
        <p:spPr>
          <a:xfrm>
            <a:off x="502920" y="402336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do-while</a:t>
            </a:r>
            <a:endParaRPr lang="en-US" sz="1000" dirty="0"/>
          </a:p>
        </p:txBody>
      </p:sp>
      <p:sp>
        <p:nvSpPr>
          <p:cNvPr id="17" name="Text 15"/>
          <p:cNvSpPr/>
          <p:nvPr/>
        </p:nvSpPr>
        <p:spPr>
          <a:xfrm>
            <a:off x="722376" y="4434840"/>
            <a:ext cx="5321808" cy="157276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do</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while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18" name="Shape 16"/>
          <p:cNvSpPr/>
          <p:nvPr/>
        </p:nvSpPr>
        <p:spPr>
          <a:xfrm>
            <a:off x="6903720" y="1691640"/>
            <a:ext cx="4800600" cy="1554480"/>
          </a:xfrm>
          <a:prstGeom prst="roundRect">
            <a:avLst>
              <a:gd name="adj" fmla="val 4706"/>
            </a:avLst>
          </a:prstGeom>
          <a:solidFill>
            <a:srgbClr val="EAFBF4"/>
          </a:solidFill>
          <a:ln w="12700">
            <a:solidFill>
              <a:srgbClr val="16A67C"/>
            </a:solidFill>
            <a:prstDash val="solid"/>
          </a:ln>
        </p:spPr>
      </p:sp>
      <p:sp>
        <p:nvSpPr>
          <p:cNvPr id="19" name="Text 17"/>
          <p:cNvSpPr/>
          <p:nvPr/>
        </p:nvSpPr>
        <p:spPr>
          <a:xfrm>
            <a:off x="7086600" y="177393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while checks first</a:t>
            </a:r>
            <a:endParaRPr lang="en-US" sz="1050" dirty="0"/>
          </a:p>
        </p:txBody>
      </p:sp>
      <p:sp>
        <p:nvSpPr>
          <p:cNvPr id="20" name="Text 18"/>
          <p:cNvSpPr/>
          <p:nvPr/>
        </p:nvSpPr>
        <p:spPr>
          <a:xfrm>
            <a:off x="7086600" y="2039112"/>
            <a:ext cx="4434840" cy="111556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If the condition starts false, the body never runs — zero iterations is possible.</a:t>
            </a:r>
            <a:endParaRPr lang="en-US" sz="1100" dirty="0"/>
          </a:p>
        </p:txBody>
      </p:sp>
      <p:sp>
        <p:nvSpPr>
          <p:cNvPr id="21" name="Shape 19"/>
          <p:cNvSpPr/>
          <p:nvPr/>
        </p:nvSpPr>
        <p:spPr>
          <a:xfrm>
            <a:off x="6903720" y="3429000"/>
            <a:ext cx="4800600" cy="1737360"/>
          </a:xfrm>
          <a:prstGeom prst="roundRect">
            <a:avLst>
              <a:gd name="adj" fmla="val 4211"/>
            </a:avLst>
          </a:prstGeom>
          <a:solidFill>
            <a:srgbClr val="FFF6E4"/>
          </a:solidFill>
          <a:ln w="12700">
            <a:solidFill>
              <a:srgbClr val="E08A00"/>
            </a:solidFill>
            <a:prstDash val="solid"/>
          </a:ln>
        </p:spPr>
      </p:sp>
      <p:sp>
        <p:nvSpPr>
          <p:cNvPr id="22" name="Text 20"/>
          <p:cNvSpPr/>
          <p:nvPr/>
        </p:nvSpPr>
        <p:spPr>
          <a:xfrm>
            <a:off x="7086600" y="351129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do-while runs first</a:t>
            </a:r>
            <a:endParaRPr lang="en-US" sz="1050" dirty="0"/>
          </a:p>
        </p:txBody>
      </p:sp>
      <p:sp>
        <p:nvSpPr>
          <p:cNvPr id="23" name="Text 21"/>
          <p:cNvSpPr/>
          <p:nvPr/>
        </p:nvSpPr>
        <p:spPr>
          <a:xfrm>
            <a:off x="7086600" y="3776472"/>
            <a:ext cx="4434840" cy="12984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The body always executes at least once, then the condition is checked. Useful for menus that must show once before asking to repeat.</a:t>
            </a:r>
            <a:endParaRPr lang="en-US" sz="1100" dirty="0"/>
          </a:p>
        </p:txBody>
      </p:sp>
      <p:sp>
        <p:nvSpPr>
          <p:cNvPr id="25" name="Text 2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6" name="Text 2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The For Loop</a:t>
            </a:r>
            <a:endParaRPr lang="en-US" sz="2800" dirty="0"/>
          </a:p>
        </p:txBody>
      </p:sp>
      <p:sp>
        <p:nvSpPr>
          <p:cNvPr id="4" name="Shape 2"/>
          <p:cNvSpPr/>
          <p:nvPr/>
        </p:nvSpPr>
        <p:spPr>
          <a:xfrm>
            <a:off x="502920" y="1691640"/>
            <a:ext cx="5760720" cy="1920240"/>
          </a:xfrm>
          <a:prstGeom prst="roundRect">
            <a:avLst>
              <a:gd name="adj" fmla="val 42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91640"/>
            <a:ext cx="5760720" cy="292608"/>
          </a:xfrm>
          <a:prstGeom prst="rect">
            <a:avLst/>
          </a:prstGeom>
          <a:solidFill>
            <a:srgbClr val="141B33"/>
          </a:solidFill>
          <a:ln/>
        </p:spPr>
      </p:sp>
      <p:sp>
        <p:nvSpPr>
          <p:cNvPr id="6" name="Shape 4"/>
          <p:cNvSpPr/>
          <p:nvPr/>
        </p:nvSpPr>
        <p:spPr>
          <a:xfrm>
            <a:off x="649224" y="1783080"/>
            <a:ext cx="109728" cy="109728"/>
          </a:xfrm>
          <a:prstGeom prst="ellipse">
            <a:avLst/>
          </a:prstGeom>
          <a:solidFill>
            <a:srgbClr val="FF6B6B"/>
          </a:solidFill>
          <a:ln/>
        </p:spPr>
      </p:sp>
      <p:sp>
        <p:nvSpPr>
          <p:cNvPr id="7" name="Shape 5"/>
          <p:cNvSpPr/>
          <p:nvPr/>
        </p:nvSpPr>
        <p:spPr>
          <a:xfrm>
            <a:off x="822960" y="1783080"/>
            <a:ext cx="109728" cy="109728"/>
          </a:xfrm>
          <a:prstGeom prst="ellipse">
            <a:avLst/>
          </a:prstGeom>
          <a:solidFill>
            <a:srgbClr val="FFD166"/>
          </a:solidFill>
          <a:ln/>
        </p:spPr>
      </p:sp>
      <p:sp>
        <p:nvSpPr>
          <p:cNvPr id="8" name="Shape 6"/>
          <p:cNvSpPr/>
          <p:nvPr/>
        </p:nvSpPr>
        <p:spPr>
          <a:xfrm>
            <a:off x="996696" y="1783080"/>
            <a:ext cx="109728" cy="109728"/>
          </a:xfrm>
          <a:prstGeom prst="ellipse">
            <a:avLst/>
          </a:prstGeom>
          <a:solidFill>
            <a:srgbClr val="2FD8A2"/>
          </a:solidFill>
          <a:ln/>
        </p:spPr>
      </p:sp>
      <p:sp>
        <p:nvSpPr>
          <p:cNvPr id="9" name="Text 7"/>
          <p:cNvSpPr/>
          <p:nvPr/>
        </p:nvSpPr>
        <p:spPr>
          <a:xfrm>
            <a:off x="502920" y="1691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for</a:t>
            </a:r>
            <a:endParaRPr lang="en-US" sz="1000" dirty="0"/>
          </a:p>
        </p:txBody>
      </p:sp>
      <p:sp>
        <p:nvSpPr>
          <p:cNvPr id="10" name="Text 8"/>
          <p:cNvSpPr/>
          <p:nvPr/>
        </p:nvSpPr>
        <p:spPr>
          <a:xfrm>
            <a:off x="722376" y="2103120"/>
            <a:ext cx="5321808" cy="1389888"/>
          </a:xfrm>
          <a:prstGeom prst="rect">
            <a:avLst/>
          </a:prstGeom>
          <a:noFill/>
          <a:ln/>
        </p:spPr>
        <p:txBody>
          <a:bodyPr wrap="square" lIns="0" tIns="0" rIns="0" bIns="0" rtlCol="0" anchor="t"/>
          <a:lstStyle/>
          <a:p>
            <a:pPr algn="l" indent="0" marL="0">
              <a:lnSpc>
                <a:spcPct val="122000"/>
              </a:lnSpc>
              <a:buNone/>
            </a:pPr>
            <a:r>
              <a:rPr lang="en-US" sz="15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5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endParaRPr lang="en-US" sz="1500" dirty="0"/>
          </a:p>
          <a:p>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500" dirty="0">
                <a:solidFill>
                  <a:srgbClr val="E3B778"/>
                </a:solidFill>
                <a:latin typeface="Courier New" pitchFamily="34" charset="0"/>
                <a:ea typeface="Courier New" pitchFamily="34" charset="-122"/>
                <a:cs typeface="Courier New" pitchFamily="34" charset="-120"/>
              </a:rPr>
              <a:t>'\n'</a:t>
            </a:r>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endParaRPr lang="en-US" sz="1500" dirty="0"/>
          </a:p>
          <a:p>
            <a:pPr algn="l" indent="0" marL="0">
              <a:lnSpc>
                <a:spcPct val="122000"/>
              </a:lnSpc>
              <a:buNone/>
            </a:pPr>
            <a:r>
              <a:rPr lang="en-US" sz="1500" dirty="0">
                <a:solidFill>
                  <a:srgbClr val="E7ECF5"/>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502920" y="3840480"/>
            <a:ext cx="146304" cy="146304"/>
          </a:xfrm>
          <a:prstGeom prst="ellipse">
            <a:avLst/>
          </a:prstGeom>
          <a:solidFill>
            <a:srgbClr val="2FD8A2"/>
          </a:solidFill>
          <a:ln/>
        </p:spPr>
      </p:sp>
      <p:sp>
        <p:nvSpPr>
          <p:cNvPr id="12" name="Text 10"/>
          <p:cNvSpPr/>
          <p:nvPr/>
        </p:nvSpPr>
        <p:spPr>
          <a:xfrm>
            <a:off x="795528" y="3739896"/>
            <a:ext cx="546811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Initialisation</a:t>
            </a:r>
            <a:endParaRPr lang="en-US" sz="1250" dirty="0"/>
          </a:p>
        </p:txBody>
      </p:sp>
      <p:sp>
        <p:nvSpPr>
          <p:cNvPr id="13" name="Text 11"/>
          <p:cNvSpPr/>
          <p:nvPr/>
        </p:nvSpPr>
        <p:spPr>
          <a:xfrm>
            <a:off x="795528" y="3995928"/>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int i = 0 — runs once, before anything else.</a:t>
            </a:r>
            <a:endParaRPr lang="en-US" sz="1050" dirty="0"/>
          </a:p>
        </p:txBody>
      </p:sp>
      <p:sp>
        <p:nvSpPr>
          <p:cNvPr id="14" name="Shape 12"/>
          <p:cNvSpPr/>
          <p:nvPr/>
        </p:nvSpPr>
        <p:spPr>
          <a:xfrm>
            <a:off x="502920" y="4407408"/>
            <a:ext cx="146304" cy="146304"/>
          </a:xfrm>
          <a:prstGeom prst="ellipse">
            <a:avLst/>
          </a:prstGeom>
          <a:solidFill>
            <a:srgbClr val="2FD8A2"/>
          </a:solidFill>
          <a:ln/>
        </p:spPr>
      </p:sp>
      <p:sp>
        <p:nvSpPr>
          <p:cNvPr id="15" name="Text 13"/>
          <p:cNvSpPr/>
          <p:nvPr/>
        </p:nvSpPr>
        <p:spPr>
          <a:xfrm>
            <a:off x="795528" y="4306824"/>
            <a:ext cx="546811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Condition</a:t>
            </a:r>
            <a:endParaRPr lang="en-US" sz="1250" dirty="0"/>
          </a:p>
        </p:txBody>
      </p:sp>
      <p:sp>
        <p:nvSpPr>
          <p:cNvPr id="16" name="Text 14"/>
          <p:cNvSpPr/>
          <p:nvPr/>
        </p:nvSpPr>
        <p:spPr>
          <a:xfrm>
            <a:off x="795528" y="4562856"/>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i &lt; 5 — checked before every iteration.</a:t>
            </a:r>
            <a:endParaRPr lang="en-US" sz="1050" dirty="0"/>
          </a:p>
        </p:txBody>
      </p:sp>
      <p:sp>
        <p:nvSpPr>
          <p:cNvPr id="17" name="Shape 15"/>
          <p:cNvSpPr/>
          <p:nvPr/>
        </p:nvSpPr>
        <p:spPr>
          <a:xfrm>
            <a:off x="502920" y="4974336"/>
            <a:ext cx="146304" cy="146304"/>
          </a:xfrm>
          <a:prstGeom prst="ellipse">
            <a:avLst/>
          </a:prstGeom>
          <a:solidFill>
            <a:srgbClr val="2FD8A2"/>
          </a:solidFill>
          <a:ln/>
        </p:spPr>
      </p:sp>
      <p:sp>
        <p:nvSpPr>
          <p:cNvPr id="18" name="Text 16"/>
          <p:cNvSpPr/>
          <p:nvPr/>
        </p:nvSpPr>
        <p:spPr>
          <a:xfrm>
            <a:off x="795528" y="4873752"/>
            <a:ext cx="546811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Update</a:t>
            </a:r>
            <a:endParaRPr lang="en-US" sz="1250" dirty="0"/>
          </a:p>
        </p:txBody>
      </p:sp>
      <p:sp>
        <p:nvSpPr>
          <p:cNvPr id="19" name="Text 17"/>
          <p:cNvSpPr/>
          <p:nvPr/>
        </p:nvSpPr>
        <p:spPr>
          <a:xfrm>
            <a:off x="795528" y="5129784"/>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i++ — runs after each loop body.</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903720" y="1691640"/>
          <a:ext cx="4800600" cy="914400"/>
        </p:xfrm>
        <a:graphic>
          <a:graphicData uri="http://schemas.openxmlformats.org/drawingml/2006/table">
            <a:tbl>
              <a:tblPr/>
              <a:tblGrid>
                <a:gridCol w="1051560"/>
                <a:gridCol w="640080"/>
                <a:gridCol w="914400"/>
                <a:gridCol w="1051560"/>
                <a:gridCol w="1143000"/>
              </a:tblGrid>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Iteration</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 &lt; 5?</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Prints</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329184">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i → 1</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i → 2</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29184">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i → 3</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i → 4</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29184">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i → 5</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loop ends</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00" dirty="0">
                          <a:solidFill>
                            <a:srgbClr val="1217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bl>
          </a:graphicData>
        </a:graphic>
      </p:graphicFrame>
      <p:sp>
        <p:nvSpPr>
          <p:cNvPr id="21" name="Text 18"/>
          <p:cNvSpPr/>
          <p:nvPr/>
        </p:nvSpPr>
        <p:spPr>
          <a:xfrm>
            <a:off x="6903720" y="3950208"/>
            <a:ext cx="4800600" cy="457200"/>
          </a:xfrm>
          <a:prstGeom prst="rect">
            <a:avLst/>
          </a:prstGeom>
          <a:noFill/>
          <a:ln/>
        </p:spPr>
        <p:txBody>
          <a:bodyPr wrap="square" rtlCol="0" anchor="t"/>
          <a:lstStyle/>
          <a:p>
            <a:pPr indent="0" marL="0">
              <a:buNone/>
            </a:pPr>
            <a:r>
              <a:rPr lang="en-US" sz="1000" i="1" dirty="0">
                <a:solidFill>
                  <a:srgbClr val="545C7E"/>
                </a:solidFill>
                <a:latin typeface="Calibri" pitchFamily="34" charset="0"/>
                <a:ea typeface="Calibri" pitchFamily="34" charset="-122"/>
                <a:cs typeface="Calibri" pitchFamily="34" charset="-120"/>
              </a:rPr>
              <a:t>Dry-run trace — build the habit of tracing loops on paper before trusting them.</a:t>
            </a:r>
            <a:endParaRPr lang="en-US" sz="1000" dirty="0"/>
          </a:p>
        </p:txBody>
      </p:sp>
      <p:sp>
        <p:nvSpPr>
          <p:cNvPr id="22" name="Shape 19"/>
          <p:cNvSpPr/>
          <p:nvPr/>
        </p:nvSpPr>
        <p:spPr>
          <a:xfrm>
            <a:off x="6903720" y="4572000"/>
            <a:ext cx="4800600" cy="1600200"/>
          </a:xfrm>
          <a:prstGeom prst="roundRect">
            <a:avLst>
              <a:gd name="adj" fmla="val 4571"/>
            </a:avLst>
          </a:prstGeom>
          <a:solidFill>
            <a:srgbClr val="EAFBF4"/>
          </a:solidFill>
          <a:ln w="12700">
            <a:solidFill>
              <a:srgbClr val="16A67C"/>
            </a:solidFill>
            <a:prstDash val="solid"/>
          </a:ln>
        </p:spPr>
      </p:sp>
      <p:sp>
        <p:nvSpPr>
          <p:cNvPr id="23" name="Text 20"/>
          <p:cNvSpPr/>
          <p:nvPr/>
        </p:nvSpPr>
        <p:spPr>
          <a:xfrm>
            <a:off x="7086600" y="465429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Practice set</a:t>
            </a:r>
            <a:endParaRPr lang="en-US" sz="1050" dirty="0"/>
          </a:p>
        </p:txBody>
      </p:sp>
      <p:sp>
        <p:nvSpPr>
          <p:cNvPr id="24" name="Text 21"/>
          <p:cNvSpPr/>
          <p:nvPr/>
        </p:nvSpPr>
        <p:spPr>
          <a:xfrm>
            <a:off x="7086600" y="4919472"/>
            <a:ext cx="4434840" cy="116128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Print 1→N, print N→1, sum 1→N, multiplication table, count digits, reverse a number, palindrome check, factorial. Solve at least two fully before moving on.</a:t>
            </a:r>
            <a:endParaRPr lang="en-US" sz="1100" dirty="0"/>
          </a:p>
        </p:txBody>
      </p:sp>
      <p:sp>
        <p:nvSpPr>
          <p:cNvPr id="26" name="Text 2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7" name="Text 2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Loop Practice — Two Worked Examples</a:t>
            </a:r>
            <a:endParaRPr lang="en-US" sz="2800" dirty="0"/>
          </a:p>
        </p:txBody>
      </p:sp>
      <p:sp>
        <p:nvSpPr>
          <p:cNvPr id="4" name="Shape 2"/>
          <p:cNvSpPr/>
          <p:nvPr/>
        </p:nvSpPr>
        <p:spPr>
          <a:xfrm>
            <a:off x="502920" y="1691640"/>
            <a:ext cx="5760720" cy="2743200"/>
          </a:xfrm>
          <a:prstGeom prst="roundRect">
            <a:avLst>
              <a:gd name="adj" fmla="val 300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91640"/>
            <a:ext cx="5760720" cy="292608"/>
          </a:xfrm>
          <a:prstGeom prst="rect">
            <a:avLst/>
          </a:prstGeom>
          <a:solidFill>
            <a:srgbClr val="141B33"/>
          </a:solidFill>
          <a:ln/>
        </p:spPr>
      </p:sp>
      <p:sp>
        <p:nvSpPr>
          <p:cNvPr id="6" name="Shape 4"/>
          <p:cNvSpPr/>
          <p:nvPr/>
        </p:nvSpPr>
        <p:spPr>
          <a:xfrm>
            <a:off x="649224" y="1783080"/>
            <a:ext cx="109728" cy="109728"/>
          </a:xfrm>
          <a:prstGeom prst="ellipse">
            <a:avLst/>
          </a:prstGeom>
          <a:solidFill>
            <a:srgbClr val="FF6B6B"/>
          </a:solidFill>
          <a:ln/>
        </p:spPr>
      </p:sp>
      <p:sp>
        <p:nvSpPr>
          <p:cNvPr id="7" name="Shape 5"/>
          <p:cNvSpPr/>
          <p:nvPr/>
        </p:nvSpPr>
        <p:spPr>
          <a:xfrm>
            <a:off x="822960" y="1783080"/>
            <a:ext cx="109728" cy="109728"/>
          </a:xfrm>
          <a:prstGeom prst="ellipse">
            <a:avLst/>
          </a:prstGeom>
          <a:solidFill>
            <a:srgbClr val="FFD166"/>
          </a:solidFill>
          <a:ln/>
        </p:spPr>
      </p:sp>
      <p:sp>
        <p:nvSpPr>
          <p:cNvPr id="8" name="Shape 6"/>
          <p:cNvSpPr/>
          <p:nvPr/>
        </p:nvSpPr>
        <p:spPr>
          <a:xfrm>
            <a:off x="996696" y="1783080"/>
            <a:ext cx="109728" cy="109728"/>
          </a:xfrm>
          <a:prstGeom prst="ellipse">
            <a:avLst/>
          </a:prstGeom>
          <a:solidFill>
            <a:srgbClr val="2FD8A2"/>
          </a:solidFill>
          <a:ln/>
        </p:spPr>
      </p:sp>
      <p:sp>
        <p:nvSpPr>
          <p:cNvPr id="9" name="Text 7"/>
          <p:cNvSpPr/>
          <p:nvPr/>
        </p:nvSpPr>
        <p:spPr>
          <a:xfrm>
            <a:off x="502920" y="1691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reverse a number</a:t>
            </a:r>
            <a:endParaRPr lang="en-US" sz="1000" dirty="0"/>
          </a:p>
        </p:txBody>
      </p:sp>
      <p:sp>
        <p:nvSpPr>
          <p:cNvPr id="10" name="Text 8"/>
          <p:cNvSpPr/>
          <p:nvPr/>
        </p:nvSpPr>
        <p:spPr>
          <a:xfrm>
            <a:off x="722376" y="2103120"/>
            <a:ext cx="5321808" cy="221284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253</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reversed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while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digit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peel last digit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reversed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reversed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digit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reversed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352</a:t>
            </a:r>
            <a:endParaRPr lang="en-US" sz="1250" dirty="0"/>
          </a:p>
        </p:txBody>
      </p:sp>
      <p:sp>
        <p:nvSpPr>
          <p:cNvPr id="11" name="Shape 9"/>
          <p:cNvSpPr/>
          <p:nvPr/>
        </p:nvSpPr>
        <p:spPr>
          <a:xfrm>
            <a:off x="502920" y="4572000"/>
            <a:ext cx="5760720" cy="1691640"/>
          </a:xfrm>
          <a:prstGeom prst="roundRect">
            <a:avLst>
              <a:gd name="adj" fmla="val 4324"/>
            </a:avLst>
          </a:prstGeom>
          <a:solidFill>
            <a:srgbClr val="EAFBF4"/>
          </a:solidFill>
          <a:ln w="12700">
            <a:solidFill>
              <a:srgbClr val="16A67C"/>
            </a:solidFill>
            <a:prstDash val="solid"/>
          </a:ln>
        </p:spPr>
      </p:sp>
      <p:sp>
        <p:nvSpPr>
          <p:cNvPr id="12" name="Text 10"/>
          <p:cNvSpPr/>
          <p:nvPr/>
        </p:nvSpPr>
        <p:spPr>
          <a:xfrm>
            <a:off x="685800" y="4654296"/>
            <a:ext cx="539496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How it works</a:t>
            </a:r>
            <a:endParaRPr lang="en-US" sz="1050" dirty="0"/>
          </a:p>
        </p:txBody>
      </p:sp>
      <p:sp>
        <p:nvSpPr>
          <p:cNvPr id="13" name="Text 11"/>
          <p:cNvSpPr/>
          <p:nvPr/>
        </p:nvSpPr>
        <p:spPr>
          <a:xfrm>
            <a:off x="685800" y="4919472"/>
            <a:ext cx="5394960" cy="12527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n % 10 grabs the last digit. Multiplying reversed by 10 shifts existing digits left before adding the new one. n /= 10 drops the digit we just used.</a:t>
            </a:r>
            <a:endParaRPr lang="en-US" sz="1100" dirty="0"/>
          </a:p>
        </p:txBody>
      </p:sp>
      <p:sp>
        <p:nvSpPr>
          <p:cNvPr id="14" name="Shape 12"/>
          <p:cNvSpPr/>
          <p:nvPr/>
        </p:nvSpPr>
        <p:spPr>
          <a:xfrm>
            <a:off x="6903720" y="1691640"/>
            <a:ext cx="4800600" cy="2423160"/>
          </a:xfrm>
          <a:prstGeom prst="roundRect">
            <a:avLst>
              <a:gd name="adj" fmla="val 339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5" name="Shape 13"/>
          <p:cNvSpPr/>
          <p:nvPr/>
        </p:nvSpPr>
        <p:spPr>
          <a:xfrm>
            <a:off x="6903720" y="1691640"/>
            <a:ext cx="4800600" cy="292608"/>
          </a:xfrm>
          <a:prstGeom prst="rect">
            <a:avLst/>
          </a:prstGeom>
          <a:solidFill>
            <a:srgbClr val="141B33"/>
          </a:solidFill>
          <a:ln/>
        </p:spPr>
      </p:sp>
      <p:sp>
        <p:nvSpPr>
          <p:cNvPr id="16" name="Shape 14"/>
          <p:cNvSpPr/>
          <p:nvPr/>
        </p:nvSpPr>
        <p:spPr>
          <a:xfrm>
            <a:off x="7050024" y="1783080"/>
            <a:ext cx="109728" cy="109728"/>
          </a:xfrm>
          <a:prstGeom prst="ellipse">
            <a:avLst/>
          </a:prstGeom>
          <a:solidFill>
            <a:srgbClr val="FF6B6B"/>
          </a:solidFill>
          <a:ln/>
        </p:spPr>
      </p:sp>
      <p:sp>
        <p:nvSpPr>
          <p:cNvPr id="17" name="Shape 15"/>
          <p:cNvSpPr/>
          <p:nvPr/>
        </p:nvSpPr>
        <p:spPr>
          <a:xfrm>
            <a:off x="7223760" y="1783080"/>
            <a:ext cx="109728" cy="109728"/>
          </a:xfrm>
          <a:prstGeom prst="ellipse">
            <a:avLst/>
          </a:prstGeom>
          <a:solidFill>
            <a:srgbClr val="FFD166"/>
          </a:solidFill>
          <a:ln/>
        </p:spPr>
      </p:sp>
      <p:sp>
        <p:nvSpPr>
          <p:cNvPr id="18" name="Shape 16"/>
          <p:cNvSpPr/>
          <p:nvPr/>
        </p:nvSpPr>
        <p:spPr>
          <a:xfrm>
            <a:off x="7397496" y="1783080"/>
            <a:ext cx="109728" cy="109728"/>
          </a:xfrm>
          <a:prstGeom prst="ellipse">
            <a:avLst/>
          </a:prstGeom>
          <a:solidFill>
            <a:srgbClr val="2FD8A2"/>
          </a:solidFill>
          <a:ln/>
        </p:spPr>
      </p:sp>
      <p:sp>
        <p:nvSpPr>
          <p:cNvPr id="19" name="Text 17"/>
          <p:cNvSpPr/>
          <p:nvPr/>
        </p:nvSpPr>
        <p:spPr>
          <a:xfrm>
            <a:off x="6903720" y="1691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palindrome check</a:t>
            </a:r>
            <a:endParaRPr lang="en-US" sz="1000" dirty="0"/>
          </a:p>
        </p:txBody>
      </p:sp>
      <p:sp>
        <p:nvSpPr>
          <p:cNvPr id="20" name="Text 18"/>
          <p:cNvSpPr/>
          <p:nvPr/>
        </p:nvSpPr>
        <p:spPr>
          <a:xfrm>
            <a:off x="7123176" y="2103120"/>
            <a:ext cx="4361688" cy="1892808"/>
          </a:xfrm>
          <a:prstGeom prst="rect">
            <a:avLst/>
          </a:prstGeom>
          <a:noFill/>
          <a:ln/>
        </p:spPr>
        <p:txBody>
          <a:bodyPr wrap="square" lIns="0" tIns="0" rIns="0" bIns="0" rtlCol="0" anchor="t"/>
          <a:lstStyle/>
          <a:p>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C9A6FF"/>
                </a:solidFill>
                <a:latin typeface="Courier New" pitchFamily="34" charset="0"/>
                <a:ea typeface="Courier New" pitchFamily="34" charset="-122"/>
                <a:cs typeface="Courier New" pitchFamily="34" charset="-120"/>
              </a:rPr>
              <a:t>121</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original</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rev</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b="1" dirty="0">
                <a:solidFill>
                  <a:srgbClr val="7FB2FF"/>
                </a:solidFill>
                <a:latin typeface="Courier New" pitchFamily="34" charset="0"/>
                <a:ea typeface="Courier New" pitchFamily="34" charset="-122"/>
                <a:cs typeface="Courier New" pitchFamily="34" charset="-120"/>
              </a:rPr>
              <a:t>while</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rev</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rev</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rev</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original</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3B778"/>
                </a:solidFill>
                <a:latin typeface="Courier New" pitchFamily="34" charset="0"/>
                <a:ea typeface="Courier New" pitchFamily="34" charset="-122"/>
                <a:cs typeface="Courier New" pitchFamily="34" charset="-120"/>
              </a:rPr>
              <a:t>"Palindrome"</a:t>
            </a:r>
            <a:endParaRPr lang="en-US" sz="1150" dirty="0"/>
          </a:p>
          <a:p>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3B778"/>
                </a:solidFill>
                <a:latin typeface="Courier New" pitchFamily="34" charset="0"/>
                <a:ea typeface="Courier New" pitchFamily="34" charset="-122"/>
                <a:cs typeface="Courier New" pitchFamily="34" charset="-120"/>
              </a:rPr>
              <a:t>"Not a palindrome"</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p:txBody>
      </p:sp>
      <p:sp>
        <p:nvSpPr>
          <p:cNvPr id="21" name="Shape 19"/>
          <p:cNvSpPr/>
          <p:nvPr/>
        </p:nvSpPr>
        <p:spPr>
          <a:xfrm>
            <a:off x="6903720" y="4297680"/>
            <a:ext cx="4800600" cy="1965960"/>
          </a:xfrm>
          <a:prstGeom prst="roundRect">
            <a:avLst>
              <a:gd name="adj" fmla="val 3721"/>
            </a:avLst>
          </a:prstGeom>
          <a:solidFill>
            <a:srgbClr val="FFF6E4"/>
          </a:solidFill>
          <a:ln w="12700">
            <a:solidFill>
              <a:srgbClr val="E08A00"/>
            </a:solidFill>
            <a:prstDash val="solid"/>
          </a:ln>
        </p:spPr>
      </p:sp>
      <p:sp>
        <p:nvSpPr>
          <p:cNvPr id="22" name="Text 20"/>
          <p:cNvSpPr/>
          <p:nvPr/>
        </p:nvSpPr>
        <p:spPr>
          <a:xfrm>
            <a:off x="7086600" y="437997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Left as exercises</a:t>
            </a:r>
            <a:endParaRPr lang="en-US" sz="1050" dirty="0"/>
          </a:p>
        </p:txBody>
      </p:sp>
      <p:sp>
        <p:nvSpPr>
          <p:cNvPr id="23" name="Text 21"/>
          <p:cNvSpPr/>
          <p:nvPr/>
        </p:nvSpPr>
        <p:spPr>
          <a:xfrm>
            <a:off x="7086600" y="4645152"/>
            <a:ext cx="4434840" cy="15270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Sum from 1 to N, multiplication table, count digits, factorial, prime check, print primes up to N. Try them before checking a solution.</a:t>
            </a:r>
            <a:endParaRPr lang="en-US" sz="1100" dirty="0"/>
          </a:p>
        </p:txBody>
      </p:sp>
      <p:sp>
        <p:nvSpPr>
          <p:cNvPr id="25" name="Text 2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6" name="Text 2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13</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Break vs Continue</a:t>
            </a:r>
            <a:endParaRPr lang="en-US" sz="2800" dirty="0"/>
          </a:p>
        </p:txBody>
      </p:sp>
      <p:sp>
        <p:nvSpPr>
          <p:cNvPr id="4" name="Shape 2"/>
          <p:cNvSpPr/>
          <p:nvPr/>
        </p:nvSpPr>
        <p:spPr>
          <a:xfrm>
            <a:off x="502920" y="1691640"/>
            <a:ext cx="5760720" cy="2423160"/>
          </a:xfrm>
          <a:prstGeom prst="roundRect">
            <a:avLst>
              <a:gd name="adj" fmla="val 339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91640"/>
            <a:ext cx="5760720" cy="292608"/>
          </a:xfrm>
          <a:prstGeom prst="rect">
            <a:avLst/>
          </a:prstGeom>
          <a:solidFill>
            <a:srgbClr val="141B33"/>
          </a:solidFill>
          <a:ln/>
        </p:spPr>
      </p:sp>
      <p:sp>
        <p:nvSpPr>
          <p:cNvPr id="6" name="Shape 4"/>
          <p:cNvSpPr/>
          <p:nvPr/>
        </p:nvSpPr>
        <p:spPr>
          <a:xfrm>
            <a:off x="649224" y="1783080"/>
            <a:ext cx="109728" cy="109728"/>
          </a:xfrm>
          <a:prstGeom prst="ellipse">
            <a:avLst/>
          </a:prstGeom>
          <a:solidFill>
            <a:srgbClr val="FF6B6B"/>
          </a:solidFill>
          <a:ln/>
        </p:spPr>
      </p:sp>
      <p:sp>
        <p:nvSpPr>
          <p:cNvPr id="7" name="Shape 5"/>
          <p:cNvSpPr/>
          <p:nvPr/>
        </p:nvSpPr>
        <p:spPr>
          <a:xfrm>
            <a:off x="822960" y="1783080"/>
            <a:ext cx="109728" cy="109728"/>
          </a:xfrm>
          <a:prstGeom prst="ellipse">
            <a:avLst/>
          </a:prstGeom>
          <a:solidFill>
            <a:srgbClr val="FFD166"/>
          </a:solidFill>
          <a:ln/>
        </p:spPr>
      </p:sp>
      <p:sp>
        <p:nvSpPr>
          <p:cNvPr id="8" name="Shape 6"/>
          <p:cNvSpPr/>
          <p:nvPr/>
        </p:nvSpPr>
        <p:spPr>
          <a:xfrm>
            <a:off x="996696" y="1783080"/>
            <a:ext cx="109728" cy="109728"/>
          </a:xfrm>
          <a:prstGeom prst="ellipse">
            <a:avLst/>
          </a:prstGeom>
          <a:solidFill>
            <a:srgbClr val="2FD8A2"/>
          </a:solidFill>
          <a:ln/>
        </p:spPr>
      </p:sp>
      <p:sp>
        <p:nvSpPr>
          <p:cNvPr id="9" name="Text 7"/>
          <p:cNvSpPr/>
          <p:nvPr/>
        </p:nvSpPr>
        <p:spPr>
          <a:xfrm>
            <a:off x="502920" y="1691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break</a:t>
            </a:r>
            <a:endParaRPr lang="en-US" sz="1000" dirty="0"/>
          </a:p>
        </p:txBody>
      </p:sp>
      <p:sp>
        <p:nvSpPr>
          <p:cNvPr id="10" name="Text 8"/>
          <p:cNvSpPr/>
          <p:nvPr/>
        </p:nvSpPr>
        <p:spPr>
          <a:xfrm>
            <a:off x="722376" y="2103120"/>
            <a:ext cx="5321808" cy="1892808"/>
          </a:xfrm>
          <a:prstGeom prst="rect">
            <a:avLst/>
          </a:prstGeom>
          <a:noFill/>
          <a:ln/>
        </p:spPr>
        <p:txBody>
          <a:bodyPr wrap="square" lIns="0" tIns="0" rIns="0" bIns="0" rtlCol="0" anchor="t"/>
          <a:lstStyle/>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break</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exit the loop entirely</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Output: 1 2 3 4</a:t>
            </a:r>
            <a:endParaRPr lang="en-US" sz="1300" dirty="0"/>
          </a:p>
        </p:txBody>
      </p:sp>
      <p:sp>
        <p:nvSpPr>
          <p:cNvPr id="11" name="Shape 9"/>
          <p:cNvSpPr/>
          <p:nvPr/>
        </p:nvSpPr>
        <p:spPr>
          <a:xfrm>
            <a:off x="6903720" y="1691640"/>
            <a:ext cx="4800600" cy="2423160"/>
          </a:xfrm>
          <a:prstGeom prst="roundRect">
            <a:avLst>
              <a:gd name="adj" fmla="val 339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2" name="Shape 10"/>
          <p:cNvSpPr/>
          <p:nvPr/>
        </p:nvSpPr>
        <p:spPr>
          <a:xfrm>
            <a:off x="6903720" y="1691640"/>
            <a:ext cx="4800600" cy="292608"/>
          </a:xfrm>
          <a:prstGeom prst="rect">
            <a:avLst/>
          </a:prstGeom>
          <a:solidFill>
            <a:srgbClr val="141B33"/>
          </a:solidFill>
          <a:ln/>
        </p:spPr>
      </p:sp>
      <p:sp>
        <p:nvSpPr>
          <p:cNvPr id="13" name="Shape 11"/>
          <p:cNvSpPr/>
          <p:nvPr/>
        </p:nvSpPr>
        <p:spPr>
          <a:xfrm>
            <a:off x="7050024" y="1783080"/>
            <a:ext cx="109728" cy="109728"/>
          </a:xfrm>
          <a:prstGeom prst="ellipse">
            <a:avLst/>
          </a:prstGeom>
          <a:solidFill>
            <a:srgbClr val="FF6B6B"/>
          </a:solidFill>
          <a:ln/>
        </p:spPr>
      </p:sp>
      <p:sp>
        <p:nvSpPr>
          <p:cNvPr id="14" name="Shape 12"/>
          <p:cNvSpPr/>
          <p:nvPr/>
        </p:nvSpPr>
        <p:spPr>
          <a:xfrm>
            <a:off x="7223760" y="1783080"/>
            <a:ext cx="109728" cy="109728"/>
          </a:xfrm>
          <a:prstGeom prst="ellipse">
            <a:avLst/>
          </a:prstGeom>
          <a:solidFill>
            <a:srgbClr val="FFD166"/>
          </a:solidFill>
          <a:ln/>
        </p:spPr>
      </p:sp>
      <p:sp>
        <p:nvSpPr>
          <p:cNvPr id="15" name="Shape 13"/>
          <p:cNvSpPr/>
          <p:nvPr/>
        </p:nvSpPr>
        <p:spPr>
          <a:xfrm>
            <a:off x="7397496" y="1783080"/>
            <a:ext cx="109728" cy="109728"/>
          </a:xfrm>
          <a:prstGeom prst="ellipse">
            <a:avLst/>
          </a:prstGeom>
          <a:solidFill>
            <a:srgbClr val="2FD8A2"/>
          </a:solidFill>
          <a:ln/>
        </p:spPr>
      </p:sp>
      <p:sp>
        <p:nvSpPr>
          <p:cNvPr id="16" name="Text 14"/>
          <p:cNvSpPr/>
          <p:nvPr/>
        </p:nvSpPr>
        <p:spPr>
          <a:xfrm>
            <a:off x="6903720" y="1691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continue</a:t>
            </a:r>
            <a:endParaRPr lang="en-US" sz="1000" dirty="0"/>
          </a:p>
        </p:txBody>
      </p:sp>
      <p:sp>
        <p:nvSpPr>
          <p:cNvPr id="17" name="Text 15"/>
          <p:cNvSpPr/>
          <p:nvPr/>
        </p:nvSpPr>
        <p:spPr>
          <a:xfrm>
            <a:off x="7123176" y="2103120"/>
            <a:ext cx="4361688" cy="1892808"/>
          </a:xfrm>
          <a:prstGeom prst="rect">
            <a:avLst/>
          </a:prstGeom>
          <a:noFill/>
          <a:ln/>
        </p:spPr>
        <p:txBody>
          <a:bodyPr wrap="square" lIns="0" tIns="0" rIns="0" bIns="0" rtlCol="0" anchor="t"/>
          <a:lstStyle/>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continue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skip this pass</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Output: 1 3 5 7 9</a:t>
            </a:r>
            <a:endParaRPr lang="en-US" sz="1300" dirty="0"/>
          </a:p>
        </p:txBody>
      </p:sp>
      <p:sp>
        <p:nvSpPr>
          <p:cNvPr id="18" name="Shape 16"/>
          <p:cNvSpPr/>
          <p:nvPr/>
        </p:nvSpPr>
        <p:spPr>
          <a:xfrm>
            <a:off x="502920" y="4343400"/>
            <a:ext cx="11201400" cy="1234440"/>
          </a:xfrm>
          <a:prstGeom prst="roundRect">
            <a:avLst>
              <a:gd name="adj" fmla="val 5926"/>
            </a:avLst>
          </a:prstGeom>
          <a:solidFill>
            <a:srgbClr val="EAFBF4"/>
          </a:solidFill>
          <a:ln w="12700">
            <a:solidFill>
              <a:srgbClr val="16A67C"/>
            </a:solidFill>
            <a:prstDash val="solid"/>
          </a:ln>
        </p:spPr>
      </p:sp>
      <p:sp>
        <p:nvSpPr>
          <p:cNvPr id="19" name="Text 17"/>
          <p:cNvSpPr/>
          <p:nvPr/>
        </p:nvSpPr>
        <p:spPr>
          <a:xfrm>
            <a:off x="685800" y="4425696"/>
            <a:ext cx="108356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The difference in one line</a:t>
            </a:r>
            <a:endParaRPr lang="en-US" sz="1050" dirty="0"/>
          </a:p>
        </p:txBody>
      </p:sp>
      <p:sp>
        <p:nvSpPr>
          <p:cNvPr id="20" name="Text 18"/>
          <p:cNvSpPr/>
          <p:nvPr/>
        </p:nvSpPr>
        <p:spPr>
          <a:xfrm>
            <a:off x="685800" y="4690872"/>
            <a:ext cx="10835640" cy="7955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break leaves the loop immediately — nothing after it runs, even for later iterations. continue skips only the rest of the current iteration and moves straight to the next one.</a:t>
            </a:r>
            <a:endParaRPr lang="en-US" sz="1100" dirty="0"/>
          </a:p>
        </p:txBody>
      </p:sp>
      <p:sp>
        <p:nvSpPr>
          <p:cNvPr id="22" name="Text 19"/>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3" name="Text 20"/>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14</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Nested Loops &amp; Pattern Thinking</a:t>
            </a:r>
            <a:endParaRPr lang="en-US" sz="2800" dirty="0"/>
          </a:p>
        </p:txBody>
      </p:sp>
      <p:sp>
        <p:nvSpPr>
          <p:cNvPr id="4" name="Shape 2"/>
          <p:cNvSpPr/>
          <p:nvPr/>
        </p:nvSpPr>
        <p:spPr>
          <a:xfrm>
            <a:off x="502920" y="1691640"/>
            <a:ext cx="5760720" cy="2240280"/>
          </a:xfrm>
          <a:prstGeom prst="roundRect">
            <a:avLst>
              <a:gd name="adj" fmla="val 367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91640"/>
            <a:ext cx="5760720" cy="292608"/>
          </a:xfrm>
          <a:prstGeom prst="rect">
            <a:avLst/>
          </a:prstGeom>
          <a:solidFill>
            <a:srgbClr val="141B33"/>
          </a:solidFill>
          <a:ln/>
        </p:spPr>
      </p:sp>
      <p:sp>
        <p:nvSpPr>
          <p:cNvPr id="6" name="Shape 4"/>
          <p:cNvSpPr/>
          <p:nvPr/>
        </p:nvSpPr>
        <p:spPr>
          <a:xfrm>
            <a:off x="649224" y="1783080"/>
            <a:ext cx="109728" cy="109728"/>
          </a:xfrm>
          <a:prstGeom prst="ellipse">
            <a:avLst/>
          </a:prstGeom>
          <a:solidFill>
            <a:srgbClr val="FF6B6B"/>
          </a:solidFill>
          <a:ln/>
        </p:spPr>
      </p:sp>
      <p:sp>
        <p:nvSpPr>
          <p:cNvPr id="7" name="Shape 5"/>
          <p:cNvSpPr/>
          <p:nvPr/>
        </p:nvSpPr>
        <p:spPr>
          <a:xfrm>
            <a:off x="822960" y="1783080"/>
            <a:ext cx="109728" cy="109728"/>
          </a:xfrm>
          <a:prstGeom prst="ellipse">
            <a:avLst/>
          </a:prstGeom>
          <a:solidFill>
            <a:srgbClr val="FFD166"/>
          </a:solidFill>
          <a:ln/>
        </p:spPr>
      </p:sp>
      <p:sp>
        <p:nvSpPr>
          <p:cNvPr id="8" name="Shape 6"/>
          <p:cNvSpPr/>
          <p:nvPr/>
        </p:nvSpPr>
        <p:spPr>
          <a:xfrm>
            <a:off x="996696" y="1783080"/>
            <a:ext cx="109728" cy="109728"/>
          </a:xfrm>
          <a:prstGeom prst="ellipse">
            <a:avLst/>
          </a:prstGeom>
          <a:solidFill>
            <a:srgbClr val="2FD8A2"/>
          </a:solidFill>
          <a:ln/>
        </p:spPr>
      </p:sp>
      <p:sp>
        <p:nvSpPr>
          <p:cNvPr id="9" name="Text 7"/>
          <p:cNvSpPr/>
          <p:nvPr/>
        </p:nvSpPr>
        <p:spPr>
          <a:xfrm>
            <a:off x="502920" y="1691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grid traversal</a:t>
            </a:r>
            <a:endParaRPr lang="en-US" sz="1000" dirty="0"/>
          </a:p>
        </p:txBody>
      </p:sp>
      <p:sp>
        <p:nvSpPr>
          <p:cNvPr id="10" name="Text 8"/>
          <p:cNvSpPr/>
          <p:nvPr/>
        </p:nvSpPr>
        <p:spPr>
          <a:xfrm>
            <a:off x="722376" y="2103120"/>
            <a:ext cx="5321808" cy="1709928"/>
          </a:xfrm>
          <a:prstGeom prst="rect">
            <a:avLst/>
          </a:prstGeom>
          <a:noFill/>
          <a:ln/>
        </p:spPr>
        <p:txBody>
          <a:bodyPr wrap="square" lIns="0" tIns="0" rIns="0" bIns="0" rtlCol="0" anchor="t"/>
          <a:lstStyle/>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row</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row</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3</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row</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col</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col</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4</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col</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502920" y="4160520"/>
            <a:ext cx="146304" cy="146304"/>
          </a:xfrm>
          <a:prstGeom prst="ellipse">
            <a:avLst/>
          </a:prstGeom>
          <a:solidFill>
            <a:srgbClr val="2FD8A2"/>
          </a:solidFill>
          <a:ln/>
        </p:spPr>
      </p:sp>
      <p:sp>
        <p:nvSpPr>
          <p:cNvPr id="12" name="Text 10"/>
          <p:cNvSpPr/>
          <p:nvPr/>
        </p:nvSpPr>
        <p:spPr>
          <a:xfrm>
            <a:off x="795528" y="4014216"/>
            <a:ext cx="5468112" cy="365760"/>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The outer loop controls rows — it runs once per line.</a:t>
            </a:r>
            <a:endParaRPr lang="en-US" sz="1100" dirty="0"/>
          </a:p>
        </p:txBody>
      </p:sp>
      <p:sp>
        <p:nvSpPr>
          <p:cNvPr id="13" name="Shape 11"/>
          <p:cNvSpPr/>
          <p:nvPr/>
        </p:nvSpPr>
        <p:spPr>
          <a:xfrm>
            <a:off x="502920" y="4599432"/>
            <a:ext cx="146304" cy="146304"/>
          </a:xfrm>
          <a:prstGeom prst="ellipse">
            <a:avLst/>
          </a:prstGeom>
          <a:solidFill>
            <a:srgbClr val="2FD8A2"/>
          </a:solidFill>
          <a:ln/>
        </p:spPr>
      </p:sp>
      <p:sp>
        <p:nvSpPr>
          <p:cNvPr id="14" name="Text 12"/>
          <p:cNvSpPr/>
          <p:nvPr/>
        </p:nvSpPr>
        <p:spPr>
          <a:xfrm>
            <a:off x="795528" y="4453128"/>
            <a:ext cx="5468112" cy="365760"/>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The inner loop controls columns — it runs completely before the outer loop advances.</a:t>
            </a:r>
            <a:endParaRPr lang="en-US" sz="1100" dirty="0"/>
          </a:p>
        </p:txBody>
      </p:sp>
      <p:sp>
        <p:nvSpPr>
          <p:cNvPr id="15" name="Shape 13"/>
          <p:cNvSpPr/>
          <p:nvPr/>
        </p:nvSpPr>
        <p:spPr>
          <a:xfrm>
            <a:off x="502920" y="5038344"/>
            <a:ext cx="146304" cy="146304"/>
          </a:xfrm>
          <a:prstGeom prst="ellipse">
            <a:avLst/>
          </a:prstGeom>
          <a:solidFill>
            <a:srgbClr val="2FD8A2"/>
          </a:solidFill>
          <a:ln/>
        </p:spPr>
      </p:sp>
      <p:sp>
        <p:nvSpPr>
          <p:cNvPr id="16" name="Text 14"/>
          <p:cNvSpPr/>
          <p:nvPr/>
        </p:nvSpPr>
        <p:spPr>
          <a:xfrm>
            <a:off x="795528" y="4892040"/>
            <a:ext cx="5468112" cy="365760"/>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Goal: understand execution order, not memorise patterns.</a:t>
            </a:r>
            <a:endParaRPr lang="en-US" sz="1100" dirty="0"/>
          </a:p>
        </p:txBody>
      </p:sp>
      <p:sp>
        <p:nvSpPr>
          <p:cNvPr id="17" name="Shape 15"/>
          <p:cNvSpPr/>
          <p:nvPr/>
        </p:nvSpPr>
        <p:spPr>
          <a:xfrm>
            <a:off x="6903720" y="1691640"/>
            <a:ext cx="4800600" cy="3977640"/>
          </a:xfrm>
          <a:prstGeom prst="roundRect">
            <a:avLst>
              <a:gd name="adj" fmla="val 2069"/>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8" name="Shape 16"/>
          <p:cNvSpPr/>
          <p:nvPr/>
        </p:nvSpPr>
        <p:spPr>
          <a:xfrm>
            <a:off x="6903720" y="1691640"/>
            <a:ext cx="4800600" cy="292608"/>
          </a:xfrm>
          <a:prstGeom prst="rect">
            <a:avLst/>
          </a:prstGeom>
          <a:solidFill>
            <a:srgbClr val="141B33"/>
          </a:solidFill>
          <a:ln/>
        </p:spPr>
      </p:sp>
      <p:sp>
        <p:nvSpPr>
          <p:cNvPr id="19" name="Shape 17"/>
          <p:cNvSpPr/>
          <p:nvPr/>
        </p:nvSpPr>
        <p:spPr>
          <a:xfrm>
            <a:off x="7050024" y="1783080"/>
            <a:ext cx="109728" cy="109728"/>
          </a:xfrm>
          <a:prstGeom prst="ellipse">
            <a:avLst/>
          </a:prstGeom>
          <a:solidFill>
            <a:srgbClr val="FF6B6B"/>
          </a:solidFill>
          <a:ln/>
        </p:spPr>
      </p:sp>
      <p:sp>
        <p:nvSpPr>
          <p:cNvPr id="20" name="Shape 18"/>
          <p:cNvSpPr/>
          <p:nvPr/>
        </p:nvSpPr>
        <p:spPr>
          <a:xfrm>
            <a:off x="7223760" y="1783080"/>
            <a:ext cx="109728" cy="109728"/>
          </a:xfrm>
          <a:prstGeom prst="ellipse">
            <a:avLst/>
          </a:prstGeom>
          <a:solidFill>
            <a:srgbClr val="FFD166"/>
          </a:solidFill>
          <a:ln/>
        </p:spPr>
      </p:sp>
      <p:sp>
        <p:nvSpPr>
          <p:cNvPr id="21" name="Shape 19"/>
          <p:cNvSpPr/>
          <p:nvPr/>
        </p:nvSpPr>
        <p:spPr>
          <a:xfrm>
            <a:off x="7397496" y="1783080"/>
            <a:ext cx="109728" cy="109728"/>
          </a:xfrm>
          <a:prstGeom prst="ellipse">
            <a:avLst/>
          </a:prstGeom>
          <a:solidFill>
            <a:srgbClr val="2FD8A2"/>
          </a:solidFill>
          <a:ln/>
        </p:spPr>
      </p:sp>
      <p:sp>
        <p:nvSpPr>
          <p:cNvPr id="22" name="Text 20"/>
          <p:cNvSpPr/>
          <p:nvPr/>
        </p:nvSpPr>
        <p:spPr>
          <a:xfrm>
            <a:off x="6903720" y="1691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common patterns</a:t>
            </a:r>
            <a:endParaRPr lang="en-US" sz="1000" dirty="0"/>
          </a:p>
        </p:txBody>
      </p:sp>
      <p:sp>
        <p:nvSpPr>
          <p:cNvPr id="23" name="Text 21"/>
          <p:cNvSpPr/>
          <p:nvPr/>
        </p:nvSpPr>
        <p:spPr>
          <a:xfrm>
            <a:off x="7123176" y="2103120"/>
            <a:ext cx="4361688" cy="3447288"/>
          </a:xfrm>
          <a:prstGeom prst="rect">
            <a:avLst/>
          </a:prstGeom>
          <a:noFill/>
          <a:ln/>
        </p:spPr>
        <p:txBody>
          <a:bodyPr wrap="square" lIns="0" tIns="0" rIns="0" bIns="0" rtlCol="0" anchor="t"/>
          <a:lstStyle/>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12</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123</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1234</a:t>
            </a:r>
            <a:endParaRPr lang="en-US" sz="1300" dirty="0"/>
          </a:p>
        </p:txBody>
      </p:sp>
      <p:sp>
        <p:nvSpPr>
          <p:cNvPr id="25" name="Text 2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6" name="Text 2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DAY 3 OF 7</a:t>
            </a:r>
            <a:endParaRPr lang="en-US" sz="1200" dirty="0"/>
          </a:p>
        </p:txBody>
      </p:sp>
      <p:sp>
        <p:nvSpPr>
          <p:cNvPr id="3" name="Text 1"/>
          <p:cNvSpPr/>
          <p:nvPr/>
        </p:nvSpPr>
        <p:spPr>
          <a:xfrm>
            <a:off x="502920" y="1645920"/>
            <a:ext cx="107899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Functions &amp; References</a:t>
            </a:r>
            <a:endParaRPr lang="en-US" sz="3800" dirty="0"/>
          </a:p>
        </p:txBody>
      </p:sp>
      <p:sp>
        <p:nvSpPr>
          <p:cNvPr id="4" name="Text 2"/>
          <p:cNvSpPr/>
          <p:nvPr/>
        </p:nvSpPr>
        <p:spPr>
          <a:xfrm>
            <a:off x="502920" y="2880360"/>
            <a:ext cx="8778240" cy="777240"/>
          </a:xfrm>
          <a:prstGeom prst="rect">
            <a:avLst/>
          </a:prstGeom>
          <a:noFill/>
          <a:ln/>
        </p:spPr>
        <p:txBody>
          <a:bodyPr wrap="square" rtlCol="0" anchor="t"/>
          <a:lstStyle/>
          <a:p>
            <a:pPr indent="0" marL="0">
              <a:buNone/>
            </a:pPr>
            <a:r>
              <a:rPr lang="en-US" sz="1450" dirty="0">
                <a:solidFill>
                  <a:srgbClr val="C7CFE8"/>
                </a:solidFill>
                <a:latin typeface="Calibri" pitchFamily="34" charset="0"/>
                <a:ea typeface="Calibri" pitchFamily="34" charset="-122"/>
                <a:cs typeface="Calibri" pitchFamily="34" charset="-120"/>
              </a:rPr>
              <a:t>Functions turn long programs into readable, reusable pieces. References — C++'s answer to “why did my function not change my variable?” — are the doorway into efficient DSA code.</a:t>
            </a:r>
            <a:endParaRPr lang="en-US" sz="1450" dirty="0"/>
          </a:p>
        </p:txBody>
      </p:sp>
      <p:sp>
        <p:nvSpPr>
          <p:cNvPr id="5" name="Shape 3"/>
          <p:cNvSpPr/>
          <p:nvPr/>
        </p:nvSpPr>
        <p:spPr>
          <a:xfrm>
            <a:off x="502920" y="3977640"/>
            <a:ext cx="1586484" cy="365760"/>
          </a:xfrm>
          <a:prstGeom prst="roundRect">
            <a:avLst>
              <a:gd name="adj" fmla="val 50000"/>
            </a:avLst>
          </a:prstGeom>
          <a:solidFill>
            <a:srgbClr val="16213E"/>
          </a:solidFill>
          <a:ln w="9525">
            <a:solidFill>
              <a:srgbClr val="2FD8A2"/>
            </a:solidFill>
            <a:prstDash val="solid"/>
          </a:ln>
        </p:spPr>
      </p:sp>
      <p:sp>
        <p:nvSpPr>
          <p:cNvPr id="6" name="Text 4"/>
          <p:cNvSpPr/>
          <p:nvPr/>
        </p:nvSpPr>
        <p:spPr>
          <a:xfrm>
            <a:off x="502920" y="3977640"/>
            <a:ext cx="1586484"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Function syntax</a:t>
            </a:r>
            <a:endParaRPr lang="en-US" sz="1050" dirty="0"/>
          </a:p>
        </p:txBody>
      </p:sp>
      <p:sp>
        <p:nvSpPr>
          <p:cNvPr id="7" name="Shape 5"/>
          <p:cNvSpPr/>
          <p:nvPr/>
        </p:nvSpPr>
        <p:spPr>
          <a:xfrm>
            <a:off x="2253996" y="3977640"/>
            <a:ext cx="736092" cy="365760"/>
          </a:xfrm>
          <a:prstGeom prst="roundRect">
            <a:avLst>
              <a:gd name="adj" fmla="val 50000"/>
            </a:avLst>
          </a:prstGeom>
          <a:solidFill>
            <a:srgbClr val="16213E"/>
          </a:solidFill>
          <a:ln w="9525">
            <a:solidFill>
              <a:srgbClr val="2FD8A2"/>
            </a:solidFill>
            <a:prstDash val="solid"/>
          </a:ln>
        </p:spPr>
      </p:sp>
      <p:sp>
        <p:nvSpPr>
          <p:cNvPr id="8" name="Text 6"/>
          <p:cNvSpPr/>
          <p:nvPr/>
        </p:nvSpPr>
        <p:spPr>
          <a:xfrm>
            <a:off x="2253996" y="3977640"/>
            <a:ext cx="73609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Scope</a:t>
            </a:r>
            <a:endParaRPr lang="en-US" sz="1050" dirty="0"/>
          </a:p>
        </p:txBody>
      </p:sp>
      <p:sp>
        <p:nvSpPr>
          <p:cNvPr id="9" name="Shape 7"/>
          <p:cNvSpPr/>
          <p:nvPr/>
        </p:nvSpPr>
        <p:spPr>
          <a:xfrm>
            <a:off x="3154680" y="3977640"/>
            <a:ext cx="1416406" cy="365760"/>
          </a:xfrm>
          <a:prstGeom prst="roundRect">
            <a:avLst>
              <a:gd name="adj" fmla="val 50000"/>
            </a:avLst>
          </a:prstGeom>
          <a:solidFill>
            <a:srgbClr val="16213E"/>
          </a:solidFill>
          <a:ln w="9525">
            <a:solidFill>
              <a:srgbClr val="2FD8A2"/>
            </a:solidFill>
            <a:prstDash val="solid"/>
          </a:ln>
        </p:spPr>
      </p:sp>
      <p:sp>
        <p:nvSpPr>
          <p:cNvPr id="10" name="Text 8"/>
          <p:cNvSpPr/>
          <p:nvPr/>
        </p:nvSpPr>
        <p:spPr>
          <a:xfrm>
            <a:off x="3154680" y="3977640"/>
            <a:ext cx="1416406"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Pass by value</a:t>
            </a:r>
            <a:endParaRPr lang="en-US" sz="1050" dirty="0"/>
          </a:p>
        </p:txBody>
      </p:sp>
      <p:sp>
        <p:nvSpPr>
          <p:cNvPr id="11" name="Shape 9"/>
          <p:cNvSpPr/>
          <p:nvPr/>
        </p:nvSpPr>
        <p:spPr>
          <a:xfrm>
            <a:off x="4735678" y="3977640"/>
            <a:ext cx="1756562" cy="365760"/>
          </a:xfrm>
          <a:prstGeom prst="roundRect">
            <a:avLst>
              <a:gd name="adj" fmla="val 50000"/>
            </a:avLst>
          </a:prstGeom>
          <a:solidFill>
            <a:srgbClr val="16213E"/>
          </a:solidFill>
          <a:ln w="9525">
            <a:solidFill>
              <a:srgbClr val="2FD8A2"/>
            </a:solidFill>
            <a:prstDash val="solid"/>
          </a:ln>
        </p:spPr>
      </p:sp>
      <p:sp>
        <p:nvSpPr>
          <p:cNvPr id="12" name="Text 10"/>
          <p:cNvSpPr/>
          <p:nvPr/>
        </p:nvSpPr>
        <p:spPr>
          <a:xfrm>
            <a:off x="4735678" y="3977640"/>
            <a:ext cx="175656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Pass by reference</a:t>
            </a:r>
            <a:endParaRPr lang="en-US" sz="1050" dirty="0"/>
          </a:p>
        </p:txBody>
      </p:sp>
      <p:sp>
        <p:nvSpPr>
          <p:cNvPr id="13" name="Shape 11"/>
          <p:cNvSpPr/>
          <p:nvPr/>
        </p:nvSpPr>
        <p:spPr>
          <a:xfrm>
            <a:off x="6656832" y="3977640"/>
            <a:ext cx="1671523" cy="365760"/>
          </a:xfrm>
          <a:prstGeom prst="roundRect">
            <a:avLst>
              <a:gd name="adj" fmla="val 50000"/>
            </a:avLst>
          </a:prstGeom>
          <a:solidFill>
            <a:srgbClr val="16213E"/>
          </a:solidFill>
          <a:ln w="9525">
            <a:solidFill>
              <a:srgbClr val="2FD8A2"/>
            </a:solidFill>
            <a:prstDash val="solid"/>
          </a:ln>
        </p:spPr>
      </p:sp>
      <p:sp>
        <p:nvSpPr>
          <p:cNvPr id="14" name="Text 12"/>
          <p:cNvSpPr/>
          <p:nvPr/>
        </p:nvSpPr>
        <p:spPr>
          <a:xfrm>
            <a:off x="6656832" y="3977640"/>
            <a:ext cx="1671523"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const references</a:t>
            </a:r>
            <a:endParaRPr lang="en-US" sz="1050" dirty="0"/>
          </a:p>
        </p:txBody>
      </p:sp>
      <p:sp>
        <p:nvSpPr>
          <p:cNvPr id="15" name="Shape 13"/>
          <p:cNvSpPr/>
          <p:nvPr/>
        </p:nvSpPr>
        <p:spPr>
          <a:xfrm>
            <a:off x="8492947" y="3977640"/>
            <a:ext cx="1246327" cy="365760"/>
          </a:xfrm>
          <a:prstGeom prst="roundRect">
            <a:avLst>
              <a:gd name="adj" fmla="val 50000"/>
            </a:avLst>
          </a:prstGeom>
          <a:solidFill>
            <a:srgbClr val="16213E"/>
          </a:solidFill>
          <a:ln w="9525">
            <a:solidFill>
              <a:srgbClr val="2FD8A2"/>
            </a:solidFill>
            <a:prstDash val="solid"/>
          </a:ln>
        </p:spPr>
      </p:sp>
      <p:sp>
        <p:nvSpPr>
          <p:cNvPr id="16" name="Text 14"/>
          <p:cNvSpPr/>
          <p:nvPr/>
        </p:nvSpPr>
        <p:spPr>
          <a:xfrm>
            <a:off x="8492947" y="3977640"/>
            <a:ext cx="1246327"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Overloading</a:t>
            </a:r>
            <a:endParaRPr lang="en-US" sz="1050" dirty="0"/>
          </a:p>
        </p:txBody>
      </p:sp>
      <p:sp>
        <p:nvSpPr>
          <p:cNvPr id="17" name="Shape 15"/>
          <p:cNvSpPr/>
          <p:nvPr/>
        </p:nvSpPr>
        <p:spPr>
          <a:xfrm>
            <a:off x="8945575" y="4892040"/>
            <a:ext cx="2743200" cy="1417320"/>
          </a:xfrm>
          <a:prstGeom prst="roundRect">
            <a:avLst>
              <a:gd name="adj" fmla="val 580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8" name="Shape 16"/>
          <p:cNvSpPr/>
          <p:nvPr/>
        </p:nvSpPr>
        <p:spPr>
          <a:xfrm>
            <a:off x="8945575" y="4892040"/>
            <a:ext cx="2743200" cy="292608"/>
          </a:xfrm>
          <a:prstGeom prst="rect">
            <a:avLst/>
          </a:prstGeom>
          <a:solidFill>
            <a:srgbClr val="141B33"/>
          </a:solidFill>
          <a:ln/>
        </p:spPr>
      </p:sp>
      <p:sp>
        <p:nvSpPr>
          <p:cNvPr id="19" name="Shape 17"/>
          <p:cNvSpPr/>
          <p:nvPr/>
        </p:nvSpPr>
        <p:spPr>
          <a:xfrm>
            <a:off x="9091879" y="4983480"/>
            <a:ext cx="109728" cy="109728"/>
          </a:xfrm>
          <a:prstGeom prst="ellipse">
            <a:avLst/>
          </a:prstGeom>
          <a:solidFill>
            <a:srgbClr val="FF6B6B"/>
          </a:solidFill>
          <a:ln/>
        </p:spPr>
      </p:sp>
      <p:sp>
        <p:nvSpPr>
          <p:cNvPr id="20" name="Shape 18"/>
          <p:cNvSpPr/>
          <p:nvPr/>
        </p:nvSpPr>
        <p:spPr>
          <a:xfrm>
            <a:off x="9265615" y="4983480"/>
            <a:ext cx="109728" cy="109728"/>
          </a:xfrm>
          <a:prstGeom prst="ellipse">
            <a:avLst/>
          </a:prstGeom>
          <a:solidFill>
            <a:srgbClr val="FFD166"/>
          </a:solidFill>
          <a:ln/>
        </p:spPr>
      </p:sp>
      <p:sp>
        <p:nvSpPr>
          <p:cNvPr id="21" name="Shape 19"/>
          <p:cNvSpPr/>
          <p:nvPr/>
        </p:nvSpPr>
        <p:spPr>
          <a:xfrm>
            <a:off x="9439351" y="4983480"/>
            <a:ext cx="109728" cy="109728"/>
          </a:xfrm>
          <a:prstGeom prst="ellipse">
            <a:avLst/>
          </a:prstGeom>
          <a:solidFill>
            <a:srgbClr val="2FD8A2"/>
          </a:solidFill>
          <a:ln/>
        </p:spPr>
      </p:sp>
      <p:sp>
        <p:nvSpPr>
          <p:cNvPr id="23" name="Text 20"/>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4" name="Text 21"/>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15</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Functions — Why &amp; How</a:t>
            </a:r>
            <a:endParaRPr lang="en-US" sz="2800" dirty="0"/>
          </a:p>
        </p:txBody>
      </p:sp>
      <p:sp>
        <p:nvSpPr>
          <p:cNvPr id="4" name="Shape 2"/>
          <p:cNvSpPr/>
          <p:nvPr/>
        </p:nvSpPr>
        <p:spPr>
          <a:xfrm>
            <a:off x="502920" y="1691640"/>
            <a:ext cx="146304" cy="146304"/>
          </a:xfrm>
          <a:prstGeom prst="ellipse">
            <a:avLst/>
          </a:prstGeom>
          <a:solidFill>
            <a:srgbClr val="2FD8A2"/>
          </a:solidFill>
          <a:ln/>
        </p:spPr>
      </p:sp>
      <p:sp>
        <p:nvSpPr>
          <p:cNvPr id="5" name="Text 3"/>
          <p:cNvSpPr/>
          <p:nvPr/>
        </p:nvSpPr>
        <p:spPr>
          <a:xfrm>
            <a:off x="795528" y="1545336"/>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Reusability — write logic once, call it many times.</a:t>
            </a:r>
            <a:endParaRPr lang="en-US" sz="1150" dirty="0"/>
          </a:p>
        </p:txBody>
      </p:sp>
      <p:sp>
        <p:nvSpPr>
          <p:cNvPr id="6" name="Shape 4"/>
          <p:cNvSpPr/>
          <p:nvPr/>
        </p:nvSpPr>
        <p:spPr>
          <a:xfrm>
            <a:off x="502920" y="2075688"/>
            <a:ext cx="146304" cy="146304"/>
          </a:xfrm>
          <a:prstGeom prst="ellipse">
            <a:avLst/>
          </a:prstGeom>
          <a:solidFill>
            <a:srgbClr val="2FD8A2"/>
          </a:solidFill>
          <a:ln/>
        </p:spPr>
      </p:sp>
      <p:sp>
        <p:nvSpPr>
          <p:cNvPr id="7" name="Text 5"/>
          <p:cNvSpPr/>
          <p:nvPr/>
        </p:nvSpPr>
        <p:spPr>
          <a:xfrm>
            <a:off x="795528" y="1929384"/>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Readability — main() reads like a summary, not a wall of code.</a:t>
            </a:r>
            <a:endParaRPr lang="en-US" sz="1150" dirty="0"/>
          </a:p>
        </p:txBody>
      </p:sp>
      <p:sp>
        <p:nvSpPr>
          <p:cNvPr id="8" name="Shape 6"/>
          <p:cNvSpPr/>
          <p:nvPr/>
        </p:nvSpPr>
        <p:spPr>
          <a:xfrm>
            <a:off x="502920" y="2459736"/>
            <a:ext cx="146304" cy="146304"/>
          </a:xfrm>
          <a:prstGeom prst="ellipse">
            <a:avLst/>
          </a:prstGeom>
          <a:solidFill>
            <a:srgbClr val="2FD8A2"/>
          </a:solidFill>
          <a:ln/>
        </p:spPr>
      </p:sp>
      <p:sp>
        <p:nvSpPr>
          <p:cNvPr id="9" name="Text 7"/>
          <p:cNvSpPr/>
          <p:nvPr/>
        </p:nvSpPr>
        <p:spPr>
          <a:xfrm>
            <a:off x="795528" y="2313432"/>
            <a:ext cx="5468112" cy="365760"/>
          </a:xfrm>
          <a:prstGeom prst="rect">
            <a:avLst/>
          </a:prstGeom>
          <a:noFill/>
          <a:ln/>
        </p:spPr>
        <p:txBody>
          <a:bodyPr wrap="square" rtlCol="0" anchor="ctr"/>
          <a:lstStyle/>
          <a:p>
            <a:pPr indent="0" marL="0">
              <a:buNone/>
            </a:pPr>
            <a:r>
              <a:rPr lang="en-US" sz="1150" dirty="0">
                <a:solidFill>
                  <a:srgbClr val="12172B"/>
                </a:solidFill>
                <a:latin typeface="Calibri" pitchFamily="34" charset="0"/>
                <a:ea typeface="Calibri" pitchFamily="34" charset="-122"/>
                <a:cs typeface="Calibri" pitchFamily="34" charset="-120"/>
              </a:rPr>
              <a:t>Easier debugging — a bug lives in one small, testable place.</a:t>
            </a:r>
            <a:endParaRPr lang="en-US" sz="1150" dirty="0"/>
          </a:p>
        </p:txBody>
      </p:sp>
      <p:sp>
        <p:nvSpPr>
          <p:cNvPr id="10" name="Shape 8"/>
          <p:cNvSpPr/>
          <p:nvPr/>
        </p:nvSpPr>
        <p:spPr>
          <a:xfrm>
            <a:off x="502920" y="3291840"/>
            <a:ext cx="5760720" cy="1371600"/>
          </a:xfrm>
          <a:prstGeom prst="roundRect">
            <a:avLst>
              <a:gd name="adj" fmla="val 600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1" name="Shape 9"/>
          <p:cNvSpPr/>
          <p:nvPr/>
        </p:nvSpPr>
        <p:spPr>
          <a:xfrm>
            <a:off x="502920" y="3291840"/>
            <a:ext cx="5760720" cy="292608"/>
          </a:xfrm>
          <a:prstGeom prst="rect">
            <a:avLst/>
          </a:prstGeom>
          <a:solidFill>
            <a:srgbClr val="141B33"/>
          </a:solidFill>
          <a:ln/>
        </p:spPr>
      </p:sp>
      <p:sp>
        <p:nvSpPr>
          <p:cNvPr id="12" name="Shape 10"/>
          <p:cNvSpPr/>
          <p:nvPr/>
        </p:nvSpPr>
        <p:spPr>
          <a:xfrm>
            <a:off x="649224" y="3383280"/>
            <a:ext cx="109728" cy="109728"/>
          </a:xfrm>
          <a:prstGeom prst="ellipse">
            <a:avLst/>
          </a:prstGeom>
          <a:solidFill>
            <a:srgbClr val="FF6B6B"/>
          </a:solidFill>
          <a:ln/>
        </p:spPr>
      </p:sp>
      <p:sp>
        <p:nvSpPr>
          <p:cNvPr id="13" name="Shape 11"/>
          <p:cNvSpPr/>
          <p:nvPr/>
        </p:nvSpPr>
        <p:spPr>
          <a:xfrm>
            <a:off x="822960" y="3383280"/>
            <a:ext cx="109728" cy="109728"/>
          </a:xfrm>
          <a:prstGeom prst="ellipse">
            <a:avLst/>
          </a:prstGeom>
          <a:solidFill>
            <a:srgbClr val="FFD166"/>
          </a:solidFill>
          <a:ln/>
        </p:spPr>
      </p:sp>
      <p:sp>
        <p:nvSpPr>
          <p:cNvPr id="14" name="Shape 12"/>
          <p:cNvSpPr/>
          <p:nvPr/>
        </p:nvSpPr>
        <p:spPr>
          <a:xfrm>
            <a:off x="996696" y="3383280"/>
            <a:ext cx="109728" cy="109728"/>
          </a:xfrm>
          <a:prstGeom prst="ellipse">
            <a:avLst/>
          </a:prstGeom>
          <a:solidFill>
            <a:srgbClr val="2FD8A2"/>
          </a:solidFill>
          <a:ln/>
        </p:spPr>
      </p:sp>
      <p:sp>
        <p:nvSpPr>
          <p:cNvPr id="15" name="Text 13"/>
          <p:cNvSpPr/>
          <p:nvPr/>
        </p:nvSpPr>
        <p:spPr>
          <a:xfrm>
            <a:off x="502920" y="32918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syntax</a:t>
            </a:r>
            <a:endParaRPr lang="en-US" sz="1000" dirty="0"/>
          </a:p>
        </p:txBody>
      </p:sp>
      <p:sp>
        <p:nvSpPr>
          <p:cNvPr id="16" name="Text 14"/>
          <p:cNvSpPr/>
          <p:nvPr/>
        </p:nvSpPr>
        <p:spPr>
          <a:xfrm>
            <a:off x="722376" y="3703320"/>
            <a:ext cx="5321808" cy="841248"/>
          </a:xfrm>
          <a:prstGeom prst="rect">
            <a:avLst/>
          </a:prstGeom>
          <a:noFill/>
          <a:ln/>
        </p:spPr>
        <p:txBody>
          <a:bodyPr wrap="square" lIns="0" tIns="0" rIns="0" bIns="0" rtlCol="0" anchor="t"/>
          <a:lstStyle/>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return_type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function_name</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parameters</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50" i="1" dirty="0">
                <a:solidFill>
                  <a:srgbClr val="7FA36B"/>
                </a:solidFill>
                <a:latin typeface="Courier New" pitchFamily="34" charset="0"/>
                <a:ea typeface="Courier New" pitchFamily="34" charset="-122"/>
                <a:cs typeface="Courier New" pitchFamily="34" charset="-120"/>
              </a:rPr>
              <a:t>// body</a:t>
            </a:r>
            <a:endParaRPr lang="en-US" sz="1350" dirty="0"/>
          </a:p>
          <a:p>
            <a:pPr algn="l" indent="0" marL="0">
              <a:lnSpc>
                <a:spcPct val="122000"/>
              </a:lnSpc>
              <a:buNone/>
            </a:pPr>
            <a:r>
              <a:rPr lang="en-US" sz="1350" dirty="0">
                <a:solidFill>
                  <a:srgbClr val="E7ECF5"/>
                </a:solidFill>
                <a:latin typeface="Courier New" pitchFamily="34" charset="0"/>
                <a:ea typeface="Courier New" pitchFamily="34" charset="-122"/>
                <a:cs typeface="Courier New" pitchFamily="34" charset="-120"/>
              </a:rPr>
              <a:t>}</a:t>
            </a:r>
            <a:endParaRPr lang="en-US" sz="1350" dirty="0"/>
          </a:p>
        </p:txBody>
      </p:sp>
      <p:sp>
        <p:nvSpPr>
          <p:cNvPr id="17" name="Shape 15"/>
          <p:cNvSpPr/>
          <p:nvPr/>
        </p:nvSpPr>
        <p:spPr>
          <a:xfrm>
            <a:off x="502920" y="4846320"/>
            <a:ext cx="146304" cy="146304"/>
          </a:xfrm>
          <a:prstGeom prst="ellipse">
            <a:avLst/>
          </a:prstGeom>
          <a:solidFill>
            <a:srgbClr val="2FD8A2"/>
          </a:solidFill>
          <a:ln/>
        </p:spPr>
      </p:sp>
      <p:sp>
        <p:nvSpPr>
          <p:cNvPr id="18" name="Text 16"/>
          <p:cNvSpPr/>
          <p:nvPr/>
        </p:nvSpPr>
        <p:spPr>
          <a:xfrm>
            <a:off x="795528" y="4745736"/>
            <a:ext cx="5468112" cy="274320"/>
          </a:xfrm>
          <a:prstGeom prst="rect">
            <a:avLst/>
          </a:prstGeom>
          <a:noFill/>
          <a:ln/>
        </p:spPr>
        <p:txBody>
          <a:bodyPr wrap="square" rtlCol="0" anchor="ctr"/>
          <a:lstStyle/>
          <a:p>
            <a:pPr indent="0" marL="0">
              <a:buNone/>
            </a:pPr>
            <a:r>
              <a:rPr lang="en-US" sz="1200" b="1" dirty="0">
                <a:solidFill>
                  <a:srgbClr val="12172B"/>
                </a:solidFill>
                <a:latin typeface="Calibri" pitchFamily="34" charset="0"/>
                <a:ea typeface="Calibri" pitchFamily="34" charset="-122"/>
                <a:cs typeface="Calibri" pitchFamily="34" charset="-120"/>
              </a:rPr>
              <a:t>Declaration vs definition</a:t>
            </a:r>
            <a:endParaRPr lang="en-US" sz="1200" dirty="0"/>
          </a:p>
        </p:txBody>
      </p:sp>
      <p:sp>
        <p:nvSpPr>
          <p:cNvPr id="19" name="Text 17"/>
          <p:cNvSpPr/>
          <p:nvPr/>
        </p:nvSpPr>
        <p:spPr>
          <a:xfrm>
            <a:off x="795528" y="5001768"/>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int add(int, int); is a prototype; the full body elsewhere is the definition.</a:t>
            </a:r>
            <a:endParaRPr lang="en-US" sz="1050" dirty="0"/>
          </a:p>
        </p:txBody>
      </p:sp>
      <p:sp>
        <p:nvSpPr>
          <p:cNvPr id="20" name="Shape 18"/>
          <p:cNvSpPr/>
          <p:nvPr/>
        </p:nvSpPr>
        <p:spPr>
          <a:xfrm>
            <a:off x="502920" y="5413248"/>
            <a:ext cx="146304" cy="146304"/>
          </a:xfrm>
          <a:prstGeom prst="ellipse">
            <a:avLst/>
          </a:prstGeom>
          <a:solidFill>
            <a:srgbClr val="2FD8A2"/>
          </a:solidFill>
          <a:ln/>
        </p:spPr>
      </p:sp>
      <p:sp>
        <p:nvSpPr>
          <p:cNvPr id="21" name="Text 19"/>
          <p:cNvSpPr/>
          <p:nvPr/>
        </p:nvSpPr>
        <p:spPr>
          <a:xfrm>
            <a:off x="795528" y="5312664"/>
            <a:ext cx="5468112" cy="274320"/>
          </a:xfrm>
          <a:prstGeom prst="rect">
            <a:avLst/>
          </a:prstGeom>
          <a:noFill/>
          <a:ln/>
        </p:spPr>
        <p:txBody>
          <a:bodyPr wrap="square" rtlCol="0" anchor="ctr"/>
          <a:lstStyle/>
          <a:p>
            <a:pPr indent="0" marL="0">
              <a:buNone/>
            </a:pPr>
            <a:r>
              <a:rPr lang="en-US" sz="1200" b="1" dirty="0">
                <a:solidFill>
                  <a:srgbClr val="12172B"/>
                </a:solidFill>
                <a:latin typeface="Calibri" pitchFamily="34" charset="0"/>
                <a:ea typeface="Calibri" pitchFamily="34" charset="-122"/>
                <a:cs typeface="Calibri" pitchFamily="34" charset="-120"/>
              </a:rPr>
              <a:t>Scope</a:t>
            </a:r>
            <a:endParaRPr lang="en-US" sz="1200" dirty="0"/>
          </a:p>
        </p:txBody>
      </p:sp>
      <p:sp>
        <p:nvSpPr>
          <p:cNvPr id="22" name="Text 20"/>
          <p:cNvSpPr/>
          <p:nvPr/>
        </p:nvSpPr>
        <p:spPr>
          <a:xfrm>
            <a:off x="795528" y="5568696"/>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Variables declared inside a function exist only inside it.</a:t>
            </a:r>
            <a:endParaRPr lang="en-US" sz="1050" dirty="0"/>
          </a:p>
        </p:txBody>
      </p:sp>
      <p:sp>
        <p:nvSpPr>
          <p:cNvPr id="23" name="Shape 21"/>
          <p:cNvSpPr/>
          <p:nvPr/>
        </p:nvSpPr>
        <p:spPr>
          <a:xfrm>
            <a:off x="6903720" y="1645920"/>
            <a:ext cx="4800600" cy="4434840"/>
          </a:xfrm>
          <a:prstGeom prst="roundRect">
            <a:avLst>
              <a:gd name="adj" fmla="val 185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4" name="Shape 22"/>
          <p:cNvSpPr/>
          <p:nvPr/>
        </p:nvSpPr>
        <p:spPr>
          <a:xfrm>
            <a:off x="6903720" y="1645920"/>
            <a:ext cx="4800600" cy="292608"/>
          </a:xfrm>
          <a:prstGeom prst="rect">
            <a:avLst/>
          </a:prstGeom>
          <a:solidFill>
            <a:srgbClr val="141B33"/>
          </a:solidFill>
          <a:ln/>
        </p:spPr>
      </p:sp>
      <p:sp>
        <p:nvSpPr>
          <p:cNvPr id="25" name="Shape 23"/>
          <p:cNvSpPr/>
          <p:nvPr/>
        </p:nvSpPr>
        <p:spPr>
          <a:xfrm>
            <a:off x="7050024" y="1737360"/>
            <a:ext cx="109728" cy="109728"/>
          </a:xfrm>
          <a:prstGeom prst="ellipse">
            <a:avLst/>
          </a:prstGeom>
          <a:solidFill>
            <a:srgbClr val="FF6B6B"/>
          </a:solidFill>
          <a:ln/>
        </p:spPr>
      </p:sp>
      <p:sp>
        <p:nvSpPr>
          <p:cNvPr id="26" name="Shape 24"/>
          <p:cNvSpPr/>
          <p:nvPr/>
        </p:nvSpPr>
        <p:spPr>
          <a:xfrm>
            <a:off x="7223760" y="1737360"/>
            <a:ext cx="109728" cy="109728"/>
          </a:xfrm>
          <a:prstGeom prst="ellipse">
            <a:avLst/>
          </a:prstGeom>
          <a:solidFill>
            <a:srgbClr val="FFD166"/>
          </a:solidFill>
          <a:ln/>
        </p:spPr>
      </p:sp>
      <p:sp>
        <p:nvSpPr>
          <p:cNvPr id="27" name="Shape 25"/>
          <p:cNvSpPr/>
          <p:nvPr/>
        </p:nvSpPr>
        <p:spPr>
          <a:xfrm>
            <a:off x="7397496" y="1737360"/>
            <a:ext cx="109728" cy="109728"/>
          </a:xfrm>
          <a:prstGeom prst="ellipse">
            <a:avLst/>
          </a:prstGeom>
          <a:solidFill>
            <a:srgbClr val="2FD8A2"/>
          </a:solidFill>
          <a:ln/>
        </p:spPr>
      </p:sp>
      <p:sp>
        <p:nvSpPr>
          <p:cNvPr id="28" name="Text 26"/>
          <p:cNvSpPr/>
          <p:nvPr/>
        </p:nvSpPr>
        <p:spPr>
          <a:xfrm>
            <a:off x="6903720" y="164592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helper functions</a:t>
            </a:r>
            <a:endParaRPr lang="en-US" sz="1000" dirty="0"/>
          </a:p>
        </p:txBody>
      </p:sp>
      <p:sp>
        <p:nvSpPr>
          <p:cNvPr id="29" name="Text 27"/>
          <p:cNvSpPr/>
          <p:nvPr/>
        </p:nvSpPr>
        <p:spPr>
          <a:xfrm>
            <a:off x="7123176" y="2057400"/>
            <a:ext cx="4361688" cy="390448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add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void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greet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"Hello"</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add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3</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4</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7</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greet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31" name="Text 2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2" name="Text 2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Pass by Value vs Pass by Reference</a:t>
            </a:r>
            <a:endParaRPr lang="en-US" sz="2800" dirty="0"/>
          </a:p>
        </p:txBody>
      </p:sp>
      <p:sp>
        <p:nvSpPr>
          <p:cNvPr id="4" name="Shape 2"/>
          <p:cNvSpPr/>
          <p:nvPr/>
        </p:nvSpPr>
        <p:spPr>
          <a:xfrm>
            <a:off x="502920" y="1645920"/>
            <a:ext cx="5760720" cy="1965960"/>
          </a:xfrm>
          <a:prstGeom prst="roundRect">
            <a:avLst>
              <a:gd name="adj" fmla="val 41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pass by value</a:t>
            </a:r>
            <a:endParaRPr lang="en-US" sz="1000" dirty="0"/>
          </a:p>
        </p:txBody>
      </p:sp>
      <p:sp>
        <p:nvSpPr>
          <p:cNvPr id="10" name="Text 8"/>
          <p:cNvSpPr/>
          <p:nvPr/>
        </p:nvSpPr>
        <p:spPr>
          <a:xfrm>
            <a:off x="722376" y="2057400"/>
            <a:ext cx="5321808" cy="143560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void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change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100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only the copy changes</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change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still 5</a:t>
            </a:r>
            <a:endParaRPr lang="en-US" sz="1250" dirty="0"/>
          </a:p>
        </p:txBody>
      </p:sp>
      <p:sp>
        <p:nvSpPr>
          <p:cNvPr id="11" name="Shape 9"/>
          <p:cNvSpPr/>
          <p:nvPr/>
        </p:nvSpPr>
        <p:spPr>
          <a:xfrm>
            <a:off x="502920" y="3794760"/>
            <a:ext cx="1554480" cy="640080"/>
          </a:xfrm>
          <a:prstGeom prst="rect">
            <a:avLst/>
          </a:prstGeom>
          <a:solidFill>
            <a:srgbClr val="FFFFFF"/>
          </a:solidFill>
          <a:ln w="15875">
            <a:solidFill>
              <a:srgbClr val="0B132B"/>
            </a:solidFill>
            <a:prstDash val="solid"/>
          </a:ln>
        </p:spPr>
      </p:sp>
      <p:sp>
        <p:nvSpPr>
          <p:cNvPr id="12" name="Text 10"/>
          <p:cNvSpPr/>
          <p:nvPr/>
        </p:nvSpPr>
        <p:spPr>
          <a:xfrm>
            <a:off x="502920" y="3794760"/>
            <a:ext cx="1554480" cy="640080"/>
          </a:xfrm>
          <a:prstGeom prst="rect">
            <a:avLst/>
          </a:prstGeom>
          <a:noFill/>
          <a:ln/>
        </p:spPr>
        <p:txBody>
          <a:bodyPr wrap="square" rtlCol="0" anchor="ctr"/>
          <a:lstStyle/>
          <a:p>
            <a:pPr algn="ctr" indent="0" marL="0">
              <a:buNone/>
            </a:pPr>
            <a:r>
              <a:rPr lang="en-US" sz="1500" b="1" dirty="0">
                <a:solidFill>
                  <a:srgbClr val="12172B"/>
                </a:solidFill>
                <a:latin typeface="Courier New" pitchFamily="34" charset="0"/>
                <a:ea typeface="Courier New" pitchFamily="34" charset="-122"/>
                <a:cs typeface="Courier New" pitchFamily="34" charset="-120"/>
              </a:rPr>
              <a:t>5</a:t>
            </a:r>
            <a:endParaRPr lang="en-US" sz="1500" dirty="0"/>
          </a:p>
        </p:txBody>
      </p:sp>
      <p:sp>
        <p:nvSpPr>
          <p:cNvPr id="13" name="Text 11"/>
          <p:cNvSpPr/>
          <p:nvPr/>
        </p:nvSpPr>
        <p:spPr>
          <a:xfrm>
            <a:off x="502920" y="4471416"/>
            <a:ext cx="155448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a (caller)</a:t>
            </a:r>
            <a:endParaRPr lang="en-US" sz="950" dirty="0"/>
          </a:p>
        </p:txBody>
      </p:sp>
      <p:sp>
        <p:nvSpPr>
          <p:cNvPr id="14" name="Shape 12"/>
          <p:cNvSpPr/>
          <p:nvPr/>
        </p:nvSpPr>
        <p:spPr>
          <a:xfrm>
            <a:off x="2167128" y="3794760"/>
            <a:ext cx="1554480" cy="640080"/>
          </a:xfrm>
          <a:prstGeom prst="rect">
            <a:avLst/>
          </a:prstGeom>
          <a:solidFill>
            <a:srgbClr val="FFFFFF"/>
          </a:solidFill>
          <a:ln w="15875">
            <a:solidFill>
              <a:srgbClr val="0B132B"/>
            </a:solidFill>
            <a:prstDash val="solid"/>
          </a:ln>
        </p:spPr>
      </p:sp>
      <p:sp>
        <p:nvSpPr>
          <p:cNvPr id="15" name="Text 13"/>
          <p:cNvSpPr/>
          <p:nvPr/>
        </p:nvSpPr>
        <p:spPr>
          <a:xfrm>
            <a:off x="2167128" y="3794760"/>
            <a:ext cx="1554480" cy="640080"/>
          </a:xfrm>
          <a:prstGeom prst="rect">
            <a:avLst/>
          </a:prstGeom>
          <a:noFill/>
          <a:ln/>
        </p:spPr>
        <p:txBody>
          <a:bodyPr wrap="square" rtlCol="0" anchor="ctr"/>
          <a:lstStyle/>
          <a:p>
            <a:pPr algn="ctr" indent="0" marL="0">
              <a:buNone/>
            </a:pPr>
            <a:r>
              <a:rPr lang="en-US" sz="1500" b="1" dirty="0">
                <a:solidFill>
                  <a:srgbClr val="12172B"/>
                </a:solidFill>
                <a:latin typeface="Courier New" pitchFamily="34" charset="0"/>
                <a:ea typeface="Courier New" pitchFamily="34" charset="-122"/>
                <a:cs typeface="Courier New" pitchFamily="34" charset="-120"/>
              </a:rPr>
              <a:t>100</a:t>
            </a:r>
            <a:endParaRPr lang="en-US" sz="1500" dirty="0"/>
          </a:p>
        </p:txBody>
      </p:sp>
      <p:sp>
        <p:nvSpPr>
          <p:cNvPr id="16" name="Text 14"/>
          <p:cNvSpPr/>
          <p:nvPr/>
        </p:nvSpPr>
        <p:spPr>
          <a:xfrm>
            <a:off x="2167128" y="4471416"/>
            <a:ext cx="155448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x (copy)</a:t>
            </a:r>
            <a:endParaRPr lang="en-US" sz="950" dirty="0"/>
          </a:p>
        </p:txBody>
      </p:sp>
      <p:sp>
        <p:nvSpPr>
          <p:cNvPr id="17" name="Text 15"/>
          <p:cNvSpPr/>
          <p:nvPr/>
        </p:nvSpPr>
        <p:spPr>
          <a:xfrm>
            <a:off x="502920" y="4773168"/>
            <a:ext cx="5760720" cy="274320"/>
          </a:xfrm>
          <a:prstGeom prst="rect">
            <a:avLst/>
          </a:prstGeom>
          <a:noFill/>
          <a:ln/>
        </p:spPr>
        <p:txBody>
          <a:bodyPr wrap="square" rtlCol="0" anchor="ctr"/>
          <a:lstStyle/>
          <a:p>
            <a:pPr indent="0" marL="0">
              <a:buNone/>
            </a:pPr>
            <a:r>
              <a:rPr lang="en-US" sz="950" i="1" dirty="0">
                <a:solidFill>
                  <a:srgbClr val="545C7E"/>
                </a:solidFill>
                <a:latin typeface="Calibri" pitchFamily="34" charset="0"/>
                <a:ea typeface="Calibri" pitchFamily="34" charset="-122"/>
                <a:cs typeface="Calibri" pitchFamily="34" charset="-120"/>
              </a:rPr>
              <a:t>Separate boxes — changing x never touches a</a:t>
            </a:r>
            <a:endParaRPr lang="en-US" sz="950" dirty="0"/>
          </a:p>
        </p:txBody>
      </p:sp>
      <p:sp>
        <p:nvSpPr>
          <p:cNvPr id="18" name="Shape 16"/>
          <p:cNvSpPr/>
          <p:nvPr/>
        </p:nvSpPr>
        <p:spPr>
          <a:xfrm>
            <a:off x="6903720" y="1645920"/>
            <a:ext cx="4800600" cy="1965960"/>
          </a:xfrm>
          <a:prstGeom prst="roundRect">
            <a:avLst>
              <a:gd name="adj" fmla="val 41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9" name="Shape 17"/>
          <p:cNvSpPr/>
          <p:nvPr/>
        </p:nvSpPr>
        <p:spPr>
          <a:xfrm>
            <a:off x="6903720" y="1645920"/>
            <a:ext cx="4800600" cy="292608"/>
          </a:xfrm>
          <a:prstGeom prst="rect">
            <a:avLst/>
          </a:prstGeom>
          <a:solidFill>
            <a:srgbClr val="141B33"/>
          </a:solidFill>
          <a:ln/>
        </p:spPr>
      </p:sp>
      <p:sp>
        <p:nvSpPr>
          <p:cNvPr id="20" name="Shape 18"/>
          <p:cNvSpPr/>
          <p:nvPr/>
        </p:nvSpPr>
        <p:spPr>
          <a:xfrm>
            <a:off x="7050024" y="1737360"/>
            <a:ext cx="109728" cy="109728"/>
          </a:xfrm>
          <a:prstGeom prst="ellipse">
            <a:avLst/>
          </a:prstGeom>
          <a:solidFill>
            <a:srgbClr val="FF6B6B"/>
          </a:solidFill>
          <a:ln/>
        </p:spPr>
      </p:sp>
      <p:sp>
        <p:nvSpPr>
          <p:cNvPr id="21" name="Shape 19"/>
          <p:cNvSpPr/>
          <p:nvPr/>
        </p:nvSpPr>
        <p:spPr>
          <a:xfrm>
            <a:off x="7223760" y="1737360"/>
            <a:ext cx="109728" cy="109728"/>
          </a:xfrm>
          <a:prstGeom prst="ellipse">
            <a:avLst/>
          </a:prstGeom>
          <a:solidFill>
            <a:srgbClr val="FFD166"/>
          </a:solidFill>
          <a:ln/>
        </p:spPr>
      </p:sp>
      <p:sp>
        <p:nvSpPr>
          <p:cNvPr id="22" name="Shape 20"/>
          <p:cNvSpPr/>
          <p:nvPr/>
        </p:nvSpPr>
        <p:spPr>
          <a:xfrm>
            <a:off x="7397496" y="1737360"/>
            <a:ext cx="109728" cy="109728"/>
          </a:xfrm>
          <a:prstGeom prst="ellipse">
            <a:avLst/>
          </a:prstGeom>
          <a:solidFill>
            <a:srgbClr val="2FD8A2"/>
          </a:solidFill>
          <a:ln/>
        </p:spPr>
      </p:sp>
      <p:sp>
        <p:nvSpPr>
          <p:cNvPr id="23" name="Text 21"/>
          <p:cNvSpPr/>
          <p:nvPr/>
        </p:nvSpPr>
        <p:spPr>
          <a:xfrm>
            <a:off x="6903720" y="164592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pass by reference</a:t>
            </a:r>
            <a:endParaRPr lang="en-US" sz="1000" dirty="0"/>
          </a:p>
        </p:txBody>
      </p:sp>
      <p:sp>
        <p:nvSpPr>
          <p:cNvPr id="24" name="Text 22"/>
          <p:cNvSpPr/>
          <p:nvPr/>
        </p:nvSpPr>
        <p:spPr>
          <a:xfrm>
            <a:off x="7123176" y="2057400"/>
            <a:ext cx="4361688" cy="143560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void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change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&amp;</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100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the original changes</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change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now 100</a:t>
            </a:r>
            <a:endParaRPr lang="en-US" sz="1250" dirty="0"/>
          </a:p>
        </p:txBody>
      </p:sp>
      <p:sp>
        <p:nvSpPr>
          <p:cNvPr id="25" name="Shape 23"/>
          <p:cNvSpPr/>
          <p:nvPr/>
        </p:nvSpPr>
        <p:spPr>
          <a:xfrm>
            <a:off x="6903720" y="3794760"/>
            <a:ext cx="2743200" cy="640080"/>
          </a:xfrm>
          <a:prstGeom prst="rect">
            <a:avLst/>
          </a:prstGeom>
          <a:solidFill>
            <a:srgbClr val="FFFFFF"/>
          </a:solidFill>
          <a:ln w="15875">
            <a:solidFill>
              <a:srgbClr val="0B132B"/>
            </a:solidFill>
            <a:prstDash val="solid"/>
          </a:ln>
        </p:spPr>
      </p:sp>
      <p:sp>
        <p:nvSpPr>
          <p:cNvPr id="26" name="Text 24"/>
          <p:cNvSpPr/>
          <p:nvPr/>
        </p:nvSpPr>
        <p:spPr>
          <a:xfrm>
            <a:off x="6903720" y="3794760"/>
            <a:ext cx="2743200" cy="640080"/>
          </a:xfrm>
          <a:prstGeom prst="rect">
            <a:avLst/>
          </a:prstGeom>
          <a:noFill/>
          <a:ln/>
        </p:spPr>
        <p:txBody>
          <a:bodyPr wrap="square" rtlCol="0" anchor="ctr"/>
          <a:lstStyle/>
          <a:p>
            <a:pPr algn="ctr" indent="0" marL="0">
              <a:buNone/>
            </a:pPr>
            <a:r>
              <a:rPr lang="en-US" sz="1500" b="1" dirty="0">
                <a:solidFill>
                  <a:srgbClr val="12172B"/>
                </a:solidFill>
                <a:latin typeface="Courier New" pitchFamily="34" charset="0"/>
                <a:ea typeface="Courier New" pitchFamily="34" charset="-122"/>
                <a:cs typeface="Courier New" pitchFamily="34" charset="-120"/>
              </a:rPr>
              <a:t>100</a:t>
            </a:r>
            <a:endParaRPr lang="en-US" sz="1500" dirty="0"/>
          </a:p>
        </p:txBody>
      </p:sp>
      <p:sp>
        <p:nvSpPr>
          <p:cNvPr id="27" name="Text 25"/>
          <p:cNvSpPr/>
          <p:nvPr/>
        </p:nvSpPr>
        <p:spPr>
          <a:xfrm>
            <a:off x="6903720" y="4471416"/>
            <a:ext cx="274320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a  ⟵  x (alias)</a:t>
            </a:r>
            <a:endParaRPr lang="en-US" sz="950" dirty="0"/>
          </a:p>
        </p:txBody>
      </p:sp>
      <p:sp>
        <p:nvSpPr>
          <p:cNvPr id="28" name="Text 26"/>
          <p:cNvSpPr/>
          <p:nvPr/>
        </p:nvSpPr>
        <p:spPr>
          <a:xfrm>
            <a:off x="6903720" y="4773168"/>
            <a:ext cx="4800600" cy="274320"/>
          </a:xfrm>
          <a:prstGeom prst="rect">
            <a:avLst/>
          </a:prstGeom>
          <a:noFill/>
          <a:ln/>
        </p:spPr>
        <p:txBody>
          <a:bodyPr wrap="square" rtlCol="0" anchor="ctr"/>
          <a:lstStyle/>
          <a:p>
            <a:pPr indent="0" marL="0">
              <a:buNone/>
            </a:pPr>
            <a:r>
              <a:rPr lang="en-US" sz="950" i="1" dirty="0">
                <a:solidFill>
                  <a:srgbClr val="545C7E"/>
                </a:solidFill>
                <a:latin typeface="Calibri" pitchFamily="34" charset="0"/>
                <a:ea typeface="Calibri" pitchFamily="34" charset="-122"/>
                <a:cs typeface="Calibri" pitchFamily="34" charset="-120"/>
              </a:rPr>
              <a:t>One box, two names — x refers directly to a</a:t>
            </a:r>
            <a:endParaRPr lang="en-US" sz="950" dirty="0"/>
          </a:p>
        </p:txBody>
      </p:sp>
      <p:sp>
        <p:nvSpPr>
          <p:cNvPr id="29" name="Shape 27"/>
          <p:cNvSpPr/>
          <p:nvPr/>
        </p:nvSpPr>
        <p:spPr>
          <a:xfrm>
            <a:off x="502920" y="5074920"/>
            <a:ext cx="11201400" cy="1188720"/>
          </a:xfrm>
          <a:prstGeom prst="roundRect">
            <a:avLst>
              <a:gd name="adj" fmla="val 6154"/>
            </a:avLst>
          </a:prstGeom>
          <a:solidFill>
            <a:srgbClr val="EAFBF4"/>
          </a:solidFill>
          <a:ln w="12700">
            <a:solidFill>
              <a:srgbClr val="16A67C"/>
            </a:solidFill>
            <a:prstDash val="solid"/>
          </a:ln>
        </p:spPr>
      </p:sp>
      <p:sp>
        <p:nvSpPr>
          <p:cNvPr id="30" name="Text 28"/>
          <p:cNvSpPr/>
          <p:nvPr/>
        </p:nvSpPr>
        <p:spPr>
          <a:xfrm>
            <a:off x="685800" y="5157216"/>
            <a:ext cx="108356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Why this matters for DSA</a:t>
            </a:r>
            <a:endParaRPr lang="en-US" sz="1050" dirty="0"/>
          </a:p>
        </p:txBody>
      </p:sp>
      <p:sp>
        <p:nvSpPr>
          <p:cNvPr id="31" name="Text 29"/>
          <p:cNvSpPr/>
          <p:nvPr/>
        </p:nvSpPr>
        <p:spPr>
          <a:xfrm>
            <a:off x="685800" y="5422392"/>
            <a:ext cx="10835640" cy="7498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References let a function modify the caller's data directly, and let large containers like vectors be passed without copying every element — critical once your inputs get big.</a:t>
            </a:r>
            <a:endParaRPr lang="en-US" sz="1100" dirty="0"/>
          </a:p>
        </p:txBody>
      </p:sp>
      <p:sp>
        <p:nvSpPr>
          <p:cNvPr id="33" name="Text 30"/>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4" name="Text 31"/>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const References — Read Without Copying</a:t>
            </a:r>
            <a:endParaRPr lang="en-US" sz="2800" dirty="0"/>
          </a:p>
        </p:txBody>
      </p:sp>
      <p:sp>
        <p:nvSpPr>
          <p:cNvPr id="4" name="Shape 2"/>
          <p:cNvSpPr/>
          <p:nvPr/>
        </p:nvSpPr>
        <p:spPr>
          <a:xfrm>
            <a:off x="502920" y="1691640"/>
            <a:ext cx="5760720" cy="2103120"/>
          </a:xfrm>
          <a:prstGeom prst="roundRect">
            <a:avLst>
              <a:gd name="adj" fmla="val 391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91640"/>
            <a:ext cx="5760720" cy="292608"/>
          </a:xfrm>
          <a:prstGeom prst="rect">
            <a:avLst/>
          </a:prstGeom>
          <a:solidFill>
            <a:srgbClr val="141B33"/>
          </a:solidFill>
          <a:ln/>
        </p:spPr>
      </p:sp>
      <p:sp>
        <p:nvSpPr>
          <p:cNvPr id="6" name="Shape 4"/>
          <p:cNvSpPr/>
          <p:nvPr/>
        </p:nvSpPr>
        <p:spPr>
          <a:xfrm>
            <a:off x="649224" y="1783080"/>
            <a:ext cx="109728" cy="109728"/>
          </a:xfrm>
          <a:prstGeom prst="ellipse">
            <a:avLst/>
          </a:prstGeom>
          <a:solidFill>
            <a:srgbClr val="FF6B6B"/>
          </a:solidFill>
          <a:ln/>
        </p:spPr>
      </p:sp>
      <p:sp>
        <p:nvSpPr>
          <p:cNvPr id="7" name="Shape 5"/>
          <p:cNvSpPr/>
          <p:nvPr/>
        </p:nvSpPr>
        <p:spPr>
          <a:xfrm>
            <a:off x="822960" y="1783080"/>
            <a:ext cx="109728" cy="109728"/>
          </a:xfrm>
          <a:prstGeom prst="ellipse">
            <a:avLst/>
          </a:prstGeom>
          <a:solidFill>
            <a:srgbClr val="FFD166"/>
          </a:solidFill>
          <a:ln/>
        </p:spPr>
      </p:sp>
      <p:sp>
        <p:nvSpPr>
          <p:cNvPr id="8" name="Shape 6"/>
          <p:cNvSpPr/>
          <p:nvPr/>
        </p:nvSpPr>
        <p:spPr>
          <a:xfrm>
            <a:off x="996696" y="1783080"/>
            <a:ext cx="109728" cy="109728"/>
          </a:xfrm>
          <a:prstGeom prst="ellipse">
            <a:avLst/>
          </a:prstGeom>
          <a:solidFill>
            <a:srgbClr val="2FD8A2"/>
          </a:solidFill>
          <a:ln/>
        </p:spPr>
      </p:sp>
      <p:sp>
        <p:nvSpPr>
          <p:cNvPr id="9" name="Text 7"/>
          <p:cNvSpPr/>
          <p:nvPr/>
        </p:nvSpPr>
        <p:spPr>
          <a:xfrm>
            <a:off x="502920" y="1691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const int&amp;</a:t>
            </a:r>
            <a:endParaRPr lang="en-US" sz="1000" dirty="0"/>
          </a:p>
        </p:txBody>
      </p:sp>
      <p:sp>
        <p:nvSpPr>
          <p:cNvPr id="10" name="Text 8"/>
          <p:cNvSpPr/>
          <p:nvPr/>
        </p:nvSpPr>
        <p:spPr>
          <a:xfrm>
            <a:off x="722376" y="2103120"/>
            <a:ext cx="5321808" cy="157276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void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printValue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7FB2FF"/>
                </a:solidFill>
                <a:latin typeface="Courier New" pitchFamily="34" charset="0"/>
                <a:ea typeface="Courier New" pitchFamily="34" charset="-122"/>
                <a:cs typeface="Courier New" pitchFamily="34" charset="-120"/>
              </a:rPr>
              <a:t>const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&amp;</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value = 10;  // ✕ compiler error — read-only</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502920" y="4069080"/>
            <a:ext cx="146304" cy="146304"/>
          </a:xfrm>
          <a:prstGeom prst="ellipse">
            <a:avLst/>
          </a:prstGeom>
          <a:solidFill>
            <a:srgbClr val="2FD8A2"/>
          </a:solidFill>
          <a:ln/>
        </p:spPr>
      </p:sp>
      <p:sp>
        <p:nvSpPr>
          <p:cNvPr id="12" name="Text 10"/>
          <p:cNvSpPr/>
          <p:nvPr/>
        </p:nvSpPr>
        <p:spPr>
          <a:xfrm>
            <a:off x="795528" y="3968496"/>
            <a:ext cx="546811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Avoid unnecessary copying</a:t>
            </a:r>
            <a:endParaRPr lang="en-US" sz="1250" dirty="0"/>
          </a:p>
        </p:txBody>
      </p:sp>
      <p:sp>
        <p:nvSpPr>
          <p:cNvPr id="13" name="Text 11"/>
          <p:cNvSpPr/>
          <p:nvPr/>
        </p:nvSpPr>
        <p:spPr>
          <a:xfrm>
            <a:off x="795528" y="4224528"/>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Large objects (strings, vectors) are referenced, not duplicated, on every call.</a:t>
            </a:r>
            <a:endParaRPr lang="en-US" sz="1050" dirty="0"/>
          </a:p>
        </p:txBody>
      </p:sp>
      <p:sp>
        <p:nvSpPr>
          <p:cNvPr id="14" name="Shape 12"/>
          <p:cNvSpPr/>
          <p:nvPr/>
        </p:nvSpPr>
        <p:spPr>
          <a:xfrm>
            <a:off x="502920" y="4636008"/>
            <a:ext cx="146304" cy="146304"/>
          </a:xfrm>
          <a:prstGeom prst="ellipse">
            <a:avLst/>
          </a:prstGeom>
          <a:solidFill>
            <a:srgbClr val="2FD8A2"/>
          </a:solidFill>
          <a:ln/>
        </p:spPr>
      </p:sp>
      <p:sp>
        <p:nvSpPr>
          <p:cNvPr id="15" name="Text 13"/>
          <p:cNvSpPr/>
          <p:nvPr/>
        </p:nvSpPr>
        <p:spPr>
          <a:xfrm>
            <a:off x="795528" y="4535424"/>
            <a:ext cx="546811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Allow modification when intended</a:t>
            </a:r>
            <a:endParaRPr lang="en-US" sz="1250" dirty="0"/>
          </a:p>
        </p:txBody>
      </p:sp>
      <p:sp>
        <p:nvSpPr>
          <p:cNvPr id="16" name="Text 14"/>
          <p:cNvSpPr/>
          <p:nvPr/>
        </p:nvSpPr>
        <p:spPr>
          <a:xfrm>
            <a:off x="795528" y="4791456"/>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Plain int&amp; lets a function change the caller's original value.</a:t>
            </a:r>
            <a:endParaRPr lang="en-US" sz="1050" dirty="0"/>
          </a:p>
        </p:txBody>
      </p:sp>
      <p:sp>
        <p:nvSpPr>
          <p:cNvPr id="17" name="Shape 15"/>
          <p:cNvSpPr/>
          <p:nvPr/>
        </p:nvSpPr>
        <p:spPr>
          <a:xfrm>
            <a:off x="502920" y="5202936"/>
            <a:ext cx="146304" cy="146304"/>
          </a:xfrm>
          <a:prstGeom prst="ellipse">
            <a:avLst/>
          </a:prstGeom>
          <a:solidFill>
            <a:srgbClr val="2FD8A2"/>
          </a:solidFill>
          <a:ln/>
        </p:spPr>
      </p:sp>
      <p:sp>
        <p:nvSpPr>
          <p:cNvPr id="18" name="Text 16"/>
          <p:cNvSpPr/>
          <p:nvPr/>
        </p:nvSpPr>
        <p:spPr>
          <a:xfrm>
            <a:off x="795528" y="5102352"/>
            <a:ext cx="5468112" cy="274320"/>
          </a:xfrm>
          <a:prstGeom prst="rect">
            <a:avLst/>
          </a:prstGeom>
          <a:noFill/>
          <a:ln/>
        </p:spPr>
        <p:txBody>
          <a:bodyPr wrap="square" rtlCol="0" anchor="ctr"/>
          <a:lstStyle/>
          <a:p>
            <a:pPr indent="0" marL="0">
              <a:buNone/>
            </a:pPr>
            <a:r>
              <a:rPr lang="en-US" sz="1250" b="1" dirty="0">
                <a:solidFill>
                  <a:srgbClr val="12172B"/>
                </a:solidFill>
                <a:latin typeface="Calibri" pitchFamily="34" charset="0"/>
                <a:ea typeface="Calibri" pitchFamily="34" charset="-122"/>
                <a:cs typeface="Calibri" pitchFamily="34" charset="-120"/>
              </a:rPr>
              <a:t>Prevent accidental modification</a:t>
            </a:r>
            <a:endParaRPr lang="en-US" sz="1250" dirty="0"/>
          </a:p>
        </p:txBody>
      </p:sp>
      <p:sp>
        <p:nvSpPr>
          <p:cNvPr id="19" name="Text 17"/>
          <p:cNvSpPr/>
          <p:nvPr/>
        </p:nvSpPr>
        <p:spPr>
          <a:xfrm>
            <a:off x="795528" y="5358384"/>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const int&amp; documents “I only read this” and the compiler enforces it.</a:t>
            </a:r>
            <a:endParaRPr lang="en-US" sz="1050" dirty="0"/>
          </a:p>
        </p:txBody>
      </p:sp>
      <p:sp>
        <p:nvSpPr>
          <p:cNvPr id="20" name="Shape 18"/>
          <p:cNvSpPr/>
          <p:nvPr/>
        </p:nvSpPr>
        <p:spPr>
          <a:xfrm>
            <a:off x="6903720" y="1691640"/>
            <a:ext cx="4800600" cy="2103120"/>
          </a:xfrm>
          <a:prstGeom prst="roundRect">
            <a:avLst>
              <a:gd name="adj" fmla="val 391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1" name="Shape 19"/>
          <p:cNvSpPr/>
          <p:nvPr/>
        </p:nvSpPr>
        <p:spPr>
          <a:xfrm>
            <a:off x="6903720" y="1691640"/>
            <a:ext cx="4800600" cy="292608"/>
          </a:xfrm>
          <a:prstGeom prst="rect">
            <a:avLst/>
          </a:prstGeom>
          <a:solidFill>
            <a:srgbClr val="141B33"/>
          </a:solidFill>
          <a:ln/>
        </p:spPr>
      </p:sp>
      <p:sp>
        <p:nvSpPr>
          <p:cNvPr id="22" name="Shape 20"/>
          <p:cNvSpPr/>
          <p:nvPr/>
        </p:nvSpPr>
        <p:spPr>
          <a:xfrm>
            <a:off x="7050024" y="1783080"/>
            <a:ext cx="109728" cy="109728"/>
          </a:xfrm>
          <a:prstGeom prst="ellipse">
            <a:avLst/>
          </a:prstGeom>
          <a:solidFill>
            <a:srgbClr val="FF6B6B"/>
          </a:solidFill>
          <a:ln/>
        </p:spPr>
      </p:sp>
      <p:sp>
        <p:nvSpPr>
          <p:cNvPr id="23" name="Shape 21"/>
          <p:cNvSpPr/>
          <p:nvPr/>
        </p:nvSpPr>
        <p:spPr>
          <a:xfrm>
            <a:off x="7223760" y="1783080"/>
            <a:ext cx="109728" cy="109728"/>
          </a:xfrm>
          <a:prstGeom prst="ellipse">
            <a:avLst/>
          </a:prstGeom>
          <a:solidFill>
            <a:srgbClr val="FFD166"/>
          </a:solidFill>
          <a:ln/>
        </p:spPr>
      </p:sp>
      <p:sp>
        <p:nvSpPr>
          <p:cNvPr id="24" name="Shape 22"/>
          <p:cNvSpPr/>
          <p:nvPr/>
        </p:nvSpPr>
        <p:spPr>
          <a:xfrm>
            <a:off x="7397496" y="1783080"/>
            <a:ext cx="109728" cy="109728"/>
          </a:xfrm>
          <a:prstGeom prst="ellipse">
            <a:avLst/>
          </a:prstGeom>
          <a:solidFill>
            <a:srgbClr val="2FD8A2"/>
          </a:solidFill>
          <a:ln/>
        </p:spPr>
      </p:sp>
      <p:sp>
        <p:nvSpPr>
          <p:cNvPr id="25" name="Text 23"/>
          <p:cNvSpPr/>
          <p:nvPr/>
        </p:nvSpPr>
        <p:spPr>
          <a:xfrm>
            <a:off x="6903720" y="1691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the pattern you'll use constantly</a:t>
            </a:r>
            <a:endParaRPr lang="en-US" sz="1000" dirty="0"/>
          </a:p>
        </p:txBody>
      </p:sp>
      <p:sp>
        <p:nvSpPr>
          <p:cNvPr id="26" name="Text 24"/>
          <p:cNvSpPr/>
          <p:nvPr/>
        </p:nvSpPr>
        <p:spPr>
          <a:xfrm>
            <a:off x="7123176" y="2103120"/>
            <a:ext cx="4361688" cy="157276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void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printVector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7FB2FF"/>
                </a:solidFill>
                <a:latin typeface="Courier New" pitchFamily="34" charset="0"/>
                <a:ea typeface="Courier New" pitchFamily="34" charset="-122"/>
                <a:cs typeface="Courier New" pitchFamily="34" charset="-120"/>
              </a:rPr>
              <a:t>const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vector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&gt;&amp;</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v</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v</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27" name="Shape 25"/>
          <p:cNvSpPr/>
          <p:nvPr/>
        </p:nvSpPr>
        <p:spPr>
          <a:xfrm>
            <a:off x="6903720" y="4023360"/>
            <a:ext cx="4800600" cy="2286000"/>
          </a:xfrm>
          <a:prstGeom prst="roundRect">
            <a:avLst>
              <a:gd name="adj" fmla="val 3200"/>
            </a:avLst>
          </a:prstGeom>
          <a:solidFill>
            <a:srgbClr val="FFF6E4"/>
          </a:solidFill>
          <a:ln w="12700">
            <a:solidFill>
              <a:srgbClr val="E08A00"/>
            </a:solidFill>
            <a:prstDash val="solid"/>
          </a:ln>
        </p:spPr>
      </p:sp>
      <p:sp>
        <p:nvSpPr>
          <p:cNvPr id="28" name="Text 26"/>
          <p:cNvSpPr/>
          <p:nvPr/>
        </p:nvSpPr>
        <p:spPr>
          <a:xfrm>
            <a:off x="7086600" y="410565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Rule of thumb</a:t>
            </a:r>
            <a:endParaRPr lang="en-US" sz="1050" dirty="0"/>
          </a:p>
        </p:txBody>
      </p:sp>
      <p:sp>
        <p:nvSpPr>
          <p:cNvPr id="29" name="Text 27"/>
          <p:cNvSpPr/>
          <p:nvPr/>
        </p:nvSpPr>
        <p:spPr>
          <a:xfrm>
            <a:off x="7086600" y="4370832"/>
            <a:ext cx="4434840" cy="184708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Pass small types (int, char, bool) by value. Pass larger types (string, vector, pair) by const reference when you only read them, and by plain reference when you need to modify them.</a:t>
            </a:r>
            <a:endParaRPr lang="en-US" sz="1100" dirty="0"/>
          </a:p>
        </p:txBody>
      </p:sp>
      <p:sp>
        <p:nvSpPr>
          <p:cNvPr id="31" name="Text 2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2" name="Text 2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17</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Function Overloading &amp; Default Arguments</a:t>
            </a:r>
            <a:endParaRPr lang="en-US" sz="2800" dirty="0"/>
          </a:p>
        </p:txBody>
      </p:sp>
      <p:sp>
        <p:nvSpPr>
          <p:cNvPr id="4" name="Shape 2"/>
          <p:cNvSpPr/>
          <p:nvPr/>
        </p:nvSpPr>
        <p:spPr>
          <a:xfrm>
            <a:off x="502920" y="1691640"/>
            <a:ext cx="5760720" cy="2834640"/>
          </a:xfrm>
          <a:prstGeom prst="roundRect">
            <a:avLst>
              <a:gd name="adj" fmla="val 290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91640"/>
            <a:ext cx="5760720" cy="292608"/>
          </a:xfrm>
          <a:prstGeom prst="rect">
            <a:avLst/>
          </a:prstGeom>
          <a:solidFill>
            <a:srgbClr val="141B33"/>
          </a:solidFill>
          <a:ln/>
        </p:spPr>
      </p:sp>
      <p:sp>
        <p:nvSpPr>
          <p:cNvPr id="6" name="Shape 4"/>
          <p:cNvSpPr/>
          <p:nvPr/>
        </p:nvSpPr>
        <p:spPr>
          <a:xfrm>
            <a:off x="649224" y="1783080"/>
            <a:ext cx="109728" cy="109728"/>
          </a:xfrm>
          <a:prstGeom prst="ellipse">
            <a:avLst/>
          </a:prstGeom>
          <a:solidFill>
            <a:srgbClr val="FF6B6B"/>
          </a:solidFill>
          <a:ln/>
        </p:spPr>
      </p:sp>
      <p:sp>
        <p:nvSpPr>
          <p:cNvPr id="7" name="Shape 5"/>
          <p:cNvSpPr/>
          <p:nvPr/>
        </p:nvSpPr>
        <p:spPr>
          <a:xfrm>
            <a:off x="822960" y="1783080"/>
            <a:ext cx="109728" cy="109728"/>
          </a:xfrm>
          <a:prstGeom prst="ellipse">
            <a:avLst/>
          </a:prstGeom>
          <a:solidFill>
            <a:srgbClr val="FFD166"/>
          </a:solidFill>
          <a:ln/>
        </p:spPr>
      </p:sp>
      <p:sp>
        <p:nvSpPr>
          <p:cNvPr id="8" name="Shape 6"/>
          <p:cNvSpPr/>
          <p:nvPr/>
        </p:nvSpPr>
        <p:spPr>
          <a:xfrm>
            <a:off x="996696" y="1783080"/>
            <a:ext cx="109728" cy="109728"/>
          </a:xfrm>
          <a:prstGeom prst="ellipse">
            <a:avLst/>
          </a:prstGeom>
          <a:solidFill>
            <a:srgbClr val="2FD8A2"/>
          </a:solidFill>
          <a:ln/>
        </p:spPr>
      </p:sp>
      <p:sp>
        <p:nvSpPr>
          <p:cNvPr id="9" name="Text 7"/>
          <p:cNvSpPr/>
          <p:nvPr/>
        </p:nvSpPr>
        <p:spPr>
          <a:xfrm>
            <a:off x="502920" y="16916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overloading</a:t>
            </a:r>
            <a:endParaRPr lang="en-US" sz="1000" dirty="0"/>
          </a:p>
        </p:txBody>
      </p:sp>
      <p:sp>
        <p:nvSpPr>
          <p:cNvPr id="10" name="Text 8"/>
          <p:cNvSpPr/>
          <p:nvPr/>
        </p:nvSpPr>
        <p:spPr>
          <a:xfrm>
            <a:off x="722376" y="2103120"/>
            <a:ext cx="5321808" cy="230428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add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add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double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The compiler picks the right one</a:t>
            </a:r>
            <a:endParaRPr lang="en-US" sz="1250" dirty="0"/>
          </a:p>
          <a:p>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based on argument types.</a:t>
            </a:r>
            <a:endParaRPr lang="en-US" sz="1250" dirty="0"/>
          </a:p>
        </p:txBody>
      </p:sp>
      <p:sp>
        <p:nvSpPr>
          <p:cNvPr id="11" name="Shape 9"/>
          <p:cNvSpPr/>
          <p:nvPr/>
        </p:nvSpPr>
        <p:spPr>
          <a:xfrm>
            <a:off x="6903720" y="1691640"/>
            <a:ext cx="4800600" cy="2103120"/>
          </a:xfrm>
          <a:prstGeom prst="roundRect">
            <a:avLst>
              <a:gd name="adj" fmla="val 391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2" name="Shape 10"/>
          <p:cNvSpPr/>
          <p:nvPr/>
        </p:nvSpPr>
        <p:spPr>
          <a:xfrm>
            <a:off x="6903720" y="1691640"/>
            <a:ext cx="4800600" cy="292608"/>
          </a:xfrm>
          <a:prstGeom prst="rect">
            <a:avLst/>
          </a:prstGeom>
          <a:solidFill>
            <a:srgbClr val="141B33"/>
          </a:solidFill>
          <a:ln/>
        </p:spPr>
      </p:sp>
      <p:sp>
        <p:nvSpPr>
          <p:cNvPr id="13" name="Shape 11"/>
          <p:cNvSpPr/>
          <p:nvPr/>
        </p:nvSpPr>
        <p:spPr>
          <a:xfrm>
            <a:off x="7050024" y="1783080"/>
            <a:ext cx="109728" cy="109728"/>
          </a:xfrm>
          <a:prstGeom prst="ellipse">
            <a:avLst/>
          </a:prstGeom>
          <a:solidFill>
            <a:srgbClr val="FF6B6B"/>
          </a:solidFill>
          <a:ln/>
        </p:spPr>
      </p:sp>
      <p:sp>
        <p:nvSpPr>
          <p:cNvPr id="14" name="Shape 12"/>
          <p:cNvSpPr/>
          <p:nvPr/>
        </p:nvSpPr>
        <p:spPr>
          <a:xfrm>
            <a:off x="7223760" y="1783080"/>
            <a:ext cx="109728" cy="109728"/>
          </a:xfrm>
          <a:prstGeom prst="ellipse">
            <a:avLst/>
          </a:prstGeom>
          <a:solidFill>
            <a:srgbClr val="FFD166"/>
          </a:solidFill>
          <a:ln/>
        </p:spPr>
      </p:sp>
      <p:sp>
        <p:nvSpPr>
          <p:cNvPr id="15" name="Shape 13"/>
          <p:cNvSpPr/>
          <p:nvPr/>
        </p:nvSpPr>
        <p:spPr>
          <a:xfrm>
            <a:off x="7397496" y="1783080"/>
            <a:ext cx="109728" cy="109728"/>
          </a:xfrm>
          <a:prstGeom prst="ellipse">
            <a:avLst/>
          </a:prstGeom>
          <a:solidFill>
            <a:srgbClr val="2FD8A2"/>
          </a:solidFill>
          <a:ln/>
        </p:spPr>
      </p:sp>
      <p:sp>
        <p:nvSpPr>
          <p:cNvPr id="16" name="Text 14"/>
          <p:cNvSpPr/>
          <p:nvPr/>
        </p:nvSpPr>
        <p:spPr>
          <a:xfrm>
            <a:off x="6903720" y="169164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default arguments</a:t>
            </a:r>
            <a:endParaRPr lang="en-US" sz="1000" dirty="0"/>
          </a:p>
        </p:txBody>
      </p:sp>
      <p:sp>
        <p:nvSpPr>
          <p:cNvPr id="17" name="Text 15"/>
          <p:cNvSpPr/>
          <p:nvPr/>
        </p:nvSpPr>
        <p:spPr>
          <a:xfrm>
            <a:off x="7123176" y="2103120"/>
            <a:ext cx="4361688" cy="157276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void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greet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"Student"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"Hello,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greet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Hello, Student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greet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Farhaan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Hello, Farhaan</a:t>
            </a:r>
            <a:endParaRPr lang="en-US" sz="1250" dirty="0"/>
          </a:p>
        </p:txBody>
      </p:sp>
      <p:sp>
        <p:nvSpPr>
          <p:cNvPr id="18" name="Shape 16"/>
          <p:cNvSpPr/>
          <p:nvPr/>
        </p:nvSpPr>
        <p:spPr>
          <a:xfrm>
            <a:off x="502920" y="4800600"/>
            <a:ext cx="11201400" cy="1417320"/>
          </a:xfrm>
          <a:prstGeom prst="roundRect">
            <a:avLst>
              <a:gd name="adj" fmla="val 5161"/>
            </a:avLst>
          </a:prstGeom>
          <a:solidFill>
            <a:srgbClr val="EAFBF4"/>
          </a:solidFill>
          <a:ln w="12700">
            <a:solidFill>
              <a:srgbClr val="16A67C"/>
            </a:solidFill>
            <a:prstDash val="solid"/>
          </a:ln>
        </p:spPr>
      </p:sp>
      <p:sp>
        <p:nvSpPr>
          <p:cNvPr id="19" name="Text 17"/>
          <p:cNvSpPr/>
          <p:nvPr/>
        </p:nvSpPr>
        <p:spPr>
          <a:xfrm>
            <a:off x="685800" y="4882896"/>
            <a:ext cx="108356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Keep it simple for now</a:t>
            </a:r>
            <a:endParaRPr lang="en-US" sz="1050" dirty="0"/>
          </a:p>
        </p:txBody>
      </p:sp>
      <p:sp>
        <p:nvSpPr>
          <p:cNvPr id="20" name="Text 18"/>
          <p:cNvSpPr/>
          <p:nvPr/>
        </p:nvSpPr>
        <p:spPr>
          <a:xfrm>
            <a:off x="685800" y="5148072"/>
            <a:ext cx="10835640" cy="9784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Overloading and default arguments are used constantly in the STL you'll rely on later — recognising them here means they won't feel unfamiliar when you meet sort() with two or three arguments.</a:t>
            </a:r>
            <a:endParaRPr lang="en-US" sz="1100" dirty="0"/>
          </a:p>
        </p:txBody>
      </p:sp>
      <p:sp>
        <p:nvSpPr>
          <p:cNvPr id="22" name="Text 19"/>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3" name="Text 20"/>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DAY 4 OF 7</a:t>
            </a:r>
            <a:endParaRPr lang="en-US" sz="1200" dirty="0"/>
          </a:p>
        </p:txBody>
      </p:sp>
      <p:sp>
        <p:nvSpPr>
          <p:cNvPr id="3" name="Text 1"/>
          <p:cNvSpPr/>
          <p:nvPr/>
        </p:nvSpPr>
        <p:spPr>
          <a:xfrm>
            <a:off x="502920" y="1645920"/>
            <a:ext cx="107899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Arrays &amp; Matrices</a:t>
            </a:r>
            <a:endParaRPr lang="en-US" sz="3800" dirty="0"/>
          </a:p>
        </p:txBody>
      </p:sp>
      <p:sp>
        <p:nvSpPr>
          <p:cNvPr id="4" name="Text 2"/>
          <p:cNvSpPr/>
          <p:nvPr/>
        </p:nvSpPr>
        <p:spPr>
          <a:xfrm>
            <a:off x="502920" y="2880360"/>
            <a:ext cx="8778240" cy="777240"/>
          </a:xfrm>
          <a:prstGeom prst="rect">
            <a:avLst/>
          </a:prstGeom>
          <a:noFill/>
          <a:ln/>
        </p:spPr>
        <p:txBody>
          <a:bodyPr wrap="square" rtlCol="0" anchor="t"/>
          <a:lstStyle/>
          <a:p>
            <a:pPr indent="0" marL="0">
              <a:buNone/>
            </a:pPr>
            <a:r>
              <a:rPr lang="en-US" sz="1450" dirty="0">
                <a:solidFill>
                  <a:srgbClr val="C7CFE8"/>
                </a:solidFill>
                <a:latin typeface="Calibri" pitchFamily="34" charset="0"/>
                <a:ea typeface="Calibri" pitchFamily="34" charset="-122"/>
                <a:cs typeface="Calibri" pitchFamily="34" charset="-120"/>
              </a:rPr>
              <a:t>Arrays are the first real data structure you'll touch — fixed, ordered, indexable memory. Getting comfortable with indexing here makes strings, vectors, and 2D grids feel familiar rather than new.</a:t>
            </a:r>
            <a:endParaRPr lang="en-US" sz="1450" dirty="0"/>
          </a:p>
        </p:txBody>
      </p:sp>
      <p:sp>
        <p:nvSpPr>
          <p:cNvPr id="5" name="Shape 3"/>
          <p:cNvSpPr/>
          <p:nvPr/>
        </p:nvSpPr>
        <p:spPr>
          <a:xfrm>
            <a:off x="502920" y="3977640"/>
            <a:ext cx="1756562" cy="365760"/>
          </a:xfrm>
          <a:prstGeom prst="roundRect">
            <a:avLst>
              <a:gd name="adj" fmla="val 50000"/>
            </a:avLst>
          </a:prstGeom>
          <a:solidFill>
            <a:srgbClr val="16213E"/>
          </a:solidFill>
          <a:ln w="9525">
            <a:solidFill>
              <a:srgbClr val="2FD8A2"/>
            </a:solidFill>
            <a:prstDash val="solid"/>
          </a:ln>
        </p:spPr>
      </p:sp>
      <p:sp>
        <p:nvSpPr>
          <p:cNvPr id="6" name="Text 4"/>
          <p:cNvSpPr/>
          <p:nvPr/>
        </p:nvSpPr>
        <p:spPr>
          <a:xfrm>
            <a:off x="502920" y="3977640"/>
            <a:ext cx="175656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Fixed-size arrays</a:t>
            </a:r>
            <a:endParaRPr lang="en-US" sz="1050" dirty="0"/>
          </a:p>
        </p:txBody>
      </p:sp>
      <p:sp>
        <p:nvSpPr>
          <p:cNvPr id="7" name="Shape 5"/>
          <p:cNvSpPr/>
          <p:nvPr/>
        </p:nvSpPr>
        <p:spPr>
          <a:xfrm>
            <a:off x="2424074" y="3977640"/>
            <a:ext cx="991210" cy="365760"/>
          </a:xfrm>
          <a:prstGeom prst="roundRect">
            <a:avLst>
              <a:gd name="adj" fmla="val 50000"/>
            </a:avLst>
          </a:prstGeom>
          <a:solidFill>
            <a:srgbClr val="16213E"/>
          </a:solidFill>
          <a:ln w="9525">
            <a:solidFill>
              <a:srgbClr val="2FD8A2"/>
            </a:solidFill>
            <a:prstDash val="solid"/>
          </a:ln>
        </p:spPr>
      </p:sp>
      <p:sp>
        <p:nvSpPr>
          <p:cNvPr id="8" name="Text 6"/>
          <p:cNvSpPr/>
          <p:nvPr/>
        </p:nvSpPr>
        <p:spPr>
          <a:xfrm>
            <a:off x="2424074" y="3977640"/>
            <a:ext cx="991210"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Indexing</a:t>
            </a:r>
            <a:endParaRPr lang="en-US" sz="1050" dirty="0"/>
          </a:p>
        </p:txBody>
      </p:sp>
      <p:sp>
        <p:nvSpPr>
          <p:cNvPr id="9" name="Shape 7"/>
          <p:cNvSpPr/>
          <p:nvPr/>
        </p:nvSpPr>
        <p:spPr>
          <a:xfrm>
            <a:off x="3579876" y="3977640"/>
            <a:ext cx="1671523" cy="365760"/>
          </a:xfrm>
          <a:prstGeom prst="roundRect">
            <a:avLst>
              <a:gd name="adj" fmla="val 50000"/>
            </a:avLst>
          </a:prstGeom>
          <a:solidFill>
            <a:srgbClr val="16213E"/>
          </a:solidFill>
          <a:ln w="9525">
            <a:solidFill>
              <a:srgbClr val="2FD8A2"/>
            </a:solidFill>
            <a:prstDash val="solid"/>
          </a:ln>
        </p:spPr>
      </p:sp>
      <p:sp>
        <p:nvSpPr>
          <p:cNvPr id="10" name="Text 8"/>
          <p:cNvSpPr/>
          <p:nvPr/>
        </p:nvSpPr>
        <p:spPr>
          <a:xfrm>
            <a:off x="3579876" y="3977640"/>
            <a:ext cx="1671523"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Array operations</a:t>
            </a:r>
            <a:endParaRPr lang="en-US" sz="1050" dirty="0"/>
          </a:p>
        </p:txBody>
      </p:sp>
      <p:sp>
        <p:nvSpPr>
          <p:cNvPr id="11" name="Shape 9"/>
          <p:cNvSpPr/>
          <p:nvPr/>
        </p:nvSpPr>
        <p:spPr>
          <a:xfrm>
            <a:off x="5415991" y="3977640"/>
            <a:ext cx="1756562" cy="365760"/>
          </a:xfrm>
          <a:prstGeom prst="roundRect">
            <a:avLst>
              <a:gd name="adj" fmla="val 50000"/>
            </a:avLst>
          </a:prstGeom>
          <a:solidFill>
            <a:srgbClr val="16213E"/>
          </a:solidFill>
          <a:ln w="9525">
            <a:solidFill>
              <a:srgbClr val="2FD8A2"/>
            </a:solidFill>
            <a:prstDash val="solid"/>
          </a:ln>
        </p:spPr>
      </p:sp>
      <p:sp>
        <p:nvSpPr>
          <p:cNvPr id="12" name="Text 10"/>
          <p:cNvSpPr/>
          <p:nvPr/>
        </p:nvSpPr>
        <p:spPr>
          <a:xfrm>
            <a:off x="5415991" y="3977640"/>
            <a:ext cx="175656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Off-by-one errors</a:t>
            </a:r>
            <a:endParaRPr lang="en-US" sz="1050" dirty="0"/>
          </a:p>
        </p:txBody>
      </p:sp>
      <p:sp>
        <p:nvSpPr>
          <p:cNvPr id="13" name="Shape 11"/>
          <p:cNvSpPr/>
          <p:nvPr/>
        </p:nvSpPr>
        <p:spPr>
          <a:xfrm>
            <a:off x="7337146" y="3977640"/>
            <a:ext cx="2011680" cy="365760"/>
          </a:xfrm>
          <a:prstGeom prst="roundRect">
            <a:avLst>
              <a:gd name="adj" fmla="val 50000"/>
            </a:avLst>
          </a:prstGeom>
          <a:solidFill>
            <a:srgbClr val="16213E"/>
          </a:solidFill>
          <a:ln w="9525">
            <a:solidFill>
              <a:srgbClr val="2FD8A2"/>
            </a:solidFill>
            <a:prstDash val="solid"/>
          </a:ln>
        </p:spPr>
      </p:sp>
      <p:sp>
        <p:nvSpPr>
          <p:cNvPr id="14" name="Text 12"/>
          <p:cNvSpPr/>
          <p:nvPr/>
        </p:nvSpPr>
        <p:spPr>
          <a:xfrm>
            <a:off x="7337146" y="3977640"/>
            <a:ext cx="2011680"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2D arrays / matrices</a:t>
            </a:r>
            <a:endParaRPr lang="en-US" sz="1050" dirty="0"/>
          </a:p>
        </p:txBody>
      </p:sp>
      <p:sp>
        <p:nvSpPr>
          <p:cNvPr id="15" name="Shape 13"/>
          <p:cNvSpPr/>
          <p:nvPr/>
        </p:nvSpPr>
        <p:spPr>
          <a:xfrm>
            <a:off x="8945575" y="4892040"/>
            <a:ext cx="2743200" cy="1417320"/>
          </a:xfrm>
          <a:prstGeom prst="roundRect">
            <a:avLst>
              <a:gd name="adj" fmla="val 580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6" name="Shape 14"/>
          <p:cNvSpPr/>
          <p:nvPr/>
        </p:nvSpPr>
        <p:spPr>
          <a:xfrm>
            <a:off x="8945575" y="4892040"/>
            <a:ext cx="2743200" cy="292608"/>
          </a:xfrm>
          <a:prstGeom prst="rect">
            <a:avLst/>
          </a:prstGeom>
          <a:solidFill>
            <a:srgbClr val="141B33"/>
          </a:solidFill>
          <a:ln/>
        </p:spPr>
      </p:sp>
      <p:sp>
        <p:nvSpPr>
          <p:cNvPr id="17" name="Shape 15"/>
          <p:cNvSpPr/>
          <p:nvPr/>
        </p:nvSpPr>
        <p:spPr>
          <a:xfrm>
            <a:off x="9091879" y="4983480"/>
            <a:ext cx="109728" cy="109728"/>
          </a:xfrm>
          <a:prstGeom prst="ellipse">
            <a:avLst/>
          </a:prstGeom>
          <a:solidFill>
            <a:srgbClr val="FF6B6B"/>
          </a:solidFill>
          <a:ln/>
        </p:spPr>
      </p:sp>
      <p:sp>
        <p:nvSpPr>
          <p:cNvPr id="18" name="Shape 16"/>
          <p:cNvSpPr/>
          <p:nvPr/>
        </p:nvSpPr>
        <p:spPr>
          <a:xfrm>
            <a:off x="9265615" y="4983480"/>
            <a:ext cx="109728" cy="109728"/>
          </a:xfrm>
          <a:prstGeom prst="ellipse">
            <a:avLst/>
          </a:prstGeom>
          <a:solidFill>
            <a:srgbClr val="FFD166"/>
          </a:solidFill>
          <a:ln/>
        </p:spPr>
      </p:sp>
      <p:sp>
        <p:nvSpPr>
          <p:cNvPr id="19" name="Shape 17"/>
          <p:cNvSpPr/>
          <p:nvPr/>
        </p:nvSpPr>
        <p:spPr>
          <a:xfrm>
            <a:off x="9439351" y="4983480"/>
            <a:ext cx="109728" cy="109728"/>
          </a:xfrm>
          <a:prstGeom prst="ellipse">
            <a:avLst/>
          </a:prstGeom>
          <a:solidFill>
            <a:srgbClr val="2FD8A2"/>
          </a:solidFill>
          <a:ln/>
        </p:spPr>
      </p:sp>
      <p:sp>
        <p:nvSpPr>
          <p:cNvPr id="21" name="Text 1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2" name="Text 1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18</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Arrays — Indexing &amp; Memory Layout</a:t>
            </a:r>
            <a:endParaRPr lang="en-US" sz="2800" dirty="0"/>
          </a:p>
        </p:txBody>
      </p:sp>
      <p:sp>
        <p:nvSpPr>
          <p:cNvPr id="4" name="Shape 2"/>
          <p:cNvSpPr/>
          <p:nvPr/>
        </p:nvSpPr>
        <p:spPr>
          <a:xfrm>
            <a:off x="502920" y="1645920"/>
            <a:ext cx="5760720" cy="1783080"/>
          </a:xfrm>
          <a:prstGeom prst="roundRect">
            <a:avLst>
              <a:gd name="adj" fmla="val 4615"/>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declare &amp; initialise</a:t>
            </a:r>
            <a:endParaRPr lang="en-US" sz="1000" dirty="0"/>
          </a:p>
        </p:txBody>
      </p:sp>
      <p:sp>
        <p:nvSpPr>
          <p:cNvPr id="10" name="Text 8"/>
          <p:cNvSpPr/>
          <p:nvPr/>
        </p:nvSpPr>
        <p:spPr>
          <a:xfrm>
            <a:off x="722376" y="2057400"/>
            <a:ext cx="5321808" cy="125272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30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40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10 — first element</a:t>
            </a:r>
            <a:endParaRPr lang="en-US" sz="1300" dirty="0"/>
          </a:p>
        </p:txBody>
      </p:sp>
      <p:sp>
        <p:nvSpPr>
          <p:cNvPr id="11" name="Text 9"/>
          <p:cNvSpPr/>
          <p:nvPr/>
        </p:nvSpPr>
        <p:spPr>
          <a:xfrm>
            <a:off x="502920" y="3657600"/>
            <a:ext cx="914400" cy="274320"/>
          </a:xfrm>
          <a:prstGeom prst="rect">
            <a:avLst/>
          </a:prstGeom>
          <a:noFill/>
          <a:ln/>
        </p:spPr>
        <p:txBody>
          <a:bodyPr wrap="square" rtlCol="0" anchor="ctr"/>
          <a:lstStyle/>
          <a:p>
            <a:pPr indent="0" marL="0">
              <a:buNone/>
            </a:pPr>
            <a:r>
              <a:rPr lang="en-US" sz="1100" b="1" dirty="0">
                <a:solidFill>
                  <a:srgbClr val="545C7E"/>
                </a:solidFill>
                <a:latin typeface="Calibri" pitchFamily="34" charset="0"/>
                <a:ea typeface="Calibri" pitchFamily="34" charset="-122"/>
                <a:cs typeface="Calibri" pitchFamily="34" charset="-120"/>
              </a:rPr>
              <a:t>Index:</a:t>
            </a:r>
            <a:endParaRPr lang="en-US" sz="1100" dirty="0"/>
          </a:p>
        </p:txBody>
      </p:sp>
      <p:sp>
        <p:nvSpPr>
          <p:cNvPr id="12" name="Shape 10"/>
          <p:cNvSpPr/>
          <p:nvPr/>
        </p:nvSpPr>
        <p:spPr>
          <a:xfrm>
            <a:off x="1325880" y="3977640"/>
            <a:ext cx="868680" cy="685800"/>
          </a:xfrm>
          <a:prstGeom prst="rect">
            <a:avLst/>
          </a:prstGeom>
          <a:solidFill>
            <a:srgbClr val="FFFFFF"/>
          </a:solidFill>
          <a:ln w="15875">
            <a:solidFill>
              <a:srgbClr val="0B132B"/>
            </a:solidFill>
            <a:prstDash val="solid"/>
          </a:ln>
        </p:spPr>
      </p:sp>
      <p:sp>
        <p:nvSpPr>
          <p:cNvPr id="13" name="Text 11"/>
          <p:cNvSpPr/>
          <p:nvPr/>
        </p:nvSpPr>
        <p:spPr>
          <a:xfrm>
            <a:off x="1325880" y="3977640"/>
            <a:ext cx="868680" cy="68580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10</a:t>
            </a:r>
            <a:endParaRPr lang="en-US" sz="1400" dirty="0"/>
          </a:p>
        </p:txBody>
      </p:sp>
      <p:sp>
        <p:nvSpPr>
          <p:cNvPr id="14" name="Text 12"/>
          <p:cNvSpPr/>
          <p:nvPr/>
        </p:nvSpPr>
        <p:spPr>
          <a:xfrm>
            <a:off x="1325880" y="4700016"/>
            <a:ext cx="86868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0</a:t>
            </a:r>
            <a:endParaRPr lang="en-US" sz="950" dirty="0"/>
          </a:p>
        </p:txBody>
      </p:sp>
      <p:sp>
        <p:nvSpPr>
          <p:cNvPr id="15" name="Shape 13"/>
          <p:cNvSpPr/>
          <p:nvPr/>
        </p:nvSpPr>
        <p:spPr>
          <a:xfrm>
            <a:off x="2304288" y="3977640"/>
            <a:ext cx="868680" cy="685800"/>
          </a:xfrm>
          <a:prstGeom prst="rect">
            <a:avLst/>
          </a:prstGeom>
          <a:solidFill>
            <a:srgbClr val="FFFFFF"/>
          </a:solidFill>
          <a:ln w="15875">
            <a:solidFill>
              <a:srgbClr val="0B132B"/>
            </a:solidFill>
            <a:prstDash val="solid"/>
          </a:ln>
        </p:spPr>
      </p:sp>
      <p:sp>
        <p:nvSpPr>
          <p:cNvPr id="16" name="Text 14"/>
          <p:cNvSpPr/>
          <p:nvPr/>
        </p:nvSpPr>
        <p:spPr>
          <a:xfrm>
            <a:off x="2304288" y="3977640"/>
            <a:ext cx="868680" cy="68580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20</a:t>
            </a:r>
            <a:endParaRPr lang="en-US" sz="1400" dirty="0"/>
          </a:p>
        </p:txBody>
      </p:sp>
      <p:sp>
        <p:nvSpPr>
          <p:cNvPr id="17" name="Text 15"/>
          <p:cNvSpPr/>
          <p:nvPr/>
        </p:nvSpPr>
        <p:spPr>
          <a:xfrm>
            <a:off x="2304288" y="4700016"/>
            <a:ext cx="86868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1</a:t>
            </a:r>
            <a:endParaRPr lang="en-US" sz="950" dirty="0"/>
          </a:p>
        </p:txBody>
      </p:sp>
      <p:sp>
        <p:nvSpPr>
          <p:cNvPr id="18" name="Shape 16"/>
          <p:cNvSpPr/>
          <p:nvPr/>
        </p:nvSpPr>
        <p:spPr>
          <a:xfrm>
            <a:off x="3282696" y="3977640"/>
            <a:ext cx="868680" cy="685800"/>
          </a:xfrm>
          <a:prstGeom prst="rect">
            <a:avLst/>
          </a:prstGeom>
          <a:solidFill>
            <a:srgbClr val="FFFFFF"/>
          </a:solidFill>
          <a:ln w="15875">
            <a:solidFill>
              <a:srgbClr val="0B132B"/>
            </a:solidFill>
            <a:prstDash val="solid"/>
          </a:ln>
        </p:spPr>
      </p:sp>
      <p:sp>
        <p:nvSpPr>
          <p:cNvPr id="19" name="Text 17"/>
          <p:cNvSpPr/>
          <p:nvPr/>
        </p:nvSpPr>
        <p:spPr>
          <a:xfrm>
            <a:off x="3282696" y="3977640"/>
            <a:ext cx="868680" cy="68580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30</a:t>
            </a:r>
            <a:endParaRPr lang="en-US" sz="1400" dirty="0"/>
          </a:p>
        </p:txBody>
      </p:sp>
      <p:sp>
        <p:nvSpPr>
          <p:cNvPr id="20" name="Text 18"/>
          <p:cNvSpPr/>
          <p:nvPr/>
        </p:nvSpPr>
        <p:spPr>
          <a:xfrm>
            <a:off x="3282696" y="4700016"/>
            <a:ext cx="86868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2</a:t>
            </a:r>
            <a:endParaRPr lang="en-US" sz="950" dirty="0"/>
          </a:p>
        </p:txBody>
      </p:sp>
      <p:sp>
        <p:nvSpPr>
          <p:cNvPr id="21" name="Shape 19"/>
          <p:cNvSpPr/>
          <p:nvPr/>
        </p:nvSpPr>
        <p:spPr>
          <a:xfrm>
            <a:off x="4261104" y="3977640"/>
            <a:ext cx="868680" cy="685800"/>
          </a:xfrm>
          <a:prstGeom prst="rect">
            <a:avLst/>
          </a:prstGeom>
          <a:solidFill>
            <a:srgbClr val="FFFFFF"/>
          </a:solidFill>
          <a:ln w="15875">
            <a:solidFill>
              <a:srgbClr val="0B132B"/>
            </a:solidFill>
            <a:prstDash val="solid"/>
          </a:ln>
        </p:spPr>
      </p:sp>
      <p:sp>
        <p:nvSpPr>
          <p:cNvPr id="22" name="Text 20"/>
          <p:cNvSpPr/>
          <p:nvPr/>
        </p:nvSpPr>
        <p:spPr>
          <a:xfrm>
            <a:off x="4261104" y="3977640"/>
            <a:ext cx="868680" cy="68580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40</a:t>
            </a:r>
            <a:endParaRPr lang="en-US" sz="1400" dirty="0"/>
          </a:p>
        </p:txBody>
      </p:sp>
      <p:sp>
        <p:nvSpPr>
          <p:cNvPr id="23" name="Text 21"/>
          <p:cNvSpPr/>
          <p:nvPr/>
        </p:nvSpPr>
        <p:spPr>
          <a:xfrm>
            <a:off x="4261104" y="4700016"/>
            <a:ext cx="86868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3</a:t>
            </a:r>
            <a:endParaRPr lang="en-US" sz="950" dirty="0"/>
          </a:p>
        </p:txBody>
      </p:sp>
      <p:sp>
        <p:nvSpPr>
          <p:cNvPr id="24" name="Shape 22"/>
          <p:cNvSpPr/>
          <p:nvPr/>
        </p:nvSpPr>
        <p:spPr>
          <a:xfrm>
            <a:off x="5239512" y="3977640"/>
            <a:ext cx="868680" cy="685800"/>
          </a:xfrm>
          <a:prstGeom prst="rect">
            <a:avLst/>
          </a:prstGeom>
          <a:solidFill>
            <a:srgbClr val="FFFFFF"/>
          </a:solidFill>
          <a:ln w="15875">
            <a:solidFill>
              <a:srgbClr val="0B132B"/>
            </a:solidFill>
            <a:prstDash val="solid"/>
          </a:ln>
        </p:spPr>
      </p:sp>
      <p:sp>
        <p:nvSpPr>
          <p:cNvPr id="25" name="Text 23"/>
          <p:cNvSpPr/>
          <p:nvPr/>
        </p:nvSpPr>
        <p:spPr>
          <a:xfrm>
            <a:off x="5239512" y="3977640"/>
            <a:ext cx="868680" cy="68580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50</a:t>
            </a:r>
            <a:endParaRPr lang="en-US" sz="1400" dirty="0"/>
          </a:p>
        </p:txBody>
      </p:sp>
      <p:sp>
        <p:nvSpPr>
          <p:cNvPr id="26" name="Text 24"/>
          <p:cNvSpPr/>
          <p:nvPr/>
        </p:nvSpPr>
        <p:spPr>
          <a:xfrm>
            <a:off x="5239512" y="4700016"/>
            <a:ext cx="868680" cy="228600"/>
          </a:xfrm>
          <a:prstGeom prst="rect">
            <a:avLst/>
          </a:prstGeom>
          <a:noFill/>
          <a:ln/>
        </p:spPr>
        <p:txBody>
          <a:bodyPr wrap="square" rtlCol="0" anchor="ctr"/>
          <a:lstStyle/>
          <a:p>
            <a:pPr algn="ctr" indent="0" marL="0">
              <a:buNone/>
            </a:pPr>
            <a:r>
              <a:rPr lang="en-US" sz="950" dirty="0">
                <a:solidFill>
                  <a:srgbClr val="545C7E"/>
                </a:solidFill>
                <a:latin typeface="Calibri" pitchFamily="34" charset="0"/>
                <a:ea typeface="Calibri" pitchFamily="34" charset="-122"/>
                <a:cs typeface="Calibri" pitchFamily="34" charset="-120"/>
              </a:rPr>
              <a:t>4</a:t>
            </a:r>
            <a:endParaRPr lang="en-US" sz="950" dirty="0"/>
          </a:p>
        </p:txBody>
      </p:sp>
      <p:sp>
        <p:nvSpPr>
          <p:cNvPr id="27" name="Shape 25"/>
          <p:cNvSpPr/>
          <p:nvPr/>
        </p:nvSpPr>
        <p:spPr>
          <a:xfrm>
            <a:off x="502920" y="5257800"/>
            <a:ext cx="146304" cy="146304"/>
          </a:xfrm>
          <a:prstGeom prst="ellipse">
            <a:avLst/>
          </a:prstGeom>
          <a:solidFill>
            <a:srgbClr val="2FD8A2"/>
          </a:solidFill>
          <a:ln/>
        </p:spPr>
      </p:sp>
      <p:sp>
        <p:nvSpPr>
          <p:cNvPr id="28" name="Text 26"/>
          <p:cNvSpPr/>
          <p:nvPr/>
        </p:nvSpPr>
        <p:spPr>
          <a:xfrm>
            <a:off x="795528" y="5111496"/>
            <a:ext cx="546811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Zero-based indexing — the first element is index 0.</a:t>
            </a:r>
            <a:endParaRPr lang="en-US" sz="1050" dirty="0"/>
          </a:p>
        </p:txBody>
      </p:sp>
      <p:sp>
        <p:nvSpPr>
          <p:cNvPr id="29" name="Shape 27"/>
          <p:cNvSpPr/>
          <p:nvPr/>
        </p:nvSpPr>
        <p:spPr>
          <a:xfrm>
            <a:off x="502920" y="5586984"/>
            <a:ext cx="146304" cy="146304"/>
          </a:xfrm>
          <a:prstGeom prst="ellipse">
            <a:avLst/>
          </a:prstGeom>
          <a:solidFill>
            <a:srgbClr val="2FD8A2"/>
          </a:solidFill>
          <a:ln/>
        </p:spPr>
      </p:sp>
      <p:sp>
        <p:nvSpPr>
          <p:cNvPr id="30" name="Text 28"/>
          <p:cNvSpPr/>
          <p:nvPr/>
        </p:nvSpPr>
        <p:spPr>
          <a:xfrm>
            <a:off x="795528" y="5440680"/>
            <a:ext cx="546811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The last valid index is size − 1, here that's 4.</a:t>
            </a:r>
            <a:endParaRPr lang="en-US" sz="1050" dirty="0"/>
          </a:p>
        </p:txBody>
      </p:sp>
      <p:sp>
        <p:nvSpPr>
          <p:cNvPr id="31" name="Shape 29"/>
          <p:cNvSpPr/>
          <p:nvPr/>
        </p:nvSpPr>
        <p:spPr>
          <a:xfrm>
            <a:off x="502920" y="5916168"/>
            <a:ext cx="146304" cy="146304"/>
          </a:xfrm>
          <a:prstGeom prst="ellipse">
            <a:avLst/>
          </a:prstGeom>
          <a:solidFill>
            <a:srgbClr val="2FD8A2"/>
          </a:solidFill>
          <a:ln/>
        </p:spPr>
      </p:sp>
      <p:sp>
        <p:nvSpPr>
          <p:cNvPr id="32" name="Text 30"/>
          <p:cNvSpPr/>
          <p:nvPr/>
        </p:nvSpPr>
        <p:spPr>
          <a:xfrm>
            <a:off x="795528" y="5769864"/>
            <a:ext cx="546811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Reading outside 0..size−1 is undefined behaviour — it may run, or crash, or silently corrupt data.</a:t>
            </a:r>
            <a:endParaRPr lang="en-US" sz="1050" dirty="0"/>
          </a:p>
        </p:txBody>
      </p:sp>
      <p:sp>
        <p:nvSpPr>
          <p:cNvPr id="33" name="Shape 31"/>
          <p:cNvSpPr/>
          <p:nvPr/>
        </p:nvSpPr>
        <p:spPr>
          <a:xfrm>
            <a:off x="6903720" y="1645920"/>
            <a:ext cx="4800600" cy="1600200"/>
          </a:xfrm>
          <a:prstGeom prst="roundRect">
            <a:avLst>
              <a:gd name="adj" fmla="val 514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34" name="Shape 32"/>
          <p:cNvSpPr/>
          <p:nvPr/>
        </p:nvSpPr>
        <p:spPr>
          <a:xfrm>
            <a:off x="6903720" y="1645920"/>
            <a:ext cx="4800600" cy="292608"/>
          </a:xfrm>
          <a:prstGeom prst="rect">
            <a:avLst/>
          </a:prstGeom>
          <a:solidFill>
            <a:srgbClr val="141B33"/>
          </a:solidFill>
          <a:ln/>
        </p:spPr>
      </p:sp>
      <p:sp>
        <p:nvSpPr>
          <p:cNvPr id="35" name="Shape 33"/>
          <p:cNvSpPr/>
          <p:nvPr/>
        </p:nvSpPr>
        <p:spPr>
          <a:xfrm>
            <a:off x="7050024" y="1737360"/>
            <a:ext cx="109728" cy="109728"/>
          </a:xfrm>
          <a:prstGeom prst="ellipse">
            <a:avLst/>
          </a:prstGeom>
          <a:solidFill>
            <a:srgbClr val="FF6B6B"/>
          </a:solidFill>
          <a:ln/>
        </p:spPr>
      </p:sp>
      <p:sp>
        <p:nvSpPr>
          <p:cNvPr id="36" name="Shape 34"/>
          <p:cNvSpPr/>
          <p:nvPr/>
        </p:nvSpPr>
        <p:spPr>
          <a:xfrm>
            <a:off x="7223760" y="1737360"/>
            <a:ext cx="109728" cy="109728"/>
          </a:xfrm>
          <a:prstGeom prst="ellipse">
            <a:avLst/>
          </a:prstGeom>
          <a:solidFill>
            <a:srgbClr val="FFD166"/>
          </a:solidFill>
          <a:ln/>
        </p:spPr>
      </p:sp>
      <p:sp>
        <p:nvSpPr>
          <p:cNvPr id="37" name="Shape 35"/>
          <p:cNvSpPr/>
          <p:nvPr/>
        </p:nvSpPr>
        <p:spPr>
          <a:xfrm>
            <a:off x="7397496" y="1737360"/>
            <a:ext cx="109728" cy="109728"/>
          </a:xfrm>
          <a:prstGeom prst="ellipse">
            <a:avLst/>
          </a:prstGeom>
          <a:solidFill>
            <a:srgbClr val="2FD8A2"/>
          </a:solidFill>
          <a:ln/>
        </p:spPr>
      </p:sp>
      <p:sp>
        <p:nvSpPr>
          <p:cNvPr id="38" name="Text 36"/>
          <p:cNvSpPr/>
          <p:nvPr/>
        </p:nvSpPr>
        <p:spPr>
          <a:xfrm>
            <a:off x="6903720" y="164592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off-by-one — wrong</a:t>
            </a:r>
            <a:endParaRPr lang="en-US" sz="1000" dirty="0"/>
          </a:p>
        </p:txBody>
      </p:sp>
      <p:sp>
        <p:nvSpPr>
          <p:cNvPr id="39" name="Text 37"/>
          <p:cNvSpPr/>
          <p:nvPr/>
        </p:nvSpPr>
        <p:spPr>
          <a:xfrm>
            <a:off x="7123176" y="2057400"/>
            <a:ext cx="4361688" cy="1069848"/>
          </a:xfrm>
          <a:prstGeom prst="rect">
            <a:avLst/>
          </a:prstGeom>
          <a:noFill/>
          <a:ln/>
        </p:spPr>
        <p:txBody>
          <a:bodyPr wrap="square" lIns="0" tIns="0" rIns="0" bIns="0" rtlCol="0" anchor="t"/>
          <a:lstStyle/>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 reads numbers[5]</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40" name="Shape 38"/>
          <p:cNvSpPr/>
          <p:nvPr/>
        </p:nvSpPr>
        <p:spPr>
          <a:xfrm>
            <a:off x="6903720" y="3429000"/>
            <a:ext cx="4800600" cy="1600200"/>
          </a:xfrm>
          <a:prstGeom prst="roundRect">
            <a:avLst>
              <a:gd name="adj" fmla="val 514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41" name="Shape 39"/>
          <p:cNvSpPr/>
          <p:nvPr/>
        </p:nvSpPr>
        <p:spPr>
          <a:xfrm>
            <a:off x="6903720" y="3429000"/>
            <a:ext cx="4800600" cy="292608"/>
          </a:xfrm>
          <a:prstGeom prst="rect">
            <a:avLst/>
          </a:prstGeom>
          <a:solidFill>
            <a:srgbClr val="141B33"/>
          </a:solidFill>
          <a:ln/>
        </p:spPr>
      </p:sp>
      <p:sp>
        <p:nvSpPr>
          <p:cNvPr id="42" name="Shape 40"/>
          <p:cNvSpPr/>
          <p:nvPr/>
        </p:nvSpPr>
        <p:spPr>
          <a:xfrm>
            <a:off x="7050024" y="3520440"/>
            <a:ext cx="109728" cy="109728"/>
          </a:xfrm>
          <a:prstGeom prst="ellipse">
            <a:avLst/>
          </a:prstGeom>
          <a:solidFill>
            <a:srgbClr val="FF6B6B"/>
          </a:solidFill>
          <a:ln/>
        </p:spPr>
      </p:sp>
      <p:sp>
        <p:nvSpPr>
          <p:cNvPr id="43" name="Shape 41"/>
          <p:cNvSpPr/>
          <p:nvPr/>
        </p:nvSpPr>
        <p:spPr>
          <a:xfrm>
            <a:off x="7223760" y="3520440"/>
            <a:ext cx="109728" cy="109728"/>
          </a:xfrm>
          <a:prstGeom prst="ellipse">
            <a:avLst/>
          </a:prstGeom>
          <a:solidFill>
            <a:srgbClr val="FFD166"/>
          </a:solidFill>
          <a:ln/>
        </p:spPr>
      </p:sp>
      <p:sp>
        <p:nvSpPr>
          <p:cNvPr id="44" name="Shape 42"/>
          <p:cNvSpPr/>
          <p:nvPr/>
        </p:nvSpPr>
        <p:spPr>
          <a:xfrm>
            <a:off x="7397496" y="3520440"/>
            <a:ext cx="109728" cy="109728"/>
          </a:xfrm>
          <a:prstGeom prst="ellipse">
            <a:avLst/>
          </a:prstGeom>
          <a:solidFill>
            <a:srgbClr val="2FD8A2"/>
          </a:solidFill>
          <a:ln/>
        </p:spPr>
      </p:sp>
      <p:sp>
        <p:nvSpPr>
          <p:cNvPr id="45" name="Text 43"/>
          <p:cNvSpPr/>
          <p:nvPr/>
        </p:nvSpPr>
        <p:spPr>
          <a:xfrm>
            <a:off x="6903720" y="342900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correct</a:t>
            </a:r>
            <a:endParaRPr lang="en-US" sz="1000" dirty="0"/>
          </a:p>
        </p:txBody>
      </p:sp>
      <p:sp>
        <p:nvSpPr>
          <p:cNvPr id="46" name="Text 44"/>
          <p:cNvSpPr/>
          <p:nvPr/>
        </p:nvSpPr>
        <p:spPr>
          <a:xfrm>
            <a:off x="7123176" y="3840480"/>
            <a:ext cx="4361688" cy="1069848"/>
          </a:xfrm>
          <a:prstGeom prst="rect">
            <a:avLst/>
          </a:prstGeom>
          <a:noFill/>
          <a:ln/>
        </p:spPr>
        <p:txBody>
          <a:bodyPr wrap="square" lIns="0" tIns="0" rIns="0" bIns="0" rtlCol="0" anchor="t"/>
          <a:lstStyle/>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 stops at index 4</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47" name="Shape 45"/>
          <p:cNvSpPr/>
          <p:nvPr/>
        </p:nvSpPr>
        <p:spPr>
          <a:xfrm>
            <a:off x="6903720" y="5212080"/>
            <a:ext cx="4800600" cy="1097280"/>
          </a:xfrm>
          <a:prstGeom prst="roundRect">
            <a:avLst>
              <a:gd name="adj" fmla="val 6667"/>
            </a:avLst>
          </a:prstGeom>
          <a:solidFill>
            <a:srgbClr val="FDEBEE"/>
          </a:solidFill>
          <a:ln w="12700">
            <a:solidFill>
              <a:srgbClr val="E0455B"/>
            </a:solidFill>
            <a:prstDash val="solid"/>
          </a:ln>
        </p:spPr>
      </p:sp>
      <p:sp>
        <p:nvSpPr>
          <p:cNvPr id="48" name="Text 46"/>
          <p:cNvSpPr/>
          <p:nvPr/>
        </p:nvSpPr>
        <p:spPr>
          <a:xfrm>
            <a:off x="7086600" y="5294376"/>
            <a:ext cx="4434840" cy="237744"/>
          </a:xfrm>
          <a:prstGeom prst="rect">
            <a:avLst/>
          </a:prstGeom>
          <a:noFill/>
          <a:ln/>
        </p:spPr>
        <p:txBody>
          <a:bodyPr wrap="square" rtlCol="0" anchor="ctr"/>
          <a:lstStyle/>
          <a:p>
            <a:pPr indent="0" marL="0">
              <a:buNone/>
            </a:pPr>
            <a:r>
              <a:rPr lang="en-US" sz="1050" b="1" spc="100" kern="0" dirty="0">
                <a:solidFill>
                  <a:srgbClr val="E0455B"/>
                </a:solidFill>
                <a:latin typeface="Calibri" pitchFamily="34" charset="0"/>
                <a:ea typeface="Calibri" pitchFamily="34" charset="-122"/>
                <a:cs typeface="Calibri" pitchFamily="34" charset="-120"/>
              </a:rPr>
              <a:t>Habit to build</a:t>
            </a:r>
            <a:endParaRPr lang="en-US" sz="1050" dirty="0"/>
          </a:p>
        </p:txBody>
      </p:sp>
      <p:sp>
        <p:nvSpPr>
          <p:cNvPr id="49" name="Text 47"/>
          <p:cNvSpPr/>
          <p:nvPr/>
        </p:nvSpPr>
        <p:spPr>
          <a:xfrm>
            <a:off x="7086600" y="5559552"/>
            <a:ext cx="4434840" cy="65836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For an array of size N, always pair it with i &lt; N, never i &lt;= N. This single habit prevents a huge share of early array bugs.</a:t>
            </a:r>
            <a:endParaRPr lang="en-US" sz="1100" dirty="0"/>
          </a:p>
        </p:txBody>
      </p:sp>
      <p:sp>
        <p:nvSpPr>
          <p:cNvPr id="51" name="Text 4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52" name="Text 4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18</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Array Operations</a:t>
            </a:r>
            <a:endParaRPr lang="en-US" sz="2800" dirty="0"/>
          </a:p>
        </p:txBody>
      </p:sp>
      <p:sp>
        <p:nvSpPr>
          <p:cNvPr id="4" name="Shape 2"/>
          <p:cNvSpPr/>
          <p:nvPr/>
        </p:nvSpPr>
        <p:spPr>
          <a:xfrm>
            <a:off x="502920" y="1645920"/>
            <a:ext cx="5760720" cy="4434840"/>
          </a:xfrm>
          <a:prstGeom prst="roundRect">
            <a:avLst>
              <a:gd name="adj" fmla="val 185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sum, max, linear search</a:t>
            </a:r>
            <a:endParaRPr lang="en-US" sz="1000" dirty="0"/>
          </a:p>
        </p:txBody>
      </p:sp>
      <p:sp>
        <p:nvSpPr>
          <p:cNvPr id="10" name="Text 8"/>
          <p:cNvSpPr/>
          <p:nvPr/>
        </p:nvSpPr>
        <p:spPr>
          <a:xfrm>
            <a:off x="722376" y="2057400"/>
            <a:ext cx="5321808" cy="390448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sum</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maxVal</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sum</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maxVal</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maxVal</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Linear search for target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target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30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foundAt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target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foundAt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break</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6903720" y="1691640"/>
            <a:ext cx="146304" cy="146304"/>
          </a:xfrm>
          <a:prstGeom prst="ellipse">
            <a:avLst/>
          </a:prstGeom>
          <a:solidFill>
            <a:srgbClr val="2FD8A2"/>
          </a:solidFill>
          <a:ln/>
        </p:spPr>
      </p:sp>
      <p:sp>
        <p:nvSpPr>
          <p:cNvPr id="12" name="Text 10"/>
          <p:cNvSpPr/>
          <p:nvPr/>
        </p:nvSpPr>
        <p:spPr>
          <a:xfrm>
            <a:off x="7196328" y="1591056"/>
            <a:ext cx="450799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Reversing in place</a:t>
            </a:r>
            <a:endParaRPr lang="en-US" sz="1300" dirty="0"/>
          </a:p>
        </p:txBody>
      </p:sp>
      <p:sp>
        <p:nvSpPr>
          <p:cNvPr id="13" name="Text 11"/>
          <p:cNvSpPr/>
          <p:nvPr/>
        </p:nvSpPr>
        <p:spPr>
          <a:xfrm>
            <a:off x="7196328" y="1847088"/>
            <a:ext cx="450799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Swap numbers[i] with numbers[size-1-i] while i moves from both ends toward the middle.</a:t>
            </a:r>
            <a:endParaRPr lang="en-US" sz="1100" dirty="0"/>
          </a:p>
        </p:txBody>
      </p:sp>
      <p:sp>
        <p:nvSpPr>
          <p:cNvPr id="14" name="Shape 12"/>
          <p:cNvSpPr/>
          <p:nvPr/>
        </p:nvSpPr>
        <p:spPr>
          <a:xfrm>
            <a:off x="6903720" y="2258568"/>
            <a:ext cx="146304" cy="146304"/>
          </a:xfrm>
          <a:prstGeom prst="ellipse">
            <a:avLst/>
          </a:prstGeom>
          <a:solidFill>
            <a:srgbClr val="2FD8A2"/>
          </a:solidFill>
          <a:ln/>
        </p:spPr>
      </p:sp>
      <p:sp>
        <p:nvSpPr>
          <p:cNvPr id="15" name="Text 13"/>
          <p:cNvSpPr/>
          <p:nvPr/>
        </p:nvSpPr>
        <p:spPr>
          <a:xfrm>
            <a:off x="7196328" y="2157984"/>
            <a:ext cx="450799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Practice set</a:t>
            </a:r>
            <a:endParaRPr lang="en-US" sz="1300" dirty="0"/>
          </a:p>
        </p:txBody>
      </p:sp>
      <p:sp>
        <p:nvSpPr>
          <p:cNvPr id="16" name="Text 14"/>
          <p:cNvSpPr/>
          <p:nvPr/>
        </p:nvSpPr>
        <p:spPr>
          <a:xfrm>
            <a:off x="7196328" y="2414016"/>
            <a:ext cx="450799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Count even/odd elements, find the second-largest value, reverse the array in place.</a:t>
            </a:r>
            <a:endParaRPr lang="en-US" sz="1100" dirty="0"/>
          </a:p>
        </p:txBody>
      </p:sp>
      <p:sp>
        <p:nvSpPr>
          <p:cNvPr id="17" name="Shape 15"/>
          <p:cNvSpPr/>
          <p:nvPr/>
        </p:nvSpPr>
        <p:spPr>
          <a:xfrm>
            <a:off x="6903720" y="3749040"/>
            <a:ext cx="4800600" cy="2331720"/>
          </a:xfrm>
          <a:prstGeom prst="roundRect">
            <a:avLst>
              <a:gd name="adj" fmla="val 3137"/>
            </a:avLst>
          </a:prstGeom>
          <a:solidFill>
            <a:srgbClr val="FFF6E4"/>
          </a:solidFill>
          <a:ln w="12700">
            <a:solidFill>
              <a:srgbClr val="E08A00"/>
            </a:solidFill>
            <a:prstDash val="solid"/>
          </a:ln>
        </p:spPr>
      </p:sp>
      <p:sp>
        <p:nvSpPr>
          <p:cNvPr id="18" name="Text 16"/>
          <p:cNvSpPr/>
          <p:nvPr/>
        </p:nvSpPr>
        <p:spPr>
          <a:xfrm>
            <a:off x="7086600" y="383133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Same mistake, every time</a:t>
            </a:r>
            <a:endParaRPr lang="en-US" sz="1050" dirty="0"/>
          </a:p>
        </p:txBody>
      </p:sp>
      <p:sp>
        <p:nvSpPr>
          <p:cNvPr id="19" name="Text 17"/>
          <p:cNvSpPr/>
          <p:nvPr/>
        </p:nvSpPr>
        <p:spPr>
          <a:xfrm>
            <a:off x="7086600" y="4096512"/>
            <a:ext cx="4434840" cy="18928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The most common array bug isn't logic — it's the loop boundary. Before running any array code, check: does the last iteration read a valid index?</a:t>
            </a:r>
            <a:endParaRPr lang="en-US" sz="1100" dirty="0"/>
          </a:p>
        </p:txBody>
      </p:sp>
      <p:sp>
        <p:nvSpPr>
          <p:cNvPr id="21" name="Text 1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2" name="Text 1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19</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2D Arrays — Matrices &amp; Traversal</a:t>
            </a:r>
            <a:endParaRPr lang="en-US" sz="2800" dirty="0"/>
          </a:p>
        </p:txBody>
      </p:sp>
      <p:sp>
        <p:nvSpPr>
          <p:cNvPr id="4" name="Shape 2"/>
          <p:cNvSpPr/>
          <p:nvPr/>
        </p:nvSpPr>
        <p:spPr>
          <a:xfrm>
            <a:off x="502920" y="1645920"/>
            <a:ext cx="5760720" cy="2331720"/>
          </a:xfrm>
          <a:prstGeom prst="roundRect">
            <a:avLst>
              <a:gd name="adj" fmla="val 3529"/>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matrix</a:t>
            </a:r>
            <a:endParaRPr lang="en-US" sz="1000" dirty="0"/>
          </a:p>
        </p:txBody>
      </p:sp>
      <p:sp>
        <p:nvSpPr>
          <p:cNvPr id="10" name="Text 8"/>
          <p:cNvSpPr/>
          <p:nvPr/>
        </p:nvSpPr>
        <p:spPr>
          <a:xfrm>
            <a:off x="722376" y="2057400"/>
            <a:ext cx="5321808" cy="180136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matrix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3</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3</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4</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6</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matrix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6 — row 1, column 2</a:t>
            </a:r>
            <a:endParaRPr lang="en-US" sz="1250" dirty="0"/>
          </a:p>
        </p:txBody>
      </p:sp>
      <p:sp>
        <p:nvSpPr>
          <p:cNvPr id="11" name="Shape 9"/>
          <p:cNvSpPr/>
          <p:nvPr/>
        </p:nvSpPr>
        <p:spPr>
          <a:xfrm>
            <a:off x="502920" y="4160520"/>
            <a:ext cx="5760720" cy="1965960"/>
          </a:xfrm>
          <a:prstGeom prst="roundRect">
            <a:avLst>
              <a:gd name="adj" fmla="val 41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2" name="Shape 10"/>
          <p:cNvSpPr/>
          <p:nvPr/>
        </p:nvSpPr>
        <p:spPr>
          <a:xfrm>
            <a:off x="502920" y="4160520"/>
            <a:ext cx="5760720" cy="292608"/>
          </a:xfrm>
          <a:prstGeom prst="rect">
            <a:avLst/>
          </a:prstGeom>
          <a:solidFill>
            <a:srgbClr val="141B33"/>
          </a:solidFill>
          <a:ln/>
        </p:spPr>
      </p:sp>
      <p:sp>
        <p:nvSpPr>
          <p:cNvPr id="13" name="Shape 11"/>
          <p:cNvSpPr/>
          <p:nvPr/>
        </p:nvSpPr>
        <p:spPr>
          <a:xfrm>
            <a:off x="649224" y="4251960"/>
            <a:ext cx="109728" cy="109728"/>
          </a:xfrm>
          <a:prstGeom prst="ellipse">
            <a:avLst/>
          </a:prstGeom>
          <a:solidFill>
            <a:srgbClr val="FF6B6B"/>
          </a:solidFill>
          <a:ln/>
        </p:spPr>
      </p:sp>
      <p:sp>
        <p:nvSpPr>
          <p:cNvPr id="14" name="Shape 12"/>
          <p:cNvSpPr/>
          <p:nvPr/>
        </p:nvSpPr>
        <p:spPr>
          <a:xfrm>
            <a:off x="822960" y="4251960"/>
            <a:ext cx="109728" cy="109728"/>
          </a:xfrm>
          <a:prstGeom prst="ellipse">
            <a:avLst/>
          </a:prstGeom>
          <a:solidFill>
            <a:srgbClr val="FFD166"/>
          </a:solidFill>
          <a:ln/>
        </p:spPr>
      </p:sp>
      <p:sp>
        <p:nvSpPr>
          <p:cNvPr id="15" name="Shape 13"/>
          <p:cNvSpPr/>
          <p:nvPr/>
        </p:nvSpPr>
        <p:spPr>
          <a:xfrm>
            <a:off x="996696" y="4251960"/>
            <a:ext cx="109728" cy="109728"/>
          </a:xfrm>
          <a:prstGeom prst="ellipse">
            <a:avLst/>
          </a:prstGeom>
          <a:solidFill>
            <a:srgbClr val="2FD8A2"/>
          </a:solidFill>
          <a:ln/>
        </p:spPr>
      </p:sp>
      <p:sp>
        <p:nvSpPr>
          <p:cNvPr id="16" name="Text 14"/>
          <p:cNvSpPr/>
          <p:nvPr/>
        </p:nvSpPr>
        <p:spPr>
          <a:xfrm>
            <a:off x="502920" y="41605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nested-loop traversal</a:t>
            </a:r>
            <a:endParaRPr lang="en-US" sz="1000" dirty="0"/>
          </a:p>
        </p:txBody>
      </p:sp>
      <p:sp>
        <p:nvSpPr>
          <p:cNvPr id="17" name="Text 15"/>
          <p:cNvSpPr/>
          <p:nvPr/>
        </p:nvSpPr>
        <p:spPr>
          <a:xfrm>
            <a:off x="722376" y="4572000"/>
            <a:ext cx="5321808" cy="143560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total</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3</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total</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matrix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8" name="Shape 16"/>
          <p:cNvSpPr/>
          <p:nvPr/>
        </p:nvSpPr>
        <p:spPr>
          <a:xfrm>
            <a:off x="7680960" y="1737360"/>
            <a:ext cx="777240" cy="640080"/>
          </a:xfrm>
          <a:prstGeom prst="rect">
            <a:avLst/>
          </a:prstGeom>
          <a:solidFill>
            <a:srgbClr val="FFFFFF"/>
          </a:solidFill>
          <a:ln w="12700">
            <a:solidFill>
              <a:srgbClr val="0B132B"/>
            </a:solidFill>
            <a:prstDash val="solid"/>
          </a:ln>
        </p:spPr>
      </p:sp>
      <p:sp>
        <p:nvSpPr>
          <p:cNvPr id="19" name="Text 17"/>
          <p:cNvSpPr/>
          <p:nvPr/>
        </p:nvSpPr>
        <p:spPr>
          <a:xfrm>
            <a:off x="7680960" y="1737360"/>
            <a:ext cx="777240" cy="64008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1</a:t>
            </a:r>
            <a:endParaRPr lang="en-US" sz="1400" dirty="0"/>
          </a:p>
        </p:txBody>
      </p:sp>
      <p:sp>
        <p:nvSpPr>
          <p:cNvPr id="20" name="Shape 18"/>
          <p:cNvSpPr/>
          <p:nvPr/>
        </p:nvSpPr>
        <p:spPr>
          <a:xfrm>
            <a:off x="8458200" y="1737360"/>
            <a:ext cx="777240" cy="640080"/>
          </a:xfrm>
          <a:prstGeom prst="rect">
            <a:avLst/>
          </a:prstGeom>
          <a:solidFill>
            <a:srgbClr val="FFFFFF"/>
          </a:solidFill>
          <a:ln w="12700">
            <a:solidFill>
              <a:srgbClr val="0B132B"/>
            </a:solidFill>
            <a:prstDash val="solid"/>
          </a:ln>
        </p:spPr>
      </p:sp>
      <p:sp>
        <p:nvSpPr>
          <p:cNvPr id="21" name="Text 19"/>
          <p:cNvSpPr/>
          <p:nvPr/>
        </p:nvSpPr>
        <p:spPr>
          <a:xfrm>
            <a:off x="8458200" y="1737360"/>
            <a:ext cx="777240" cy="64008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2</a:t>
            </a:r>
            <a:endParaRPr lang="en-US" sz="1400" dirty="0"/>
          </a:p>
        </p:txBody>
      </p:sp>
      <p:sp>
        <p:nvSpPr>
          <p:cNvPr id="22" name="Shape 20"/>
          <p:cNvSpPr/>
          <p:nvPr/>
        </p:nvSpPr>
        <p:spPr>
          <a:xfrm>
            <a:off x="9235440" y="1737360"/>
            <a:ext cx="777240" cy="640080"/>
          </a:xfrm>
          <a:prstGeom prst="rect">
            <a:avLst/>
          </a:prstGeom>
          <a:solidFill>
            <a:srgbClr val="FFFFFF"/>
          </a:solidFill>
          <a:ln w="12700">
            <a:solidFill>
              <a:srgbClr val="0B132B"/>
            </a:solidFill>
            <a:prstDash val="solid"/>
          </a:ln>
        </p:spPr>
      </p:sp>
      <p:sp>
        <p:nvSpPr>
          <p:cNvPr id="23" name="Text 21"/>
          <p:cNvSpPr/>
          <p:nvPr/>
        </p:nvSpPr>
        <p:spPr>
          <a:xfrm>
            <a:off x="9235440" y="1737360"/>
            <a:ext cx="777240" cy="64008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3</a:t>
            </a:r>
            <a:endParaRPr lang="en-US" sz="1400" dirty="0"/>
          </a:p>
        </p:txBody>
      </p:sp>
      <p:sp>
        <p:nvSpPr>
          <p:cNvPr id="24" name="Shape 22"/>
          <p:cNvSpPr/>
          <p:nvPr/>
        </p:nvSpPr>
        <p:spPr>
          <a:xfrm>
            <a:off x="7680960" y="2377440"/>
            <a:ext cx="777240" cy="640080"/>
          </a:xfrm>
          <a:prstGeom prst="rect">
            <a:avLst/>
          </a:prstGeom>
          <a:solidFill>
            <a:srgbClr val="FFFFFF"/>
          </a:solidFill>
          <a:ln w="12700">
            <a:solidFill>
              <a:srgbClr val="0B132B"/>
            </a:solidFill>
            <a:prstDash val="solid"/>
          </a:ln>
        </p:spPr>
      </p:sp>
      <p:sp>
        <p:nvSpPr>
          <p:cNvPr id="25" name="Text 23"/>
          <p:cNvSpPr/>
          <p:nvPr/>
        </p:nvSpPr>
        <p:spPr>
          <a:xfrm>
            <a:off x="7680960" y="2377440"/>
            <a:ext cx="777240" cy="64008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4</a:t>
            </a:r>
            <a:endParaRPr lang="en-US" sz="1400" dirty="0"/>
          </a:p>
        </p:txBody>
      </p:sp>
      <p:sp>
        <p:nvSpPr>
          <p:cNvPr id="26" name="Shape 24"/>
          <p:cNvSpPr/>
          <p:nvPr/>
        </p:nvSpPr>
        <p:spPr>
          <a:xfrm>
            <a:off x="8458200" y="2377440"/>
            <a:ext cx="777240" cy="640080"/>
          </a:xfrm>
          <a:prstGeom prst="rect">
            <a:avLst/>
          </a:prstGeom>
          <a:solidFill>
            <a:srgbClr val="FFFFFF"/>
          </a:solidFill>
          <a:ln w="12700">
            <a:solidFill>
              <a:srgbClr val="0B132B"/>
            </a:solidFill>
            <a:prstDash val="solid"/>
          </a:ln>
        </p:spPr>
      </p:sp>
      <p:sp>
        <p:nvSpPr>
          <p:cNvPr id="27" name="Text 25"/>
          <p:cNvSpPr/>
          <p:nvPr/>
        </p:nvSpPr>
        <p:spPr>
          <a:xfrm>
            <a:off x="8458200" y="2377440"/>
            <a:ext cx="777240" cy="64008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5</a:t>
            </a:r>
            <a:endParaRPr lang="en-US" sz="1400" dirty="0"/>
          </a:p>
        </p:txBody>
      </p:sp>
      <p:sp>
        <p:nvSpPr>
          <p:cNvPr id="28" name="Shape 26"/>
          <p:cNvSpPr/>
          <p:nvPr/>
        </p:nvSpPr>
        <p:spPr>
          <a:xfrm>
            <a:off x="9235440" y="2377440"/>
            <a:ext cx="777240" cy="640080"/>
          </a:xfrm>
          <a:prstGeom prst="rect">
            <a:avLst/>
          </a:prstGeom>
          <a:solidFill>
            <a:srgbClr val="EAFBF4"/>
          </a:solidFill>
          <a:ln w="12700">
            <a:solidFill>
              <a:srgbClr val="0B132B"/>
            </a:solidFill>
            <a:prstDash val="solid"/>
          </a:ln>
        </p:spPr>
      </p:sp>
      <p:sp>
        <p:nvSpPr>
          <p:cNvPr id="29" name="Text 27"/>
          <p:cNvSpPr/>
          <p:nvPr/>
        </p:nvSpPr>
        <p:spPr>
          <a:xfrm>
            <a:off x="9235440" y="2377440"/>
            <a:ext cx="777240" cy="640080"/>
          </a:xfrm>
          <a:prstGeom prst="rect">
            <a:avLst/>
          </a:prstGeom>
          <a:noFill/>
          <a:ln/>
        </p:spPr>
        <p:txBody>
          <a:bodyPr wrap="square" rtlCol="0" anchor="ctr"/>
          <a:lstStyle/>
          <a:p>
            <a:pPr algn="ctr" indent="0" marL="0">
              <a:buNone/>
            </a:pPr>
            <a:r>
              <a:rPr lang="en-US" sz="1400" b="1" dirty="0">
                <a:solidFill>
                  <a:srgbClr val="12172B"/>
                </a:solidFill>
                <a:latin typeface="Courier New" pitchFamily="34" charset="0"/>
                <a:ea typeface="Courier New" pitchFamily="34" charset="-122"/>
                <a:cs typeface="Courier New" pitchFamily="34" charset="-120"/>
              </a:rPr>
              <a:t>6</a:t>
            </a:r>
            <a:endParaRPr lang="en-US" sz="1400" dirty="0"/>
          </a:p>
        </p:txBody>
      </p:sp>
      <p:sp>
        <p:nvSpPr>
          <p:cNvPr id="30" name="Text 28"/>
          <p:cNvSpPr/>
          <p:nvPr/>
        </p:nvSpPr>
        <p:spPr>
          <a:xfrm>
            <a:off x="7680960" y="3108960"/>
            <a:ext cx="2331720" cy="274320"/>
          </a:xfrm>
          <a:prstGeom prst="rect">
            <a:avLst/>
          </a:prstGeom>
          <a:noFill/>
          <a:ln/>
        </p:spPr>
        <p:txBody>
          <a:bodyPr wrap="square" rtlCol="0" anchor="ctr"/>
          <a:lstStyle/>
          <a:p>
            <a:pPr algn="ctr" indent="0" marL="0">
              <a:buNone/>
            </a:pPr>
            <a:r>
              <a:rPr lang="en-US" sz="1000" i="1" dirty="0">
                <a:solidFill>
                  <a:srgbClr val="545C7E"/>
                </a:solidFill>
                <a:latin typeface="Calibri" pitchFamily="34" charset="0"/>
                <a:ea typeface="Calibri" pitchFamily="34" charset="-122"/>
                <a:cs typeface="Calibri" pitchFamily="34" charset="-120"/>
              </a:rPr>
              <a:t>row 1, col 2 → 6</a:t>
            </a:r>
            <a:endParaRPr lang="en-US" sz="1000" dirty="0"/>
          </a:p>
        </p:txBody>
      </p:sp>
      <p:sp>
        <p:nvSpPr>
          <p:cNvPr id="31" name="Shape 29"/>
          <p:cNvSpPr/>
          <p:nvPr/>
        </p:nvSpPr>
        <p:spPr>
          <a:xfrm>
            <a:off x="6903720" y="4069080"/>
            <a:ext cx="146304" cy="146304"/>
          </a:xfrm>
          <a:prstGeom prst="ellipse">
            <a:avLst/>
          </a:prstGeom>
          <a:solidFill>
            <a:srgbClr val="2FD8A2"/>
          </a:solidFill>
          <a:ln/>
        </p:spPr>
      </p:sp>
      <p:sp>
        <p:nvSpPr>
          <p:cNvPr id="32" name="Text 30"/>
          <p:cNvSpPr/>
          <p:nvPr/>
        </p:nvSpPr>
        <p:spPr>
          <a:xfrm>
            <a:off x="7196328" y="3922776"/>
            <a:ext cx="450799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Row-wise traversal visits every column before moving to the next row (as above).</a:t>
            </a:r>
            <a:endParaRPr lang="en-US" sz="1050" dirty="0"/>
          </a:p>
        </p:txBody>
      </p:sp>
      <p:sp>
        <p:nvSpPr>
          <p:cNvPr id="33" name="Shape 31"/>
          <p:cNvSpPr/>
          <p:nvPr/>
        </p:nvSpPr>
        <p:spPr>
          <a:xfrm>
            <a:off x="6903720" y="4489704"/>
            <a:ext cx="146304" cy="146304"/>
          </a:xfrm>
          <a:prstGeom prst="ellipse">
            <a:avLst/>
          </a:prstGeom>
          <a:solidFill>
            <a:srgbClr val="2FD8A2"/>
          </a:solidFill>
          <a:ln/>
        </p:spPr>
      </p:sp>
      <p:sp>
        <p:nvSpPr>
          <p:cNvPr id="34" name="Text 32"/>
          <p:cNvSpPr/>
          <p:nvPr/>
        </p:nvSpPr>
        <p:spPr>
          <a:xfrm>
            <a:off x="7196328" y="4343400"/>
            <a:ext cx="450799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Column-wise traversal swaps the loop order — outer loop over columns, inner over rows.</a:t>
            </a:r>
            <a:endParaRPr lang="en-US" sz="1050" dirty="0"/>
          </a:p>
        </p:txBody>
      </p:sp>
      <p:sp>
        <p:nvSpPr>
          <p:cNvPr id="35" name="Shape 33"/>
          <p:cNvSpPr/>
          <p:nvPr/>
        </p:nvSpPr>
        <p:spPr>
          <a:xfrm>
            <a:off x="6903720" y="4910328"/>
            <a:ext cx="146304" cy="146304"/>
          </a:xfrm>
          <a:prstGeom prst="ellipse">
            <a:avLst/>
          </a:prstGeom>
          <a:solidFill>
            <a:srgbClr val="2FD8A2"/>
          </a:solidFill>
          <a:ln/>
        </p:spPr>
      </p:sp>
      <p:sp>
        <p:nvSpPr>
          <p:cNvPr id="36" name="Text 34"/>
          <p:cNvSpPr/>
          <p:nvPr/>
        </p:nvSpPr>
        <p:spPr>
          <a:xfrm>
            <a:off x="7196328" y="4764024"/>
            <a:ext cx="450799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Practice: read a matrix, print it, find the total sum, sum each row and each column.</a:t>
            </a:r>
            <a:endParaRPr lang="en-US" sz="1050" dirty="0"/>
          </a:p>
        </p:txBody>
      </p:sp>
      <p:sp>
        <p:nvSpPr>
          <p:cNvPr id="38" name="Text 35"/>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9" name="Text 36"/>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DAY 5 OF 7</a:t>
            </a:r>
            <a:endParaRPr lang="en-US" sz="1200" dirty="0"/>
          </a:p>
        </p:txBody>
      </p:sp>
      <p:sp>
        <p:nvSpPr>
          <p:cNvPr id="3" name="Text 1"/>
          <p:cNvSpPr/>
          <p:nvPr/>
        </p:nvSpPr>
        <p:spPr>
          <a:xfrm>
            <a:off x="502920" y="1645920"/>
            <a:ext cx="107899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Strings &amp; Pointers</a:t>
            </a:r>
            <a:endParaRPr lang="en-US" sz="3800" dirty="0"/>
          </a:p>
        </p:txBody>
      </p:sp>
      <p:sp>
        <p:nvSpPr>
          <p:cNvPr id="4" name="Text 2"/>
          <p:cNvSpPr/>
          <p:nvPr/>
        </p:nvSpPr>
        <p:spPr>
          <a:xfrm>
            <a:off x="502920" y="2880360"/>
            <a:ext cx="8778240" cy="777240"/>
          </a:xfrm>
          <a:prstGeom prst="rect">
            <a:avLst/>
          </a:prstGeom>
          <a:noFill/>
          <a:ln/>
        </p:spPr>
        <p:txBody>
          <a:bodyPr wrap="square" rtlCol="0" anchor="t"/>
          <a:lstStyle/>
          <a:p>
            <a:pPr indent="0" marL="0">
              <a:buNone/>
            </a:pPr>
            <a:r>
              <a:rPr lang="en-US" sz="1450" dirty="0">
                <a:solidFill>
                  <a:srgbClr val="C7CFE8"/>
                </a:solidFill>
                <a:latin typeface="Calibri" pitchFamily="34" charset="0"/>
                <a:ea typeface="Calibri" pitchFamily="34" charset="-122"/>
                <a:cs typeface="Calibri" pitchFamily="34" charset="-120"/>
              </a:rPr>
              <a:t>std::string replaces the fiddly char-array habits from C. Pointers, taught only as far as DSA actually needs them, complete the mental model you'll lean on for linked lists and trees later.</a:t>
            </a:r>
            <a:endParaRPr lang="en-US" sz="1450" dirty="0"/>
          </a:p>
        </p:txBody>
      </p:sp>
      <p:sp>
        <p:nvSpPr>
          <p:cNvPr id="5" name="Shape 3"/>
          <p:cNvSpPr/>
          <p:nvPr/>
        </p:nvSpPr>
        <p:spPr>
          <a:xfrm>
            <a:off x="502920" y="3977640"/>
            <a:ext cx="1246327" cy="365760"/>
          </a:xfrm>
          <a:prstGeom prst="roundRect">
            <a:avLst>
              <a:gd name="adj" fmla="val 50000"/>
            </a:avLst>
          </a:prstGeom>
          <a:solidFill>
            <a:srgbClr val="16213E"/>
          </a:solidFill>
          <a:ln w="9525">
            <a:solidFill>
              <a:srgbClr val="2FD8A2"/>
            </a:solidFill>
            <a:prstDash val="solid"/>
          </a:ln>
        </p:spPr>
      </p:sp>
      <p:sp>
        <p:nvSpPr>
          <p:cNvPr id="6" name="Text 4"/>
          <p:cNvSpPr/>
          <p:nvPr/>
        </p:nvSpPr>
        <p:spPr>
          <a:xfrm>
            <a:off x="502920" y="3977640"/>
            <a:ext cx="1246327"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std::string</a:t>
            </a:r>
            <a:endParaRPr lang="en-US" sz="1050" dirty="0"/>
          </a:p>
        </p:txBody>
      </p:sp>
      <p:sp>
        <p:nvSpPr>
          <p:cNvPr id="7" name="Shape 5"/>
          <p:cNvSpPr/>
          <p:nvPr/>
        </p:nvSpPr>
        <p:spPr>
          <a:xfrm>
            <a:off x="1913839" y="3977640"/>
            <a:ext cx="1926641" cy="365760"/>
          </a:xfrm>
          <a:prstGeom prst="roundRect">
            <a:avLst>
              <a:gd name="adj" fmla="val 50000"/>
            </a:avLst>
          </a:prstGeom>
          <a:solidFill>
            <a:srgbClr val="16213E"/>
          </a:solidFill>
          <a:ln w="9525">
            <a:solidFill>
              <a:srgbClr val="2FD8A2"/>
            </a:solidFill>
            <a:prstDash val="solid"/>
          </a:ln>
        </p:spPr>
      </p:sp>
      <p:sp>
        <p:nvSpPr>
          <p:cNvPr id="8" name="Text 6"/>
          <p:cNvSpPr/>
          <p:nvPr/>
        </p:nvSpPr>
        <p:spPr>
          <a:xfrm>
            <a:off x="1913839" y="3977640"/>
            <a:ext cx="1926641"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Character functions</a:t>
            </a:r>
            <a:endParaRPr lang="en-US" sz="1050" dirty="0"/>
          </a:p>
        </p:txBody>
      </p:sp>
      <p:sp>
        <p:nvSpPr>
          <p:cNvPr id="9" name="Shape 7"/>
          <p:cNvSpPr/>
          <p:nvPr/>
        </p:nvSpPr>
        <p:spPr>
          <a:xfrm>
            <a:off x="4005072" y="3977640"/>
            <a:ext cx="1586484" cy="365760"/>
          </a:xfrm>
          <a:prstGeom prst="roundRect">
            <a:avLst>
              <a:gd name="adj" fmla="val 50000"/>
            </a:avLst>
          </a:prstGeom>
          <a:solidFill>
            <a:srgbClr val="16213E"/>
          </a:solidFill>
          <a:ln w="9525">
            <a:solidFill>
              <a:srgbClr val="2FD8A2"/>
            </a:solidFill>
            <a:prstDash val="solid"/>
          </a:ln>
        </p:spPr>
      </p:sp>
      <p:sp>
        <p:nvSpPr>
          <p:cNvPr id="10" name="Text 8"/>
          <p:cNvSpPr/>
          <p:nvPr/>
        </p:nvSpPr>
        <p:spPr>
          <a:xfrm>
            <a:off x="4005072" y="3977640"/>
            <a:ext cx="1586484"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Pointers (&amp;, *)</a:t>
            </a:r>
            <a:endParaRPr lang="en-US" sz="1050" dirty="0"/>
          </a:p>
        </p:txBody>
      </p:sp>
      <p:sp>
        <p:nvSpPr>
          <p:cNvPr id="11" name="Shape 9"/>
          <p:cNvSpPr/>
          <p:nvPr/>
        </p:nvSpPr>
        <p:spPr>
          <a:xfrm>
            <a:off x="5756148" y="3977640"/>
            <a:ext cx="906170" cy="365760"/>
          </a:xfrm>
          <a:prstGeom prst="roundRect">
            <a:avLst>
              <a:gd name="adj" fmla="val 50000"/>
            </a:avLst>
          </a:prstGeom>
          <a:solidFill>
            <a:srgbClr val="16213E"/>
          </a:solidFill>
          <a:ln w="9525">
            <a:solidFill>
              <a:srgbClr val="2FD8A2"/>
            </a:solidFill>
            <a:prstDash val="solid"/>
          </a:ln>
        </p:spPr>
      </p:sp>
      <p:sp>
        <p:nvSpPr>
          <p:cNvPr id="12" name="Text 10"/>
          <p:cNvSpPr/>
          <p:nvPr/>
        </p:nvSpPr>
        <p:spPr>
          <a:xfrm>
            <a:off x="5756148" y="3977640"/>
            <a:ext cx="906170"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nullptr</a:t>
            </a:r>
            <a:endParaRPr lang="en-US" sz="1050" dirty="0"/>
          </a:p>
        </p:txBody>
      </p:sp>
      <p:sp>
        <p:nvSpPr>
          <p:cNvPr id="13" name="Shape 11"/>
          <p:cNvSpPr/>
          <p:nvPr/>
        </p:nvSpPr>
        <p:spPr>
          <a:xfrm>
            <a:off x="6826910" y="3977640"/>
            <a:ext cx="1501445" cy="365760"/>
          </a:xfrm>
          <a:prstGeom prst="roundRect">
            <a:avLst>
              <a:gd name="adj" fmla="val 50000"/>
            </a:avLst>
          </a:prstGeom>
          <a:solidFill>
            <a:srgbClr val="16213E"/>
          </a:solidFill>
          <a:ln w="9525">
            <a:solidFill>
              <a:srgbClr val="2FD8A2"/>
            </a:solidFill>
            <a:prstDash val="solid"/>
          </a:ln>
        </p:spPr>
      </p:sp>
      <p:sp>
        <p:nvSpPr>
          <p:cNvPr id="14" name="Text 12"/>
          <p:cNvSpPr/>
          <p:nvPr/>
        </p:nvSpPr>
        <p:spPr>
          <a:xfrm>
            <a:off x="6826910" y="3977640"/>
            <a:ext cx="1501445"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Dynamic memory</a:t>
            </a:r>
            <a:endParaRPr lang="en-US" sz="1050" dirty="0"/>
          </a:p>
        </p:txBody>
      </p:sp>
      <p:sp>
        <p:nvSpPr>
          <p:cNvPr id="15" name="Shape 13"/>
          <p:cNvSpPr/>
          <p:nvPr/>
        </p:nvSpPr>
        <p:spPr>
          <a:xfrm>
            <a:off x="8945575" y="4892040"/>
            <a:ext cx="2743200" cy="1417320"/>
          </a:xfrm>
          <a:prstGeom prst="roundRect">
            <a:avLst>
              <a:gd name="adj" fmla="val 580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6" name="Shape 14"/>
          <p:cNvSpPr/>
          <p:nvPr/>
        </p:nvSpPr>
        <p:spPr>
          <a:xfrm>
            <a:off x="8945575" y="4892040"/>
            <a:ext cx="2743200" cy="292608"/>
          </a:xfrm>
          <a:prstGeom prst="rect">
            <a:avLst/>
          </a:prstGeom>
          <a:solidFill>
            <a:srgbClr val="141B33"/>
          </a:solidFill>
          <a:ln/>
        </p:spPr>
      </p:sp>
      <p:sp>
        <p:nvSpPr>
          <p:cNvPr id="17" name="Shape 15"/>
          <p:cNvSpPr/>
          <p:nvPr/>
        </p:nvSpPr>
        <p:spPr>
          <a:xfrm>
            <a:off x="9091879" y="4983480"/>
            <a:ext cx="109728" cy="109728"/>
          </a:xfrm>
          <a:prstGeom prst="ellipse">
            <a:avLst/>
          </a:prstGeom>
          <a:solidFill>
            <a:srgbClr val="FF6B6B"/>
          </a:solidFill>
          <a:ln/>
        </p:spPr>
      </p:sp>
      <p:sp>
        <p:nvSpPr>
          <p:cNvPr id="18" name="Shape 16"/>
          <p:cNvSpPr/>
          <p:nvPr/>
        </p:nvSpPr>
        <p:spPr>
          <a:xfrm>
            <a:off x="9265615" y="4983480"/>
            <a:ext cx="109728" cy="109728"/>
          </a:xfrm>
          <a:prstGeom prst="ellipse">
            <a:avLst/>
          </a:prstGeom>
          <a:solidFill>
            <a:srgbClr val="FFD166"/>
          </a:solidFill>
          <a:ln/>
        </p:spPr>
      </p:sp>
      <p:sp>
        <p:nvSpPr>
          <p:cNvPr id="19" name="Shape 17"/>
          <p:cNvSpPr/>
          <p:nvPr/>
        </p:nvSpPr>
        <p:spPr>
          <a:xfrm>
            <a:off x="9439351" y="4983480"/>
            <a:ext cx="109728" cy="109728"/>
          </a:xfrm>
          <a:prstGeom prst="ellipse">
            <a:avLst/>
          </a:prstGeom>
          <a:solidFill>
            <a:srgbClr val="2FD8A2"/>
          </a:solidFill>
          <a:ln/>
        </p:spPr>
      </p:sp>
      <p:sp>
        <p:nvSpPr>
          <p:cNvPr id="21" name="Text 1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2" name="Text 1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20</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std::string Basics</a:t>
            </a:r>
            <a:endParaRPr lang="en-US" sz="2800" dirty="0"/>
          </a:p>
        </p:txBody>
      </p:sp>
      <p:sp>
        <p:nvSpPr>
          <p:cNvPr id="4" name="Shape 2"/>
          <p:cNvSpPr/>
          <p:nvPr/>
        </p:nvSpPr>
        <p:spPr>
          <a:xfrm>
            <a:off x="502920" y="1645920"/>
            <a:ext cx="5760720" cy="3200400"/>
          </a:xfrm>
          <a:prstGeom prst="roundRect">
            <a:avLst>
              <a:gd name="adj" fmla="val 2571"/>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core operations</a:t>
            </a:r>
            <a:endParaRPr lang="en-US" sz="1000" dirty="0"/>
          </a:p>
        </p:txBody>
      </p:sp>
      <p:sp>
        <p:nvSpPr>
          <p:cNvPr id="10" name="Text 8"/>
          <p:cNvSpPr/>
          <p:nvPr/>
        </p:nvSpPr>
        <p:spPr>
          <a:xfrm>
            <a:off x="722376" y="2057400"/>
            <a:ext cx="5321808" cy="267004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"Farhaan"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length</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7</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'F'</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full</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 Khan"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concatenation</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char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ch</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name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ch</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i="1" dirty="0">
                <a:solidFill>
                  <a:srgbClr val="7FA36B"/>
                </a:solidFill>
                <a:latin typeface="Courier New" pitchFamily="34" charset="0"/>
                <a:ea typeface="Courier New" pitchFamily="34" charset="-122"/>
                <a:cs typeface="Courier New" pitchFamily="34" charset="-120"/>
              </a:rPr>
              <a:t>// loop through characters</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502920" y="5074920"/>
            <a:ext cx="146304" cy="146304"/>
          </a:xfrm>
          <a:prstGeom prst="ellipse">
            <a:avLst/>
          </a:prstGeom>
          <a:solidFill>
            <a:srgbClr val="2FD8A2"/>
          </a:solidFill>
          <a:ln/>
        </p:spPr>
      </p:sp>
      <p:sp>
        <p:nvSpPr>
          <p:cNvPr id="12" name="Text 10"/>
          <p:cNvSpPr/>
          <p:nvPr/>
        </p:nvSpPr>
        <p:spPr>
          <a:xfrm>
            <a:off x="795528" y="4928616"/>
            <a:ext cx="546811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Input: cin &gt;&gt; name reads one word; getline(cin, name) reads the full line.</a:t>
            </a:r>
            <a:endParaRPr lang="en-US" sz="1050" dirty="0"/>
          </a:p>
        </p:txBody>
      </p:sp>
      <p:sp>
        <p:nvSpPr>
          <p:cNvPr id="13" name="Shape 11"/>
          <p:cNvSpPr/>
          <p:nvPr/>
        </p:nvSpPr>
        <p:spPr>
          <a:xfrm>
            <a:off x="502920" y="5458968"/>
            <a:ext cx="146304" cy="146304"/>
          </a:xfrm>
          <a:prstGeom prst="ellipse">
            <a:avLst/>
          </a:prstGeom>
          <a:solidFill>
            <a:srgbClr val="2FD8A2"/>
          </a:solidFill>
          <a:ln/>
        </p:spPr>
      </p:sp>
      <p:sp>
        <p:nvSpPr>
          <p:cNvPr id="14" name="Text 12"/>
          <p:cNvSpPr/>
          <p:nvPr/>
        </p:nvSpPr>
        <p:spPr>
          <a:xfrm>
            <a:off x="795528" y="5312664"/>
            <a:ext cx="546811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length() and size() are interchangeable — both return character count.</a:t>
            </a:r>
            <a:endParaRPr lang="en-US" sz="1050" dirty="0"/>
          </a:p>
        </p:txBody>
      </p:sp>
      <p:sp>
        <p:nvSpPr>
          <p:cNvPr id="15" name="Shape 13"/>
          <p:cNvSpPr/>
          <p:nvPr/>
        </p:nvSpPr>
        <p:spPr>
          <a:xfrm>
            <a:off x="502920" y="5843016"/>
            <a:ext cx="146304" cy="146304"/>
          </a:xfrm>
          <a:prstGeom prst="ellipse">
            <a:avLst/>
          </a:prstGeom>
          <a:solidFill>
            <a:srgbClr val="2FD8A2"/>
          </a:solidFill>
          <a:ln/>
        </p:spPr>
      </p:sp>
      <p:sp>
        <p:nvSpPr>
          <p:cNvPr id="16" name="Text 14"/>
          <p:cNvSpPr/>
          <p:nvPr/>
        </p:nvSpPr>
        <p:spPr>
          <a:xfrm>
            <a:off x="795528" y="5696712"/>
            <a:ext cx="546811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Comparison with ==, &lt;, &gt; works lexicographically, just like numbers.</a:t>
            </a:r>
            <a:endParaRPr lang="en-US" sz="1050" dirty="0"/>
          </a:p>
        </p:txBody>
      </p:sp>
      <p:sp>
        <p:nvSpPr>
          <p:cNvPr id="17" name="Shape 15"/>
          <p:cNvSpPr/>
          <p:nvPr/>
        </p:nvSpPr>
        <p:spPr>
          <a:xfrm>
            <a:off x="6903720" y="1645920"/>
            <a:ext cx="4800600" cy="1965960"/>
          </a:xfrm>
          <a:prstGeom prst="roundRect">
            <a:avLst>
              <a:gd name="adj" fmla="val 3721"/>
            </a:avLst>
          </a:prstGeom>
          <a:solidFill>
            <a:srgbClr val="EAFBF4"/>
          </a:solidFill>
          <a:ln w="12700">
            <a:solidFill>
              <a:srgbClr val="16A67C"/>
            </a:solidFill>
            <a:prstDash val="solid"/>
          </a:ln>
        </p:spPr>
      </p:sp>
      <p:sp>
        <p:nvSpPr>
          <p:cNvPr id="18" name="Text 16"/>
          <p:cNvSpPr/>
          <p:nvPr/>
        </p:nvSpPr>
        <p:spPr>
          <a:xfrm>
            <a:off x="7086600" y="172821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Why std::string over char[]</a:t>
            </a:r>
            <a:endParaRPr lang="en-US" sz="1050" dirty="0"/>
          </a:p>
        </p:txBody>
      </p:sp>
      <p:sp>
        <p:nvSpPr>
          <p:cNvPr id="19" name="Text 17"/>
          <p:cNvSpPr/>
          <p:nvPr/>
        </p:nvSpPr>
        <p:spPr>
          <a:xfrm>
            <a:off x="7086600" y="1993392"/>
            <a:ext cx="4434840" cy="15270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No manual size tracking, no risk of buffer overflow, built-in concatenation and comparison — the C-style char array habits you may know aren't needed here.</a:t>
            </a:r>
            <a:endParaRPr lang="en-US" sz="1100" dirty="0"/>
          </a:p>
        </p:txBody>
      </p:sp>
      <p:sp>
        <p:nvSpPr>
          <p:cNvPr id="20" name="Shape 18"/>
          <p:cNvSpPr/>
          <p:nvPr/>
        </p:nvSpPr>
        <p:spPr>
          <a:xfrm>
            <a:off x="6903720" y="3840480"/>
            <a:ext cx="146304" cy="146304"/>
          </a:xfrm>
          <a:prstGeom prst="ellipse">
            <a:avLst/>
          </a:prstGeom>
          <a:solidFill>
            <a:srgbClr val="2FD8A2"/>
          </a:solidFill>
          <a:ln/>
        </p:spPr>
      </p:sp>
      <p:sp>
        <p:nvSpPr>
          <p:cNvPr id="21" name="Text 19"/>
          <p:cNvSpPr/>
          <p:nvPr/>
        </p:nvSpPr>
        <p:spPr>
          <a:xfrm>
            <a:off x="7196328" y="3739896"/>
            <a:ext cx="4507992" cy="274320"/>
          </a:xfrm>
          <a:prstGeom prst="rect">
            <a:avLst/>
          </a:prstGeom>
          <a:noFill/>
          <a:ln/>
        </p:spPr>
        <p:txBody>
          <a:bodyPr wrap="square" rtlCol="0" anchor="ctr"/>
          <a:lstStyle/>
          <a:p>
            <a:pPr indent="0" marL="0">
              <a:buNone/>
            </a:pPr>
            <a:r>
              <a:rPr lang="en-US" sz="1200" b="1" dirty="0">
                <a:solidFill>
                  <a:srgbClr val="12172B"/>
                </a:solidFill>
                <a:latin typeface="Calibri" pitchFamily="34" charset="0"/>
                <a:ea typeface="Calibri" pitchFamily="34" charset="-122"/>
                <a:cs typeface="Calibri" pitchFamily="34" charset="-120"/>
              </a:rPr>
              <a:t>Practice: count vowels</a:t>
            </a:r>
            <a:endParaRPr lang="en-US" sz="1200" dirty="0"/>
          </a:p>
        </p:txBody>
      </p:sp>
      <p:sp>
        <p:nvSpPr>
          <p:cNvPr id="22" name="Text 20"/>
          <p:cNvSpPr/>
          <p:nvPr/>
        </p:nvSpPr>
        <p:spPr>
          <a:xfrm>
            <a:off x="7196328" y="3995928"/>
            <a:ext cx="4507992" cy="457200"/>
          </a:xfrm>
          <a:prstGeom prst="rect">
            <a:avLst/>
          </a:prstGeom>
          <a:noFill/>
          <a:ln/>
        </p:spPr>
        <p:txBody>
          <a:bodyPr wrap="square" rtlCol="0" anchor="t"/>
          <a:lstStyle/>
          <a:p>
            <a:pPr indent="0" marL="0">
              <a:buNone/>
            </a:pPr>
            <a:r>
              <a:rPr lang="en-US" sz="1000" dirty="0">
                <a:solidFill>
                  <a:srgbClr val="545C7E"/>
                </a:solidFill>
                <a:latin typeface="Calibri" pitchFamily="34" charset="0"/>
                <a:ea typeface="Calibri" pitchFamily="34" charset="-122"/>
                <a:cs typeface="Calibri" pitchFamily="34" charset="-120"/>
              </a:rPr>
              <a:t>Loop through characters, check membership in "aeiouAEIOU".</a:t>
            </a:r>
            <a:endParaRPr lang="en-US" sz="1000" dirty="0"/>
          </a:p>
        </p:txBody>
      </p:sp>
      <p:sp>
        <p:nvSpPr>
          <p:cNvPr id="23" name="Shape 21"/>
          <p:cNvSpPr/>
          <p:nvPr/>
        </p:nvSpPr>
        <p:spPr>
          <a:xfrm>
            <a:off x="6903720" y="4407408"/>
            <a:ext cx="146304" cy="146304"/>
          </a:xfrm>
          <a:prstGeom prst="ellipse">
            <a:avLst/>
          </a:prstGeom>
          <a:solidFill>
            <a:srgbClr val="2FD8A2"/>
          </a:solidFill>
          <a:ln/>
        </p:spPr>
      </p:sp>
      <p:sp>
        <p:nvSpPr>
          <p:cNvPr id="24" name="Text 22"/>
          <p:cNvSpPr/>
          <p:nvPr/>
        </p:nvSpPr>
        <p:spPr>
          <a:xfrm>
            <a:off x="7196328" y="4306824"/>
            <a:ext cx="4507992" cy="274320"/>
          </a:xfrm>
          <a:prstGeom prst="rect">
            <a:avLst/>
          </a:prstGeom>
          <a:noFill/>
          <a:ln/>
        </p:spPr>
        <p:txBody>
          <a:bodyPr wrap="square" rtlCol="0" anchor="ctr"/>
          <a:lstStyle/>
          <a:p>
            <a:pPr indent="0" marL="0">
              <a:buNone/>
            </a:pPr>
            <a:r>
              <a:rPr lang="en-US" sz="1200" b="1" dirty="0">
                <a:solidFill>
                  <a:srgbClr val="12172B"/>
                </a:solidFill>
                <a:latin typeface="Calibri" pitchFamily="34" charset="0"/>
                <a:ea typeface="Calibri" pitchFamily="34" charset="-122"/>
                <a:cs typeface="Calibri" pitchFamily="34" charset="-120"/>
              </a:rPr>
              <a:t>Practice: reverse a string</a:t>
            </a:r>
            <a:endParaRPr lang="en-US" sz="1200" dirty="0"/>
          </a:p>
        </p:txBody>
      </p:sp>
      <p:sp>
        <p:nvSpPr>
          <p:cNvPr id="25" name="Text 23"/>
          <p:cNvSpPr/>
          <p:nvPr/>
        </p:nvSpPr>
        <p:spPr>
          <a:xfrm>
            <a:off x="7196328" y="4562856"/>
            <a:ext cx="4507992" cy="457200"/>
          </a:xfrm>
          <a:prstGeom prst="rect">
            <a:avLst/>
          </a:prstGeom>
          <a:noFill/>
          <a:ln/>
        </p:spPr>
        <p:txBody>
          <a:bodyPr wrap="square" rtlCol="0" anchor="t"/>
          <a:lstStyle/>
          <a:p>
            <a:pPr indent="0" marL="0">
              <a:buNone/>
            </a:pPr>
            <a:r>
              <a:rPr lang="en-US" sz="1000" dirty="0">
                <a:solidFill>
                  <a:srgbClr val="545C7E"/>
                </a:solidFill>
                <a:latin typeface="Calibri" pitchFamily="34" charset="0"/>
                <a:ea typeface="Calibri" pitchFamily="34" charset="-122"/>
                <a:cs typeface="Calibri" pitchFamily="34" charset="-120"/>
              </a:rPr>
              <a:t>Build a new string by walking backwards, or swap in place.</a:t>
            </a:r>
            <a:endParaRPr lang="en-US" sz="1000" dirty="0"/>
          </a:p>
        </p:txBody>
      </p:sp>
      <p:sp>
        <p:nvSpPr>
          <p:cNvPr id="26" name="Shape 24"/>
          <p:cNvSpPr/>
          <p:nvPr/>
        </p:nvSpPr>
        <p:spPr>
          <a:xfrm>
            <a:off x="6903720" y="4974336"/>
            <a:ext cx="146304" cy="146304"/>
          </a:xfrm>
          <a:prstGeom prst="ellipse">
            <a:avLst/>
          </a:prstGeom>
          <a:solidFill>
            <a:srgbClr val="2FD8A2"/>
          </a:solidFill>
          <a:ln/>
        </p:spPr>
      </p:sp>
      <p:sp>
        <p:nvSpPr>
          <p:cNvPr id="27" name="Text 25"/>
          <p:cNvSpPr/>
          <p:nvPr/>
        </p:nvSpPr>
        <p:spPr>
          <a:xfrm>
            <a:off x="7196328" y="4873752"/>
            <a:ext cx="4507992" cy="274320"/>
          </a:xfrm>
          <a:prstGeom prst="rect">
            <a:avLst/>
          </a:prstGeom>
          <a:noFill/>
          <a:ln/>
        </p:spPr>
        <p:txBody>
          <a:bodyPr wrap="square" rtlCol="0" anchor="ctr"/>
          <a:lstStyle/>
          <a:p>
            <a:pPr indent="0" marL="0">
              <a:buNone/>
            </a:pPr>
            <a:r>
              <a:rPr lang="en-US" sz="1200" b="1" dirty="0">
                <a:solidFill>
                  <a:srgbClr val="12172B"/>
                </a:solidFill>
                <a:latin typeface="Calibri" pitchFamily="34" charset="0"/>
                <a:ea typeface="Calibri" pitchFamily="34" charset="-122"/>
                <a:cs typeface="Calibri" pitchFamily="34" charset="-120"/>
              </a:rPr>
              <a:t>Practice: palindrome check</a:t>
            </a:r>
            <a:endParaRPr lang="en-US" sz="1200" dirty="0"/>
          </a:p>
        </p:txBody>
      </p:sp>
      <p:sp>
        <p:nvSpPr>
          <p:cNvPr id="28" name="Text 26"/>
          <p:cNvSpPr/>
          <p:nvPr/>
        </p:nvSpPr>
        <p:spPr>
          <a:xfrm>
            <a:off x="7196328" y="5129784"/>
            <a:ext cx="4507992" cy="457200"/>
          </a:xfrm>
          <a:prstGeom prst="rect">
            <a:avLst/>
          </a:prstGeom>
          <a:noFill/>
          <a:ln/>
        </p:spPr>
        <p:txBody>
          <a:bodyPr wrap="square" rtlCol="0" anchor="t"/>
          <a:lstStyle/>
          <a:p>
            <a:pPr indent="0" marL="0">
              <a:buNone/>
            </a:pPr>
            <a:r>
              <a:rPr lang="en-US" sz="1000" dirty="0">
                <a:solidFill>
                  <a:srgbClr val="545C7E"/>
                </a:solidFill>
                <a:latin typeface="Calibri" pitchFamily="34" charset="0"/>
                <a:ea typeface="Calibri" pitchFamily="34" charset="-122"/>
                <a:cs typeface="Calibri" pitchFamily="34" charset="-120"/>
              </a:rPr>
              <a:t>Compare characters from both ends moving inward.</a:t>
            </a:r>
            <a:endParaRPr lang="en-US" sz="1000" dirty="0"/>
          </a:p>
        </p:txBody>
      </p:sp>
      <p:sp>
        <p:nvSpPr>
          <p:cNvPr id="30" name="Text 27"/>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1" name="Text 28"/>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20</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Character Functions &amp; String Practice</a:t>
            </a:r>
            <a:endParaRPr lang="en-US" sz="2800" dirty="0"/>
          </a:p>
        </p:txBody>
      </p:sp>
      <p:sp>
        <p:nvSpPr>
          <p:cNvPr id="4" name="Shape 2"/>
          <p:cNvSpPr/>
          <p:nvPr/>
        </p:nvSpPr>
        <p:spPr>
          <a:xfrm>
            <a:off x="502920" y="1645920"/>
            <a:ext cx="5760720" cy="2606040"/>
          </a:xfrm>
          <a:prstGeom prst="roundRect">
            <a:avLst>
              <a:gd name="adj" fmla="val 3158"/>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&lt;cctype&gt;</a:t>
            </a:r>
            <a:endParaRPr lang="en-US" sz="1000" dirty="0"/>
          </a:p>
        </p:txBody>
      </p:sp>
      <p:sp>
        <p:nvSpPr>
          <p:cNvPr id="10" name="Text 8"/>
          <p:cNvSpPr/>
          <p:nvPr/>
        </p:nvSpPr>
        <p:spPr>
          <a:xfrm>
            <a:off x="722376" y="2057400"/>
            <a:ext cx="5321808" cy="2075688"/>
          </a:xfrm>
          <a:prstGeom prst="rect">
            <a:avLst/>
          </a:prstGeom>
          <a:noFill/>
          <a:ln/>
        </p:spPr>
        <p:txBody>
          <a:bodyPr wrap="square" lIns="0" tIns="0" rIns="0" bIns="0" rtlCol="0" anchor="t"/>
          <a:lstStyle/>
          <a:p>
            <a:pPr algn="l" indent="0" marL="0">
              <a:lnSpc>
                <a:spcPct val="122000"/>
              </a:lnSpc>
              <a:buNone/>
            </a:pPr>
            <a:r>
              <a:rPr lang="en-US" sz="1300" dirty="0">
                <a:solidFill>
                  <a:srgbClr val="FF8FB1"/>
                </a:solidFill>
                <a:latin typeface="Courier New" pitchFamily="34" charset="0"/>
                <a:ea typeface="Courier New" pitchFamily="34" charset="-122"/>
                <a:cs typeface="Courier New" pitchFamily="34" charset="-120"/>
              </a:rPr>
              <a:t>#include &lt;cctype&gt;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char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tolower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'a'</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toupper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'A'</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isdigit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5</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true</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isalpha</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false</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4480560"/>
          <a:ext cx="5760720" cy="914400"/>
        </p:xfrm>
        <a:graphic>
          <a:graphicData uri="http://schemas.openxmlformats.org/drawingml/2006/table">
            <a:tbl>
              <a:tblPr/>
              <a:tblGrid>
                <a:gridCol w="2103120"/>
                <a:gridCol w="3657600"/>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Function</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329184">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tolower(c)</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Converts to lowercase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toupper(c)</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Converts to uppercase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29184">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isdigit(c)</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True if c is 0-9</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29184">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isalpha(c)</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True if c is a letter</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bl>
          </a:graphicData>
        </a:graphic>
      </p:graphicFrame>
      <p:sp>
        <p:nvSpPr>
          <p:cNvPr id="12" name="Shape 9"/>
          <p:cNvSpPr/>
          <p:nvPr/>
        </p:nvSpPr>
        <p:spPr>
          <a:xfrm>
            <a:off x="6903720" y="1645920"/>
            <a:ext cx="4800600" cy="2880360"/>
          </a:xfrm>
          <a:prstGeom prst="roundRect">
            <a:avLst>
              <a:gd name="adj" fmla="val 2857"/>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3" name="Shape 10"/>
          <p:cNvSpPr/>
          <p:nvPr/>
        </p:nvSpPr>
        <p:spPr>
          <a:xfrm>
            <a:off x="6903720" y="1645920"/>
            <a:ext cx="4800600" cy="292608"/>
          </a:xfrm>
          <a:prstGeom prst="rect">
            <a:avLst/>
          </a:prstGeom>
          <a:solidFill>
            <a:srgbClr val="141B33"/>
          </a:solidFill>
          <a:ln/>
        </p:spPr>
      </p:sp>
      <p:sp>
        <p:nvSpPr>
          <p:cNvPr id="14" name="Shape 11"/>
          <p:cNvSpPr/>
          <p:nvPr/>
        </p:nvSpPr>
        <p:spPr>
          <a:xfrm>
            <a:off x="7050024" y="1737360"/>
            <a:ext cx="109728" cy="109728"/>
          </a:xfrm>
          <a:prstGeom prst="ellipse">
            <a:avLst/>
          </a:prstGeom>
          <a:solidFill>
            <a:srgbClr val="FF6B6B"/>
          </a:solidFill>
          <a:ln/>
        </p:spPr>
      </p:sp>
      <p:sp>
        <p:nvSpPr>
          <p:cNvPr id="15" name="Shape 12"/>
          <p:cNvSpPr/>
          <p:nvPr/>
        </p:nvSpPr>
        <p:spPr>
          <a:xfrm>
            <a:off x="7223760" y="1737360"/>
            <a:ext cx="109728" cy="109728"/>
          </a:xfrm>
          <a:prstGeom prst="ellipse">
            <a:avLst/>
          </a:prstGeom>
          <a:solidFill>
            <a:srgbClr val="FFD166"/>
          </a:solidFill>
          <a:ln/>
        </p:spPr>
      </p:sp>
      <p:sp>
        <p:nvSpPr>
          <p:cNvPr id="16" name="Shape 13"/>
          <p:cNvSpPr/>
          <p:nvPr/>
        </p:nvSpPr>
        <p:spPr>
          <a:xfrm>
            <a:off x="7397496" y="1737360"/>
            <a:ext cx="109728" cy="109728"/>
          </a:xfrm>
          <a:prstGeom prst="ellipse">
            <a:avLst/>
          </a:prstGeom>
          <a:solidFill>
            <a:srgbClr val="2FD8A2"/>
          </a:solidFill>
          <a:ln/>
        </p:spPr>
      </p:sp>
      <p:sp>
        <p:nvSpPr>
          <p:cNvPr id="17" name="Text 14"/>
          <p:cNvSpPr/>
          <p:nvPr/>
        </p:nvSpPr>
        <p:spPr>
          <a:xfrm>
            <a:off x="6903720" y="164592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count digits &amp; letters</a:t>
            </a:r>
            <a:endParaRPr lang="en-US" sz="1000" dirty="0"/>
          </a:p>
        </p:txBody>
      </p:sp>
      <p:sp>
        <p:nvSpPr>
          <p:cNvPr id="18" name="Text 15"/>
          <p:cNvSpPr/>
          <p:nvPr/>
        </p:nvSpPr>
        <p:spPr>
          <a:xfrm>
            <a:off x="7123176" y="2057400"/>
            <a:ext cx="4361688" cy="2350008"/>
          </a:xfrm>
          <a:prstGeom prst="rect">
            <a:avLst/>
          </a:prstGeom>
          <a:noFill/>
          <a:ln/>
        </p:spPr>
        <p:txBody>
          <a:bodyPr wrap="square" lIns="0" tIns="0" rIns="0" bIns="0" rtlCol="0" anchor="t"/>
          <a:lstStyle/>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3B778"/>
                </a:solidFill>
                <a:latin typeface="Courier New" pitchFamily="34" charset="0"/>
                <a:ea typeface="Courier New" pitchFamily="34" charset="-122"/>
                <a:cs typeface="Courier New" pitchFamily="34" charset="-120"/>
              </a:rPr>
              <a:t>"Hello123"</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letters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digits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char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isalpha</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letters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else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isdigit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c</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digits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letters = 5, digits = 3</a:t>
            </a:r>
            <a:endParaRPr lang="en-US" sz="1200" dirty="0"/>
          </a:p>
        </p:txBody>
      </p:sp>
      <p:sp>
        <p:nvSpPr>
          <p:cNvPr id="19" name="Shape 16"/>
          <p:cNvSpPr/>
          <p:nvPr/>
        </p:nvSpPr>
        <p:spPr>
          <a:xfrm>
            <a:off x="6903720" y="4709160"/>
            <a:ext cx="4800600" cy="1417320"/>
          </a:xfrm>
          <a:prstGeom prst="roundRect">
            <a:avLst>
              <a:gd name="adj" fmla="val 5161"/>
            </a:avLst>
          </a:prstGeom>
          <a:solidFill>
            <a:srgbClr val="FFF6E4"/>
          </a:solidFill>
          <a:ln w="12700">
            <a:solidFill>
              <a:srgbClr val="E08A00"/>
            </a:solidFill>
            <a:prstDash val="solid"/>
          </a:ln>
        </p:spPr>
      </p:sp>
      <p:sp>
        <p:nvSpPr>
          <p:cNvPr id="20" name="Text 17"/>
          <p:cNvSpPr/>
          <p:nvPr/>
        </p:nvSpPr>
        <p:spPr>
          <a:xfrm>
            <a:off x="7086600" y="479145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More practice</a:t>
            </a:r>
            <a:endParaRPr lang="en-US" sz="1050" dirty="0"/>
          </a:p>
        </p:txBody>
      </p:sp>
      <p:sp>
        <p:nvSpPr>
          <p:cNvPr id="21" name="Text 18"/>
          <p:cNvSpPr/>
          <p:nvPr/>
        </p:nvSpPr>
        <p:spPr>
          <a:xfrm>
            <a:off x="7086600" y="5056632"/>
            <a:ext cx="4434840" cy="9784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Convert a string to uppercase character-by-character, and compare two strings for equality without using ==.</a:t>
            </a:r>
            <a:endParaRPr lang="en-US" sz="1100" dirty="0"/>
          </a:p>
        </p:txBody>
      </p:sp>
      <p:sp>
        <p:nvSpPr>
          <p:cNvPr id="23" name="Text 19"/>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4" name="Text 20"/>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21</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Pointers — The Necessary Foundation</a:t>
            </a:r>
            <a:endParaRPr lang="en-US" sz="2800" dirty="0"/>
          </a:p>
        </p:txBody>
      </p:sp>
      <p:sp>
        <p:nvSpPr>
          <p:cNvPr id="4" name="Shape 2"/>
          <p:cNvSpPr/>
          <p:nvPr/>
        </p:nvSpPr>
        <p:spPr>
          <a:xfrm>
            <a:off x="502920" y="1645920"/>
            <a:ext cx="5760720" cy="1691640"/>
          </a:xfrm>
          <a:prstGeom prst="roundRect">
            <a:avLst>
              <a:gd name="adj" fmla="val 4865"/>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the basics</a:t>
            </a:r>
            <a:endParaRPr lang="en-US" sz="1000" dirty="0"/>
          </a:p>
        </p:txBody>
      </p:sp>
      <p:sp>
        <p:nvSpPr>
          <p:cNvPr id="10" name="Text 8"/>
          <p:cNvSpPr/>
          <p:nvPr/>
        </p:nvSpPr>
        <p:spPr>
          <a:xfrm>
            <a:off x="722376" y="2057400"/>
            <a:ext cx="5321808" cy="116128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pointer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&amp;</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pointer stores value's address</a:t>
            </a:r>
            <a:endParaRPr lang="en-US" sz="1300" dirty="0"/>
          </a:p>
        </p:txBody>
      </p:sp>
      <p:sp>
        <p:nvSpPr>
          <p:cNvPr id="11" name="Shape 9"/>
          <p:cNvSpPr/>
          <p:nvPr/>
        </p:nvSpPr>
        <p:spPr>
          <a:xfrm>
            <a:off x="502920" y="3611880"/>
            <a:ext cx="146304" cy="146304"/>
          </a:xfrm>
          <a:prstGeom prst="ellipse">
            <a:avLst/>
          </a:prstGeom>
          <a:solidFill>
            <a:srgbClr val="2FD8A2"/>
          </a:solidFill>
          <a:ln/>
        </p:spPr>
      </p:sp>
      <p:sp>
        <p:nvSpPr>
          <p:cNvPr id="12" name="Text 10"/>
          <p:cNvSpPr/>
          <p:nvPr/>
        </p:nvSpPr>
        <p:spPr>
          <a:xfrm>
            <a:off x="795528" y="3511296"/>
            <a:ext cx="546811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&amp; — address-of operator</a:t>
            </a:r>
            <a:endParaRPr lang="en-US" sz="1300" dirty="0"/>
          </a:p>
        </p:txBody>
      </p:sp>
      <p:sp>
        <p:nvSpPr>
          <p:cNvPr id="13" name="Text 11"/>
          <p:cNvSpPr/>
          <p:nvPr/>
        </p:nvSpPr>
        <p:spPr>
          <a:xfrm>
            <a:off x="795528" y="3767328"/>
            <a:ext cx="546811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&amp;value gives the memory address where value lives.</a:t>
            </a:r>
            <a:endParaRPr lang="en-US" sz="1100" dirty="0"/>
          </a:p>
        </p:txBody>
      </p:sp>
      <p:sp>
        <p:nvSpPr>
          <p:cNvPr id="14" name="Shape 12"/>
          <p:cNvSpPr/>
          <p:nvPr/>
        </p:nvSpPr>
        <p:spPr>
          <a:xfrm>
            <a:off x="502920" y="4178808"/>
            <a:ext cx="146304" cy="146304"/>
          </a:xfrm>
          <a:prstGeom prst="ellipse">
            <a:avLst/>
          </a:prstGeom>
          <a:solidFill>
            <a:srgbClr val="2FD8A2"/>
          </a:solidFill>
          <a:ln/>
        </p:spPr>
      </p:sp>
      <p:sp>
        <p:nvSpPr>
          <p:cNvPr id="15" name="Text 13"/>
          <p:cNvSpPr/>
          <p:nvPr/>
        </p:nvSpPr>
        <p:spPr>
          <a:xfrm>
            <a:off x="795528" y="4078224"/>
            <a:ext cx="546811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 — dereference operator</a:t>
            </a:r>
            <a:endParaRPr lang="en-US" sz="1300" dirty="0"/>
          </a:p>
        </p:txBody>
      </p:sp>
      <p:sp>
        <p:nvSpPr>
          <p:cNvPr id="16" name="Text 14"/>
          <p:cNvSpPr/>
          <p:nvPr/>
        </p:nvSpPr>
        <p:spPr>
          <a:xfrm>
            <a:off x="795528" y="4334256"/>
            <a:ext cx="5468112" cy="457200"/>
          </a:xfrm>
          <a:prstGeom prst="rect">
            <a:avLst/>
          </a:prstGeom>
          <a:noFill/>
          <a:ln/>
        </p:spPr>
        <p:txBody>
          <a:bodyPr wrap="square" rtlCol="0" anchor="t"/>
          <a:lstStyle/>
          <a:p>
            <a:pPr indent="0" marL="0">
              <a:buNone/>
            </a:pPr>
            <a:r>
              <a:rPr lang="en-US" sz="1100" dirty="0">
                <a:solidFill>
                  <a:srgbClr val="545C7E"/>
                </a:solidFill>
                <a:latin typeface="Calibri" pitchFamily="34" charset="0"/>
                <a:ea typeface="Calibri" pitchFamily="34" charset="-122"/>
                <a:cs typeface="Calibri" pitchFamily="34" charset="-120"/>
              </a:rPr>
              <a:t>*pointer follows the address back to the value stored there.</a:t>
            </a:r>
            <a:endParaRPr lang="en-US" sz="1100" dirty="0"/>
          </a:p>
        </p:txBody>
      </p:sp>
      <p:sp>
        <p:nvSpPr>
          <p:cNvPr id="17" name="Shape 15"/>
          <p:cNvSpPr/>
          <p:nvPr/>
        </p:nvSpPr>
        <p:spPr>
          <a:xfrm>
            <a:off x="502920" y="5029200"/>
            <a:ext cx="5760720" cy="1280160"/>
          </a:xfrm>
          <a:prstGeom prst="roundRect">
            <a:avLst>
              <a:gd name="adj" fmla="val 5714"/>
            </a:avLst>
          </a:prstGeom>
          <a:solidFill>
            <a:srgbClr val="EAFBF4"/>
          </a:solidFill>
          <a:ln w="12700">
            <a:solidFill>
              <a:srgbClr val="16A67C"/>
            </a:solidFill>
            <a:prstDash val="solid"/>
          </a:ln>
        </p:spPr>
      </p:sp>
      <p:sp>
        <p:nvSpPr>
          <p:cNvPr id="18" name="Text 16"/>
          <p:cNvSpPr/>
          <p:nvPr/>
        </p:nvSpPr>
        <p:spPr>
          <a:xfrm>
            <a:off x="685800" y="5111496"/>
            <a:ext cx="539496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Kept deliberately narrow</a:t>
            </a:r>
            <a:endParaRPr lang="en-US" sz="1050" dirty="0"/>
          </a:p>
        </p:txBody>
      </p:sp>
      <p:sp>
        <p:nvSpPr>
          <p:cNvPr id="19" name="Text 17"/>
          <p:cNvSpPr/>
          <p:nvPr/>
        </p:nvSpPr>
        <p:spPr>
          <a:xfrm>
            <a:off x="685800" y="5376672"/>
            <a:ext cx="5394960" cy="84124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This course stops short of pointer arithmetic — that depth arrives naturally once you meet linked lists and trees. For now, understanding &amp; and * is enough.</a:t>
            </a:r>
            <a:endParaRPr lang="en-US" sz="1100" dirty="0"/>
          </a:p>
        </p:txBody>
      </p:sp>
      <p:sp>
        <p:nvSpPr>
          <p:cNvPr id="20" name="Shape 18"/>
          <p:cNvSpPr/>
          <p:nvPr/>
        </p:nvSpPr>
        <p:spPr>
          <a:xfrm>
            <a:off x="6903720" y="1828800"/>
            <a:ext cx="1920240" cy="685800"/>
          </a:xfrm>
          <a:prstGeom prst="rect">
            <a:avLst/>
          </a:prstGeom>
          <a:solidFill>
            <a:srgbClr val="FFFFFF"/>
          </a:solidFill>
          <a:ln w="15875">
            <a:solidFill>
              <a:srgbClr val="0B132B"/>
            </a:solidFill>
            <a:prstDash val="solid"/>
          </a:ln>
        </p:spPr>
      </p:sp>
      <p:sp>
        <p:nvSpPr>
          <p:cNvPr id="21" name="Text 19"/>
          <p:cNvSpPr/>
          <p:nvPr/>
        </p:nvSpPr>
        <p:spPr>
          <a:xfrm>
            <a:off x="6903720" y="1828800"/>
            <a:ext cx="1920240" cy="685800"/>
          </a:xfrm>
          <a:prstGeom prst="rect">
            <a:avLst/>
          </a:prstGeom>
          <a:noFill/>
          <a:ln/>
        </p:spPr>
        <p:txBody>
          <a:bodyPr wrap="square" rtlCol="0" anchor="ctr"/>
          <a:lstStyle/>
          <a:p>
            <a:pPr algn="ctr" indent="0" marL="0">
              <a:buNone/>
            </a:pPr>
            <a:r>
              <a:rPr lang="en-US" sz="1500" b="1" dirty="0">
                <a:solidFill>
                  <a:srgbClr val="12172B"/>
                </a:solidFill>
                <a:latin typeface="Courier New" pitchFamily="34" charset="0"/>
                <a:ea typeface="Courier New" pitchFamily="34" charset="-122"/>
                <a:cs typeface="Courier New" pitchFamily="34" charset="-120"/>
              </a:rPr>
              <a:t>10</a:t>
            </a:r>
            <a:endParaRPr lang="en-US" sz="1500" dirty="0"/>
          </a:p>
        </p:txBody>
      </p:sp>
      <p:sp>
        <p:nvSpPr>
          <p:cNvPr id="22" name="Text 20"/>
          <p:cNvSpPr/>
          <p:nvPr/>
        </p:nvSpPr>
        <p:spPr>
          <a:xfrm>
            <a:off x="6903720" y="2542032"/>
            <a:ext cx="1920240" cy="274320"/>
          </a:xfrm>
          <a:prstGeom prst="rect">
            <a:avLst/>
          </a:prstGeom>
          <a:noFill/>
          <a:ln/>
        </p:spPr>
        <p:txBody>
          <a:bodyPr wrap="square" rtlCol="0" anchor="ctr"/>
          <a:lstStyle/>
          <a:p>
            <a:pPr algn="ctr" indent="0" marL="0">
              <a:buNone/>
            </a:pPr>
            <a:r>
              <a:rPr lang="en-US" sz="900" dirty="0">
                <a:solidFill>
                  <a:srgbClr val="545C7E"/>
                </a:solidFill>
                <a:latin typeface="Calibri" pitchFamily="34" charset="0"/>
                <a:ea typeface="Calibri" pitchFamily="34" charset="-122"/>
                <a:cs typeface="Calibri" pitchFamily="34" charset="-120"/>
              </a:rPr>
              <a:t>value  (0x7ffe...a4)</a:t>
            </a:r>
            <a:endParaRPr lang="en-US" sz="900" dirty="0"/>
          </a:p>
        </p:txBody>
      </p:sp>
      <p:sp>
        <p:nvSpPr>
          <p:cNvPr id="23" name="Shape 21"/>
          <p:cNvSpPr/>
          <p:nvPr/>
        </p:nvSpPr>
        <p:spPr>
          <a:xfrm>
            <a:off x="9784080" y="1828800"/>
            <a:ext cx="1920240" cy="685800"/>
          </a:xfrm>
          <a:prstGeom prst="rect">
            <a:avLst/>
          </a:prstGeom>
          <a:solidFill>
            <a:srgbClr val="EAFBF4"/>
          </a:solidFill>
          <a:ln w="15875">
            <a:solidFill>
              <a:srgbClr val="16A67C"/>
            </a:solidFill>
            <a:prstDash val="solid"/>
          </a:ln>
        </p:spPr>
      </p:sp>
      <p:sp>
        <p:nvSpPr>
          <p:cNvPr id="24" name="Text 22"/>
          <p:cNvSpPr/>
          <p:nvPr/>
        </p:nvSpPr>
        <p:spPr>
          <a:xfrm>
            <a:off x="9784080" y="1828800"/>
            <a:ext cx="1920240" cy="685800"/>
          </a:xfrm>
          <a:prstGeom prst="rect">
            <a:avLst/>
          </a:prstGeom>
          <a:noFill/>
          <a:ln/>
        </p:spPr>
        <p:txBody>
          <a:bodyPr wrap="square" rtlCol="0" anchor="ctr"/>
          <a:lstStyle/>
          <a:p>
            <a:pPr algn="ctr" indent="0" marL="0">
              <a:buNone/>
            </a:pPr>
            <a:r>
              <a:rPr lang="en-US" sz="1200" b="1" dirty="0">
                <a:solidFill>
                  <a:srgbClr val="16A67C"/>
                </a:solidFill>
                <a:latin typeface="Courier New" pitchFamily="34" charset="0"/>
                <a:ea typeface="Courier New" pitchFamily="34" charset="-122"/>
                <a:cs typeface="Courier New" pitchFamily="34" charset="-120"/>
              </a:rPr>
              <a:t>0x7ffe...a4</a:t>
            </a:r>
            <a:endParaRPr lang="en-US" sz="1200" dirty="0"/>
          </a:p>
        </p:txBody>
      </p:sp>
      <p:sp>
        <p:nvSpPr>
          <p:cNvPr id="25" name="Text 23"/>
          <p:cNvSpPr/>
          <p:nvPr/>
        </p:nvSpPr>
        <p:spPr>
          <a:xfrm>
            <a:off x="9784080" y="2542032"/>
            <a:ext cx="1920240" cy="274320"/>
          </a:xfrm>
          <a:prstGeom prst="rect">
            <a:avLst/>
          </a:prstGeom>
          <a:noFill/>
          <a:ln/>
        </p:spPr>
        <p:txBody>
          <a:bodyPr wrap="square" rtlCol="0" anchor="ctr"/>
          <a:lstStyle/>
          <a:p>
            <a:pPr algn="ctr" indent="0" marL="0">
              <a:buNone/>
            </a:pPr>
            <a:r>
              <a:rPr lang="en-US" sz="900" dirty="0">
                <a:solidFill>
                  <a:srgbClr val="545C7E"/>
                </a:solidFill>
                <a:latin typeface="Calibri" pitchFamily="34" charset="0"/>
                <a:ea typeface="Calibri" pitchFamily="34" charset="-122"/>
                <a:cs typeface="Calibri" pitchFamily="34" charset="-120"/>
              </a:rPr>
              <a:t>pointer</a:t>
            </a:r>
            <a:endParaRPr lang="en-US" sz="900" dirty="0"/>
          </a:p>
        </p:txBody>
      </p:sp>
      <p:sp>
        <p:nvSpPr>
          <p:cNvPr id="26" name="Shape 24"/>
          <p:cNvSpPr/>
          <p:nvPr/>
        </p:nvSpPr>
        <p:spPr>
          <a:xfrm flipH="1">
            <a:off x="8851392" y="2171700"/>
            <a:ext cx="-932688" cy="0"/>
          </a:xfrm>
          <a:prstGeom prst="line">
            <a:avLst/>
          </a:prstGeom>
          <a:noFill/>
          <a:ln w="25400">
            <a:solidFill>
              <a:srgbClr val="16A67C"/>
            </a:solidFill>
            <a:prstDash val="solid"/>
            <a:tailEnd type="triangle"/>
          </a:ln>
        </p:spPr>
      </p:sp>
      <p:sp>
        <p:nvSpPr>
          <p:cNvPr id="27" name="Text 25"/>
          <p:cNvSpPr/>
          <p:nvPr/>
        </p:nvSpPr>
        <p:spPr>
          <a:xfrm>
            <a:off x="6903720" y="2971800"/>
            <a:ext cx="4800600" cy="274320"/>
          </a:xfrm>
          <a:prstGeom prst="rect">
            <a:avLst/>
          </a:prstGeom>
          <a:noFill/>
          <a:ln/>
        </p:spPr>
        <p:txBody>
          <a:bodyPr wrap="square" rtlCol="0" anchor="ctr"/>
          <a:lstStyle/>
          <a:p>
            <a:pPr algn="ctr" indent="0" marL="0">
              <a:buNone/>
            </a:pPr>
            <a:r>
              <a:rPr lang="en-US" sz="1000" i="1" dirty="0">
                <a:solidFill>
                  <a:srgbClr val="545C7E"/>
                </a:solidFill>
                <a:latin typeface="Calibri" pitchFamily="34" charset="0"/>
                <a:ea typeface="Calibri" pitchFamily="34" charset="-122"/>
                <a:cs typeface="Calibri" pitchFamily="34" charset="-120"/>
              </a:rPr>
              <a:t>*pointer follows the arrow back to 10</a:t>
            </a:r>
            <a:endParaRPr lang="en-US" sz="1000" dirty="0"/>
          </a:p>
        </p:txBody>
      </p:sp>
      <p:sp>
        <p:nvSpPr>
          <p:cNvPr id="29" name="Text 26"/>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0" name="Text 27"/>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21–22</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nullptr, Pointers &amp; Arrays, Dynamic Memory</a:t>
            </a:r>
            <a:endParaRPr lang="en-US" sz="2800" dirty="0"/>
          </a:p>
        </p:txBody>
      </p:sp>
      <p:sp>
        <p:nvSpPr>
          <p:cNvPr id="4" name="Shape 2"/>
          <p:cNvSpPr/>
          <p:nvPr/>
        </p:nvSpPr>
        <p:spPr>
          <a:xfrm>
            <a:off x="502920" y="1737360"/>
            <a:ext cx="146304" cy="146304"/>
          </a:xfrm>
          <a:prstGeom prst="ellipse">
            <a:avLst/>
          </a:prstGeom>
          <a:solidFill>
            <a:srgbClr val="2FD8A2"/>
          </a:solidFill>
          <a:ln/>
        </p:spPr>
      </p:sp>
      <p:sp>
        <p:nvSpPr>
          <p:cNvPr id="5" name="Text 3"/>
          <p:cNvSpPr/>
          <p:nvPr/>
        </p:nvSpPr>
        <p:spPr>
          <a:xfrm>
            <a:off x="795528" y="1636776"/>
            <a:ext cx="546811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nullptr</a:t>
            </a:r>
            <a:endParaRPr lang="en-US" sz="1300" dirty="0"/>
          </a:p>
        </p:txBody>
      </p:sp>
      <p:sp>
        <p:nvSpPr>
          <p:cNvPr id="6" name="Text 4"/>
          <p:cNvSpPr/>
          <p:nvPr/>
        </p:nvSpPr>
        <p:spPr>
          <a:xfrm>
            <a:off x="795528" y="1892808"/>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A pointer that intentionally points to nothing — always check before dereferencing.</a:t>
            </a:r>
            <a:endParaRPr lang="en-US" sz="1050" dirty="0"/>
          </a:p>
        </p:txBody>
      </p:sp>
      <p:sp>
        <p:nvSpPr>
          <p:cNvPr id="7" name="Shape 5"/>
          <p:cNvSpPr/>
          <p:nvPr/>
        </p:nvSpPr>
        <p:spPr>
          <a:xfrm>
            <a:off x="502920" y="2304288"/>
            <a:ext cx="146304" cy="146304"/>
          </a:xfrm>
          <a:prstGeom prst="ellipse">
            <a:avLst/>
          </a:prstGeom>
          <a:solidFill>
            <a:srgbClr val="2FD8A2"/>
          </a:solidFill>
          <a:ln/>
        </p:spPr>
      </p:sp>
      <p:sp>
        <p:nvSpPr>
          <p:cNvPr id="8" name="Text 6"/>
          <p:cNvSpPr/>
          <p:nvPr/>
        </p:nvSpPr>
        <p:spPr>
          <a:xfrm>
            <a:off x="795528" y="2203704"/>
            <a:ext cx="5468112" cy="274320"/>
          </a:xfrm>
          <a:prstGeom prst="rect">
            <a:avLst/>
          </a:prstGeom>
          <a:noFill/>
          <a:ln/>
        </p:spPr>
        <p:txBody>
          <a:bodyPr wrap="square" rtlCol="0" anchor="ctr"/>
          <a:lstStyle/>
          <a:p>
            <a:pPr indent="0" marL="0">
              <a:buNone/>
            </a:pPr>
            <a:r>
              <a:rPr lang="en-US" sz="1300" b="1" dirty="0">
                <a:solidFill>
                  <a:srgbClr val="12172B"/>
                </a:solidFill>
                <a:latin typeface="Calibri" pitchFamily="34" charset="0"/>
                <a:ea typeface="Calibri" pitchFamily="34" charset="-122"/>
                <a:cs typeface="Calibri" pitchFamily="34" charset="-120"/>
              </a:rPr>
              <a:t>Pointers relate to arrays</a:t>
            </a:r>
            <a:endParaRPr lang="en-US" sz="1300" dirty="0"/>
          </a:p>
        </p:txBody>
      </p:sp>
      <p:sp>
        <p:nvSpPr>
          <p:cNvPr id="9" name="Text 7"/>
          <p:cNvSpPr/>
          <p:nvPr/>
        </p:nvSpPr>
        <p:spPr>
          <a:xfrm>
            <a:off x="795528" y="2459736"/>
            <a:ext cx="5468112" cy="457200"/>
          </a:xfrm>
          <a:prstGeom prst="rect">
            <a:avLst/>
          </a:prstGeom>
          <a:noFill/>
          <a:ln/>
        </p:spPr>
        <p:txBody>
          <a:bodyPr wrap="square" rtlCol="0" anchor="t"/>
          <a:lstStyle/>
          <a:p>
            <a:pPr indent="0" marL="0">
              <a:buNone/>
            </a:pPr>
            <a:r>
              <a:rPr lang="en-US" sz="1050" dirty="0">
                <a:solidFill>
                  <a:srgbClr val="545C7E"/>
                </a:solidFill>
                <a:latin typeface="Calibri" pitchFamily="34" charset="0"/>
                <a:ea typeface="Calibri" pitchFamily="34" charset="-122"/>
                <a:cs typeface="Calibri" pitchFamily="34" charset="-120"/>
              </a:rPr>
              <a:t>An array's name can decay into a pointer to its first element — a high-level link worth knowing, not memorising deeply yet.</a:t>
            </a:r>
            <a:endParaRPr lang="en-US" sz="1050" dirty="0"/>
          </a:p>
        </p:txBody>
      </p:sp>
      <p:sp>
        <p:nvSpPr>
          <p:cNvPr id="10" name="Shape 8"/>
          <p:cNvSpPr/>
          <p:nvPr/>
        </p:nvSpPr>
        <p:spPr>
          <a:xfrm>
            <a:off x="502920" y="3520440"/>
            <a:ext cx="5760720" cy="1920240"/>
          </a:xfrm>
          <a:prstGeom prst="roundRect">
            <a:avLst>
              <a:gd name="adj" fmla="val 42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1" name="Shape 9"/>
          <p:cNvSpPr/>
          <p:nvPr/>
        </p:nvSpPr>
        <p:spPr>
          <a:xfrm>
            <a:off x="502920" y="3520440"/>
            <a:ext cx="5760720" cy="292608"/>
          </a:xfrm>
          <a:prstGeom prst="rect">
            <a:avLst/>
          </a:prstGeom>
          <a:solidFill>
            <a:srgbClr val="141B33"/>
          </a:solidFill>
          <a:ln/>
        </p:spPr>
      </p:sp>
      <p:sp>
        <p:nvSpPr>
          <p:cNvPr id="12" name="Shape 10"/>
          <p:cNvSpPr/>
          <p:nvPr/>
        </p:nvSpPr>
        <p:spPr>
          <a:xfrm>
            <a:off x="649224" y="3611880"/>
            <a:ext cx="109728" cy="109728"/>
          </a:xfrm>
          <a:prstGeom prst="ellipse">
            <a:avLst/>
          </a:prstGeom>
          <a:solidFill>
            <a:srgbClr val="FF6B6B"/>
          </a:solidFill>
          <a:ln/>
        </p:spPr>
      </p:sp>
      <p:sp>
        <p:nvSpPr>
          <p:cNvPr id="13" name="Shape 11"/>
          <p:cNvSpPr/>
          <p:nvPr/>
        </p:nvSpPr>
        <p:spPr>
          <a:xfrm>
            <a:off x="822960" y="3611880"/>
            <a:ext cx="109728" cy="109728"/>
          </a:xfrm>
          <a:prstGeom prst="ellipse">
            <a:avLst/>
          </a:prstGeom>
          <a:solidFill>
            <a:srgbClr val="FFD166"/>
          </a:solidFill>
          <a:ln/>
        </p:spPr>
      </p:sp>
      <p:sp>
        <p:nvSpPr>
          <p:cNvPr id="14" name="Shape 12"/>
          <p:cNvSpPr/>
          <p:nvPr/>
        </p:nvSpPr>
        <p:spPr>
          <a:xfrm>
            <a:off x="996696" y="3611880"/>
            <a:ext cx="109728" cy="109728"/>
          </a:xfrm>
          <a:prstGeom prst="ellipse">
            <a:avLst/>
          </a:prstGeom>
          <a:solidFill>
            <a:srgbClr val="2FD8A2"/>
          </a:solidFill>
          <a:ln/>
        </p:spPr>
      </p:sp>
      <p:sp>
        <p:nvSpPr>
          <p:cNvPr id="15" name="Text 13"/>
          <p:cNvSpPr/>
          <p:nvPr/>
        </p:nvSpPr>
        <p:spPr>
          <a:xfrm>
            <a:off x="502920" y="352044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new / delete</a:t>
            </a:r>
            <a:endParaRPr lang="en-US" sz="1000" dirty="0"/>
          </a:p>
        </p:txBody>
      </p:sp>
      <p:sp>
        <p:nvSpPr>
          <p:cNvPr id="16" name="Text 14"/>
          <p:cNvSpPr/>
          <p:nvPr/>
        </p:nvSpPr>
        <p:spPr>
          <a:xfrm>
            <a:off x="722376" y="3931920"/>
            <a:ext cx="5321808" cy="1389888"/>
          </a:xfrm>
          <a:prstGeom prst="rect">
            <a:avLst/>
          </a:prstGeom>
          <a:noFill/>
          <a:ln/>
        </p:spPr>
        <p:txBody>
          <a:bodyPr wrap="square" lIns="0" tIns="0" rIns="0" bIns="0" rtlCol="0" anchor="t"/>
          <a:lstStyle/>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7FB2FF"/>
                </a:solidFill>
                <a:latin typeface="Courier New" pitchFamily="34" charset="0"/>
                <a:ea typeface="Courier New" pitchFamily="34" charset="-122"/>
                <a:cs typeface="Courier New" pitchFamily="34" charset="-120"/>
              </a:rPr>
              <a:t>new</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42</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7FB2FF"/>
                </a:solidFill>
                <a:latin typeface="Courier New" pitchFamily="34" charset="0"/>
                <a:ea typeface="Courier New" pitchFamily="34" charset="-122"/>
                <a:cs typeface="Courier New" pitchFamily="34" charset="-120"/>
              </a:rPr>
              <a:t>delete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release it — required!</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arr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7FB2FF"/>
                </a:solidFill>
                <a:latin typeface="Courier New" pitchFamily="34" charset="0"/>
                <a:ea typeface="Courier New" pitchFamily="34" charset="-122"/>
                <a:cs typeface="Courier New" pitchFamily="34" charset="-120"/>
              </a:rPr>
              <a:t>new</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7FB2FF"/>
                </a:solidFill>
                <a:latin typeface="Courier New" pitchFamily="34" charset="0"/>
                <a:ea typeface="Courier New" pitchFamily="34" charset="-122"/>
                <a:cs typeface="Courier New" pitchFamily="34" charset="-120"/>
              </a:rPr>
              <a:t>delete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arr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release array memory</a:t>
            </a:r>
            <a:endParaRPr lang="en-US" sz="1200" dirty="0"/>
          </a:p>
        </p:txBody>
      </p:sp>
      <p:sp>
        <p:nvSpPr>
          <p:cNvPr id="17" name="Shape 15"/>
          <p:cNvSpPr/>
          <p:nvPr/>
        </p:nvSpPr>
        <p:spPr>
          <a:xfrm>
            <a:off x="6903720" y="1691640"/>
            <a:ext cx="4800600" cy="2103120"/>
          </a:xfrm>
          <a:prstGeom prst="roundRect">
            <a:avLst>
              <a:gd name="adj" fmla="val 3478"/>
            </a:avLst>
          </a:prstGeom>
          <a:solidFill>
            <a:srgbClr val="EAFBF4"/>
          </a:solidFill>
          <a:ln w="12700">
            <a:solidFill>
              <a:srgbClr val="16A67C"/>
            </a:solidFill>
            <a:prstDash val="solid"/>
          </a:ln>
        </p:spPr>
      </p:sp>
      <p:sp>
        <p:nvSpPr>
          <p:cNvPr id="18" name="Text 16"/>
          <p:cNvSpPr/>
          <p:nvPr/>
        </p:nvSpPr>
        <p:spPr>
          <a:xfrm>
            <a:off x="7086600" y="177393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Stack vs heap, briefly</a:t>
            </a:r>
            <a:endParaRPr lang="en-US" sz="1050" dirty="0"/>
          </a:p>
        </p:txBody>
      </p:sp>
      <p:sp>
        <p:nvSpPr>
          <p:cNvPr id="19" name="Text 17"/>
          <p:cNvSpPr/>
          <p:nvPr/>
        </p:nvSpPr>
        <p:spPr>
          <a:xfrm>
            <a:off x="7086600" y="2039112"/>
            <a:ext cx="4434840" cy="16642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Local variables live on the stack and clean themselves up automatically. new places data on the heap — it stays until you explicitly delete it, or you have a memory leak.</a:t>
            </a:r>
            <a:endParaRPr lang="en-US" sz="1100" dirty="0"/>
          </a:p>
        </p:txBody>
      </p:sp>
      <p:sp>
        <p:nvSpPr>
          <p:cNvPr id="20" name="Shape 18"/>
          <p:cNvSpPr/>
          <p:nvPr/>
        </p:nvSpPr>
        <p:spPr>
          <a:xfrm>
            <a:off x="6903720" y="3931920"/>
            <a:ext cx="4800600" cy="2148840"/>
          </a:xfrm>
          <a:prstGeom prst="roundRect">
            <a:avLst>
              <a:gd name="adj" fmla="val 3404"/>
            </a:avLst>
          </a:prstGeom>
          <a:solidFill>
            <a:srgbClr val="FFF6E4"/>
          </a:solidFill>
          <a:ln w="12700">
            <a:solidFill>
              <a:srgbClr val="E08A00"/>
            </a:solidFill>
            <a:prstDash val="solid"/>
          </a:ln>
        </p:spPr>
      </p:sp>
      <p:sp>
        <p:nvSpPr>
          <p:cNvPr id="21" name="Text 19"/>
          <p:cNvSpPr/>
          <p:nvPr/>
        </p:nvSpPr>
        <p:spPr>
          <a:xfrm>
            <a:off x="7086600" y="401421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For beginner DSA problems...</a:t>
            </a:r>
            <a:endParaRPr lang="en-US" sz="1050" dirty="0"/>
          </a:p>
        </p:txBody>
      </p:sp>
      <p:sp>
        <p:nvSpPr>
          <p:cNvPr id="22" name="Text 20"/>
          <p:cNvSpPr/>
          <p:nvPr/>
        </p:nvSpPr>
        <p:spPr>
          <a:xfrm>
            <a:off x="7086600" y="4279392"/>
            <a:ext cx="4434840" cy="17099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std::vector is safer and more convenient than manually managing dynamic arrays — it handles sizing and cleanup for you. Manual new/delete becomes important later; vector is your default now.</a:t>
            </a:r>
            <a:endParaRPr lang="en-US" sz="1100" dirty="0"/>
          </a:p>
        </p:txBody>
      </p:sp>
      <p:sp>
        <p:nvSpPr>
          <p:cNvPr id="24" name="Text 21"/>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5" name="Text 22"/>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DAY 6 OF 7</a:t>
            </a:r>
            <a:endParaRPr lang="en-US" sz="1200" dirty="0"/>
          </a:p>
        </p:txBody>
      </p:sp>
      <p:sp>
        <p:nvSpPr>
          <p:cNvPr id="3" name="Text 1"/>
          <p:cNvSpPr/>
          <p:nvPr/>
        </p:nvSpPr>
        <p:spPr>
          <a:xfrm>
            <a:off x="502920" y="1645920"/>
            <a:ext cx="107899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Vectors, STL &amp; Complexity</a:t>
            </a:r>
            <a:endParaRPr lang="en-US" sz="3800" dirty="0"/>
          </a:p>
        </p:txBody>
      </p:sp>
      <p:sp>
        <p:nvSpPr>
          <p:cNvPr id="4" name="Text 2"/>
          <p:cNvSpPr/>
          <p:nvPr/>
        </p:nvSpPr>
        <p:spPr>
          <a:xfrm>
            <a:off x="502920" y="2880360"/>
            <a:ext cx="8778240" cy="777240"/>
          </a:xfrm>
          <a:prstGeom prst="rect">
            <a:avLst/>
          </a:prstGeom>
          <a:noFill/>
          <a:ln/>
        </p:spPr>
        <p:txBody>
          <a:bodyPr wrap="square" rtlCol="0" anchor="t"/>
          <a:lstStyle/>
          <a:p>
            <a:pPr indent="0" marL="0">
              <a:buNone/>
            </a:pPr>
            <a:r>
              <a:rPr lang="en-US" sz="1450" dirty="0">
                <a:solidFill>
                  <a:srgbClr val="C7CFE8"/>
                </a:solidFill>
                <a:latin typeface="Calibri" pitchFamily="34" charset="0"/>
                <a:ea typeface="Calibri" pitchFamily="34" charset="-122"/>
                <a:cs typeface="Calibri" pitchFamily="34" charset="-120"/>
              </a:rPr>
              <a:t>std::vector is the array you'll actually use in interviews — dynamic, safe, and STL-friendly. Pair it with a working sense of Big-O, and you're ready to reason about DSA problems, not just code them.</a:t>
            </a:r>
            <a:endParaRPr lang="en-US" sz="1450" dirty="0"/>
          </a:p>
        </p:txBody>
      </p:sp>
      <p:sp>
        <p:nvSpPr>
          <p:cNvPr id="5" name="Shape 3"/>
          <p:cNvSpPr/>
          <p:nvPr/>
        </p:nvSpPr>
        <p:spPr>
          <a:xfrm>
            <a:off x="502920" y="3977640"/>
            <a:ext cx="1246327" cy="365760"/>
          </a:xfrm>
          <a:prstGeom prst="roundRect">
            <a:avLst>
              <a:gd name="adj" fmla="val 50000"/>
            </a:avLst>
          </a:prstGeom>
          <a:solidFill>
            <a:srgbClr val="16213E"/>
          </a:solidFill>
          <a:ln w="9525">
            <a:solidFill>
              <a:srgbClr val="2FD8A2"/>
            </a:solidFill>
            <a:prstDash val="solid"/>
          </a:ln>
        </p:spPr>
      </p:sp>
      <p:sp>
        <p:nvSpPr>
          <p:cNvPr id="6" name="Text 4"/>
          <p:cNvSpPr/>
          <p:nvPr/>
        </p:nvSpPr>
        <p:spPr>
          <a:xfrm>
            <a:off x="502920" y="3977640"/>
            <a:ext cx="1246327"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std::vector</a:t>
            </a:r>
            <a:endParaRPr lang="en-US" sz="1050" dirty="0"/>
          </a:p>
        </p:txBody>
      </p:sp>
      <p:sp>
        <p:nvSpPr>
          <p:cNvPr id="7" name="Shape 5"/>
          <p:cNvSpPr/>
          <p:nvPr/>
        </p:nvSpPr>
        <p:spPr>
          <a:xfrm>
            <a:off x="1913839" y="3977640"/>
            <a:ext cx="1586484" cy="365760"/>
          </a:xfrm>
          <a:prstGeom prst="roundRect">
            <a:avLst>
              <a:gd name="adj" fmla="val 50000"/>
            </a:avLst>
          </a:prstGeom>
          <a:solidFill>
            <a:srgbClr val="16213E"/>
          </a:solidFill>
          <a:ln w="9525">
            <a:solidFill>
              <a:srgbClr val="2FD8A2"/>
            </a:solidFill>
            <a:prstDash val="solid"/>
          </a:ln>
        </p:spPr>
      </p:sp>
      <p:sp>
        <p:nvSpPr>
          <p:cNvPr id="8" name="Text 6"/>
          <p:cNvSpPr/>
          <p:nvPr/>
        </p:nvSpPr>
        <p:spPr>
          <a:xfrm>
            <a:off x="1913839" y="3977640"/>
            <a:ext cx="1586484"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Array vs vector</a:t>
            </a:r>
            <a:endParaRPr lang="en-US" sz="1050" dirty="0"/>
          </a:p>
        </p:txBody>
      </p:sp>
      <p:sp>
        <p:nvSpPr>
          <p:cNvPr id="9" name="Shape 7"/>
          <p:cNvSpPr/>
          <p:nvPr/>
        </p:nvSpPr>
        <p:spPr>
          <a:xfrm>
            <a:off x="3664915" y="3977640"/>
            <a:ext cx="1926641" cy="365760"/>
          </a:xfrm>
          <a:prstGeom prst="roundRect">
            <a:avLst>
              <a:gd name="adj" fmla="val 50000"/>
            </a:avLst>
          </a:prstGeom>
          <a:solidFill>
            <a:srgbClr val="16213E"/>
          </a:solidFill>
          <a:ln w="9525">
            <a:solidFill>
              <a:srgbClr val="2FD8A2"/>
            </a:solidFill>
            <a:prstDash val="solid"/>
          </a:ln>
        </p:spPr>
      </p:sp>
      <p:sp>
        <p:nvSpPr>
          <p:cNvPr id="10" name="Text 8"/>
          <p:cNvSpPr/>
          <p:nvPr/>
        </p:nvSpPr>
        <p:spPr>
          <a:xfrm>
            <a:off x="3664915" y="3977640"/>
            <a:ext cx="1926641"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pair, sort, reverse</a:t>
            </a:r>
            <a:endParaRPr lang="en-US" sz="1050" dirty="0"/>
          </a:p>
        </p:txBody>
      </p:sp>
      <p:sp>
        <p:nvSpPr>
          <p:cNvPr id="11" name="Shape 9"/>
          <p:cNvSpPr/>
          <p:nvPr/>
        </p:nvSpPr>
        <p:spPr>
          <a:xfrm>
            <a:off x="5756148" y="3977640"/>
            <a:ext cx="1331366" cy="365760"/>
          </a:xfrm>
          <a:prstGeom prst="roundRect">
            <a:avLst>
              <a:gd name="adj" fmla="val 50000"/>
            </a:avLst>
          </a:prstGeom>
          <a:solidFill>
            <a:srgbClr val="16213E"/>
          </a:solidFill>
          <a:ln w="9525">
            <a:solidFill>
              <a:srgbClr val="2FD8A2"/>
            </a:solidFill>
            <a:prstDash val="solid"/>
          </a:ln>
        </p:spPr>
      </p:sp>
      <p:sp>
        <p:nvSpPr>
          <p:cNvPr id="12" name="Text 10"/>
          <p:cNvSpPr/>
          <p:nvPr/>
        </p:nvSpPr>
        <p:spPr>
          <a:xfrm>
            <a:off x="5756148" y="3977640"/>
            <a:ext cx="1331366"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Big-O basics</a:t>
            </a:r>
            <a:endParaRPr lang="en-US" sz="1050" dirty="0"/>
          </a:p>
        </p:txBody>
      </p:sp>
      <p:sp>
        <p:nvSpPr>
          <p:cNvPr id="13" name="Shape 11"/>
          <p:cNvSpPr/>
          <p:nvPr/>
        </p:nvSpPr>
        <p:spPr>
          <a:xfrm>
            <a:off x="8945575" y="4892040"/>
            <a:ext cx="2743200" cy="1417320"/>
          </a:xfrm>
          <a:prstGeom prst="roundRect">
            <a:avLst>
              <a:gd name="adj" fmla="val 580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4" name="Shape 12"/>
          <p:cNvSpPr/>
          <p:nvPr/>
        </p:nvSpPr>
        <p:spPr>
          <a:xfrm>
            <a:off x="8945575" y="4892040"/>
            <a:ext cx="2743200" cy="292608"/>
          </a:xfrm>
          <a:prstGeom prst="rect">
            <a:avLst/>
          </a:prstGeom>
          <a:solidFill>
            <a:srgbClr val="141B33"/>
          </a:solidFill>
          <a:ln/>
        </p:spPr>
      </p:sp>
      <p:sp>
        <p:nvSpPr>
          <p:cNvPr id="15" name="Shape 13"/>
          <p:cNvSpPr/>
          <p:nvPr/>
        </p:nvSpPr>
        <p:spPr>
          <a:xfrm>
            <a:off x="9091879" y="4983480"/>
            <a:ext cx="109728" cy="109728"/>
          </a:xfrm>
          <a:prstGeom prst="ellipse">
            <a:avLst/>
          </a:prstGeom>
          <a:solidFill>
            <a:srgbClr val="FF6B6B"/>
          </a:solidFill>
          <a:ln/>
        </p:spPr>
      </p:sp>
      <p:sp>
        <p:nvSpPr>
          <p:cNvPr id="16" name="Shape 14"/>
          <p:cNvSpPr/>
          <p:nvPr/>
        </p:nvSpPr>
        <p:spPr>
          <a:xfrm>
            <a:off x="9265615" y="4983480"/>
            <a:ext cx="109728" cy="109728"/>
          </a:xfrm>
          <a:prstGeom prst="ellipse">
            <a:avLst/>
          </a:prstGeom>
          <a:solidFill>
            <a:srgbClr val="FFD166"/>
          </a:solidFill>
          <a:ln/>
        </p:spPr>
      </p:sp>
      <p:sp>
        <p:nvSpPr>
          <p:cNvPr id="17" name="Shape 15"/>
          <p:cNvSpPr/>
          <p:nvPr/>
        </p:nvSpPr>
        <p:spPr>
          <a:xfrm>
            <a:off x="9439351" y="4983480"/>
            <a:ext cx="109728" cy="109728"/>
          </a:xfrm>
          <a:prstGeom prst="ellipse">
            <a:avLst/>
          </a:prstGeom>
          <a:solidFill>
            <a:srgbClr val="2FD8A2"/>
          </a:solidFill>
          <a:ln/>
        </p:spPr>
      </p:sp>
      <p:sp>
        <p:nvSpPr>
          <p:cNvPr id="19" name="Text 16"/>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0" name="Text 17"/>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35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23–24</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Introduction to std::vector</a:t>
            </a:r>
            <a:endParaRPr lang="en-US" sz="2800" dirty="0"/>
          </a:p>
        </p:txBody>
      </p:sp>
      <p:sp>
        <p:nvSpPr>
          <p:cNvPr id="4" name="Shape 2"/>
          <p:cNvSpPr/>
          <p:nvPr/>
        </p:nvSpPr>
        <p:spPr>
          <a:xfrm>
            <a:off x="502920" y="1645920"/>
            <a:ext cx="5760720" cy="3246120"/>
          </a:xfrm>
          <a:prstGeom prst="roundRect">
            <a:avLst>
              <a:gd name="adj" fmla="val 2535"/>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core operations</a:t>
            </a:r>
            <a:endParaRPr lang="en-US" sz="1000" dirty="0"/>
          </a:p>
        </p:txBody>
      </p:sp>
      <p:sp>
        <p:nvSpPr>
          <p:cNvPr id="10" name="Text 8"/>
          <p:cNvSpPr/>
          <p:nvPr/>
        </p:nvSpPr>
        <p:spPr>
          <a:xfrm>
            <a:off x="722376" y="2057400"/>
            <a:ext cx="5321808" cy="2715768"/>
          </a:xfrm>
          <a:prstGeom prst="rect">
            <a:avLst/>
          </a:prstGeom>
          <a:noFill/>
          <a:ln/>
        </p:spPr>
        <p:txBody>
          <a:bodyPr wrap="square" lIns="0" tIns="0" rIns="0" bIns="0" rtlCol="0" anchor="t"/>
          <a:lstStyle/>
          <a:p>
            <a:pPr algn="l" indent="0" marL="0">
              <a:lnSpc>
                <a:spcPct val="122000"/>
              </a:lnSpc>
              <a:buNone/>
            </a:pPr>
            <a:r>
              <a:rPr lang="en-US" sz="1200" dirty="0">
                <a:solidFill>
                  <a:srgbClr val="FF8FB1"/>
                </a:solidFill>
                <a:latin typeface="Courier New" pitchFamily="34" charset="0"/>
                <a:ea typeface="Courier New" pitchFamily="34" charset="-122"/>
                <a:cs typeface="Courier New" pitchFamily="34" charset="-120"/>
              </a:rPr>
              <a:t>#include &lt;vector&gt;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vector</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push_back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push_back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20</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push_back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C9A6FF"/>
                </a:solidFill>
                <a:latin typeface="Courier New" pitchFamily="34" charset="0"/>
                <a:ea typeface="Courier New" pitchFamily="34" charset="-122"/>
                <a:cs typeface="Courier New" pitchFamily="34" charset="-120"/>
              </a:rPr>
              <a:t>30</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endParaRPr lang="en-US" sz="1200" dirty="0"/>
          </a:p>
          <a:p>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pop_back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removes 30</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size</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2</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front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10</a:t>
            </a:r>
            <a:endParaRPr lang="en-US" sz="1200" dirty="0"/>
          </a:p>
          <a:p>
            <a:pPr algn="l" indent="0" marL="0">
              <a:lnSpc>
                <a:spcPct val="122000"/>
              </a:lnSpc>
              <a:buNone/>
            </a:pPr>
            <a:r>
              <a:rPr lang="en-US" sz="12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back</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00" i="1" dirty="0">
                <a:solidFill>
                  <a:srgbClr val="7FA36B"/>
                </a:solidFill>
                <a:latin typeface="Courier New" pitchFamily="34" charset="0"/>
                <a:ea typeface="Courier New" pitchFamily="34" charset="-122"/>
                <a:cs typeface="Courier New" pitchFamily="34" charset="-120"/>
              </a:rPr>
              <a:t>// 20 (after pop_back)</a:t>
            </a:r>
            <a:endParaRPr lang="en-US" sz="1200" dirty="0"/>
          </a:p>
        </p:txBody>
      </p:sp>
      <p:sp>
        <p:nvSpPr>
          <p:cNvPr id="11" name="Shape 9"/>
          <p:cNvSpPr/>
          <p:nvPr/>
        </p:nvSpPr>
        <p:spPr>
          <a:xfrm>
            <a:off x="502920" y="5074920"/>
            <a:ext cx="5760720" cy="1234440"/>
          </a:xfrm>
          <a:prstGeom prst="roundRect">
            <a:avLst>
              <a:gd name="adj" fmla="val 5926"/>
            </a:avLst>
          </a:prstGeom>
          <a:solidFill>
            <a:srgbClr val="FDEBEE"/>
          </a:solidFill>
          <a:ln w="12700">
            <a:solidFill>
              <a:srgbClr val="E0455B"/>
            </a:solidFill>
            <a:prstDash val="solid"/>
          </a:ln>
        </p:spPr>
      </p:sp>
      <p:sp>
        <p:nvSpPr>
          <p:cNvPr id="12" name="Text 10"/>
          <p:cNvSpPr/>
          <p:nvPr/>
        </p:nvSpPr>
        <p:spPr>
          <a:xfrm>
            <a:off x="685800" y="5157216"/>
            <a:ext cx="5394960" cy="237744"/>
          </a:xfrm>
          <a:prstGeom prst="rect">
            <a:avLst/>
          </a:prstGeom>
          <a:noFill/>
          <a:ln/>
        </p:spPr>
        <p:txBody>
          <a:bodyPr wrap="square" rtlCol="0" anchor="ctr"/>
          <a:lstStyle/>
          <a:p>
            <a:pPr indent="0" marL="0">
              <a:buNone/>
            </a:pPr>
            <a:r>
              <a:rPr lang="en-US" sz="1050" b="1" spc="100" kern="0" dirty="0">
                <a:solidFill>
                  <a:srgbClr val="E0455B"/>
                </a:solidFill>
                <a:latin typeface="Calibri" pitchFamily="34" charset="0"/>
                <a:ea typeface="Calibri" pitchFamily="34" charset="-122"/>
                <a:cs typeface="Calibri" pitchFamily="34" charset="-120"/>
              </a:rPr>
              <a:t>empty() before front()/back()</a:t>
            </a:r>
            <a:endParaRPr lang="en-US" sz="1050" dirty="0"/>
          </a:p>
        </p:txBody>
      </p:sp>
      <p:sp>
        <p:nvSpPr>
          <p:cNvPr id="13" name="Text 11"/>
          <p:cNvSpPr/>
          <p:nvPr/>
        </p:nvSpPr>
        <p:spPr>
          <a:xfrm>
            <a:off x="685800" y="5422392"/>
            <a:ext cx="5394960" cy="7955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Calling front() or back() on an empty vector is undefined behaviour. Check numbers.empty() first when the vector might have nothing in it.</a:t>
            </a:r>
            <a:endParaRPr lang="en-US" sz="1100" dirty="0"/>
          </a:p>
        </p:txBody>
      </p:sp>
      <p:sp>
        <p:nvSpPr>
          <p:cNvPr id="14" name="Shape 12"/>
          <p:cNvSpPr/>
          <p:nvPr/>
        </p:nvSpPr>
        <p:spPr>
          <a:xfrm>
            <a:off x="6903720" y="1645920"/>
            <a:ext cx="4800600" cy="2103120"/>
          </a:xfrm>
          <a:prstGeom prst="roundRect">
            <a:avLst>
              <a:gd name="adj" fmla="val 391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5" name="Shape 13"/>
          <p:cNvSpPr/>
          <p:nvPr/>
        </p:nvSpPr>
        <p:spPr>
          <a:xfrm>
            <a:off x="6903720" y="1645920"/>
            <a:ext cx="4800600" cy="292608"/>
          </a:xfrm>
          <a:prstGeom prst="rect">
            <a:avLst/>
          </a:prstGeom>
          <a:solidFill>
            <a:srgbClr val="141B33"/>
          </a:solidFill>
          <a:ln/>
        </p:spPr>
      </p:sp>
      <p:sp>
        <p:nvSpPr>
          <p:cNvPr id="16" name="Shape 14"/>
          <p:cNvSpPr/>
          <p:nvPr/>
        </p:nvSpPr>
        <p:spPr>
          <a:xfrm>
            <a:off x="7050024" y="1737360"/>
            <a:ext cx="109728" cy="109728"/>
          </a:xfrm>
          <a:prstGeom prst="ellipse">
            <a:avLst/>
          </a:prstGeom>
          <a:solidFill>
            <a:srgbClr val="FF6B6B"/>
          </a:solidFill>
          <a:ln/>
        </p:spPr>
      </p:sp>
      <p:sp>
        <p:nvSpPr>
          <p:cNvPr id="17" name="Shape 15"/>
          <p:cNvSpPr/>
          <p:nvPr/>
        </p:nvSpPr>
        <p:spPr>
          <a:xfrm>
            <a:off x="7223760" y="1737360"/>
            <a:ext cx="109728" cy="109728"/>
          </a:xfrm>
          <a:prstGeom prst="ellipse">
            <a:avLst/>
          </a:prstGeom>
          <a:solidFill>
            <a:srgbClr val="FFD166"/>
          </a:solidFill>
          <a:ln/>
        </p:spPr>
      </p:sp>
      <p:sp>
        <p:nvSpPr>
          <p:cNvPr id="18" name="Shape 16"/>
          <p:cNvSpPr/>
          <p:nvPr/>
        </p:nvSpPr>
        <p:spPr>
          <a:xfrm>
            <a:off x="7397496" y="1737360"/>
            <a:ext cx="109728" cy="109728"/>
          </a:xfrm>
          <a:prstGeom prst="ellipse">
            <a:avLst/>
          </a:prstGeom>
          <a:solidFill>
            <a:srgbClr val="2FD8A2"/>
          </a:solidFill>
          <a:ln/>
        </p:spPr>
      </p:sp>
      <p:sp>
        <p:nvSpPr>
          <p:cNvPr id="19" name="Text 17"/>
          <p:cNvSpPr/>
          <p:nvPr/>
        </p:nvSpPr>
        <p:spPr>
          <a:xfrm>
            <a:off x="6903720" y="164592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range-based for (copies)</a:t>
            </a:r>
            <a:endParaRPr lang="en-US" sz="1000" dirty="0"/>
          </a:p>
        </p:txBody>
      </p:sp>
      <p:sp>
        <p:nvSpPr>
          <p:cNvPr id="20" name="Text 18"/>
          <p:cNvSpPr/>
          <p:nvPr/>
        </p:nvSpPr>
        <p:spPr>
          <a:xfrm>
            <a:off x="7123176" y="2057400"/>
            <a:ext cx="4361688" cy="157276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vector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20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30</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endParaRPr lang="en-US" sz="1300" dirty="0"/>
          </a:p>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21" name="Shape 19"/>
          <p:cNvSpPr/>
          <p:nvPr/>
        </p:nvSpPr>
        <p:spPr>
          <a:xfrm>
            <a:off x="6903720" y="3931920"/>
            <a:ext cx="4800600" cy="1874520"/>
          </a:xfrm>
          <a:prstGeom prst="roundRect">
            <a:avLst>
              <a:gd name="adj" fmla="val 439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2" name="Shape 20"/>
          <p:cNvSpPr/>
          <p:nvPr/>
        </p:nvSpPr>
        <p:spPr>
          <a:xfrm>
            <a:off x="6903720" y="3931920"/>
            <a:ext cx="4800600" cy="292608"/>
          </a:xfrm>
          <a:prstGeom prst="rect">
            <a:avLst/>
          </a:prstGeom>
          <a:solidFill>
            <a:srgbClr val="141B33"/>
          </a:solidFill>
          <a:ln/>
        </p:spPr>
      </p:sp>
      <p:sp>
        <p:nvSpPr>
          <p:cNvPr id="23" name="Shape 21"/>
          <p:cNvSpPr/>
          <p:nvPr/>
        </p:nvSpPr>
        <p:spPr>
          <a:xfrm>
            <a:off x="7050024" y="4023360"/>
            <a:ext cx="109728" cy="109728"/>
          </a:xfrm>
          <a:prstGeom prst="ellipse">
            <a:avLst/>
          </a:prstGeom>
          <a:solidFill>
            <a:srgbClr val="FF6B6B"/>
          </a:solidFill>
          <a:ln/>
        </p:spPr>
      </p:sp>
      <p:sp>
        <p:nvSpPr>
          <p:cNvPr id="24" name="Shape 22"/>
          <p:cNvSpPr/>
          <p:nvPr/>
        </p:nvSpPr>
        <p:spPr>
          <a:xfrm>
            <a:off x="7223760" y="4023360"/>
            <a:ext cx="109728" cy="109728"/>
          </a:xfrm>
          <a:prstGeom prst="ellipse">
            <a:avLst/>
          </a:prstGeom>
          <a:solidFill>
            <a:srgbClr val="FFD166"/>
          </a:solidFill>
          <a:ln/>
        </p:spPr>
      </p:sp>
      <p:sp>
        <p:nvSpPr>
          <p:cNvPr id="25" name="Shape 23"/>
          <p:cNvSpPr/>
          <p:nvPr/>
        </p:nvSpPr>
        <p:spPr>
          <a:xfrm>
            <a:off x="7397496" y="4023360"/>
            <a:ext cx="109728" cy="109728"/>
          </a:xfrm>
          <a:prstGeom prst="ellipse">
            <a:avLst/>
          </a:prstGeom>
          <a:solidFill>
            <a:srgbClr val="2FD8A2"/>
          </a:solidFill>
          <a:ln/>
        </p:spPr>
      </p:sp>
      <p:sp>
        <p:nvSpPr>
          <p:cNvPr id="26" name="Text 24"/>
          <p:cNvSpPr/>
          <p:nvPr/>
        </p:nvSpPr>
        <p:spPr>
          <a:xfrm>
            <a:off x="6903720" y="393192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const reference — no copy</a:t>
            </a:r>
            <a:endParaRPr lang="en-US" sz="1000" dirty="0"/>
          </a:p>
        </p:txBody>
      </p:sp>
      <p:sp>
        <p:nvSpPr>
          <p:cNvPr id="27" name="Text 25"/>
          <p:cNvSpPr/>
          <p:nvPr/>
        </p:nvSpPr>
        <p:spPr>
          <a:xfrm>
            <a:off x="7123176" y="4343400"/>
            <a:ext cx="4361688" cy="1344168"/>
          </a:xfrm>
          <a:prstGeom prst="rect">
            <a:avLst/>
          </a:prstGeom>
          <a:noFill/>
          <a:ln/>
        </p:spPr>
        <p:txBody>
          <a:bodyPr wrap="square" lIns="0" tIns="0" rIns="0" bIns="0" rtlCol="0" anchor="t"/>
          <a:lstStyle/>
          <a:p>
            <a:pPr algn="l" indent="0" marL="0">
              <a:lnSpc>
                <a:spcPct val="122000"/>
              </a:lnSpc>
              <a:buNone/>
            </a:pPr>
            <a:r>
              <a:rPr lang="en-US" sz="13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7FB2FF"/>
                </a:solidFill>
                <a:latin typeface="Courier New" pitchFamily="34" charset="0"/>
                <a:ea typeface="Courier New" pitchFamily="34" charset="-122"/>
                <a:cs typeface="Courier New" pitchFamily="34" charset="-120"/>
              </a:rPr>
              <a:t>const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&amp;</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value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reads without copying</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29" name="Text 26"/>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0" name="Text 27"/>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23</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Array vs Vector</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5760720" cy="914400"/>
        </p:xfrm>
        <a:graphic>
          <a:graphicData uri="http://schemas.openxmlformats.org/drawingml/2006/table">
            <a:tbl>
              <a:tblPr/>
              <a:tblGrid>
                <a:gridCol w="2286000"/>
                <a:gridCol w="1554480"/>
                <a:gridCol w="1920240"/>
              </a:tblGrid>
              <a:tr h="36576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Array</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Vector</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36576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Usually fixed</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Dynamic — grows as needed</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Safety &amp; convenience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Lower</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Higher</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6576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Built-in size function</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Yes  —  .size()</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Can grow after creation</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Yes  —  .push_back()</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65760">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Common in DSA interviews</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Occasionally</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172B"/>
                          </a:solidFill>
                          <a:latin typeface="Calibri" pitchFamily="34" charset="0"/>
                          <a:ea typeface="Calibri" pitchFamily="34" charset="-122"/>
                          <a:cs typeface="Calibri" pitchFamily="34" charset="-120"/>
                        </a:rPr>
                        <a:t>Very common</a:t>
                      </a:r>
                      <a:endParaRPr lang="en-US" sz="105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160520"/>
            <a:ext cx="5760720" cy="1783080"/>
          </a:xfrm>
          <a:prstGeom prst="roundRect">
            <a:avLst>
              <a:gd name="adj" fmla="val 4615"/>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6" name="Shape 3"/>
          <p:cNvSpPr/>
          <p:nvPr/>
        </p:nvSpPr>
        <p:spPr>
          <a:xfrm>
            <a:off x="502920" y="4160520"/>
            <a:ext cx="5760720" cy="292608"/>
          </a:xfrm>
          <a:prstGeom prst="rect">
            <a:avLst/>
          </a:prstGeom>
          <a:solidFill>
            <a:srgbClr val="141B33"/>
          </a:solidFill>
          <a:ln/>
        </p:spPr>
      </p:sp>
      <p:sp>
        <p:nvSpPr>
          <p:cNvPr id="7" name="Shape 4"/>
          <p:cNvSpPr/>
          <p:nvPr/>
        </p:nvSpPr>
        <p:spPr>
          <a:xfrm>
            <a:off x="649224" y="4251960"/>
            <a:ext cx="109728" cy="109728"/>
          </a:xfrm>
          <a:prstGeom prst="ellipse">
            <a:avLst/>
          </a:prstGeom>
          <a:solidFill>
            <a:srgbClr val="FF6B6B"/>
          </a:solidFill>
          <a:ln/>
        </p:spPr>
      </p:sp>
      <p:sp>
        <p:nvSpPr>
          <p:cNvPr id="8" name="Shape 5"/>
          <p:cNvSpPr/>
          <p:nvPr/>
        </p:nvSpPr>
        <p:spPr>
          <a:xfrm>
            <a:off x="822960" y="4251960"/>
            <a:ext cx="109728" cy="109728"/>
          </a:xfrm>
          <a:prstGeom prst="ellipse">
            <a:avLst/>
          </a:prstGeom>
          <a:solidFill>
            <a:srgbClr val="FFD166"/>
          </a:solidFill>
          <a:ln/>
        </p:spPr>
      </p:sp>
      <p:sp>
        <p:nvSpPr>
          <p:cNvPr id="9" name="Shape 6"/>
          <p:cNvSpPr/>
          <p:nvPr/>
        </p:nvSpPr>
        <p:spPr>
          <a:xfrm>
            <a:off x="996696" y="4251960"/>
            <a:ext cx="109728" cy="109728"/>
          </a:xfrm>
          <a:prstGeom prst="ellipse">
            <a:avLst/>
          </a:prstGeom>
          <a:solidFill>
            <a:srgbClr val="2FD8A2"/>
          </a:solidFill>
          <a:ln/>
        </p:spPr>
      </p:sp>
      <p:sp>
        <p:nvSpPr>
          <p:cNvPr id="10" name="Text 7"/>
          <p:cNvSpPr/>
          <p:nvPr/>
        </p:nvSpPr>
        <p:spPr>
          <a:xfrm>
            <a:off x="502920" y="41605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pass by const reference</a:t>
            </a:r>
            <a:endParaRPr lang="en-US" sz="1000" dirty="0"/>
          </a:p>
        </p:txBody>
      </p:sp>
      <p:sp>
        <p:nvSpPr>
          <p:cNvPr id="11" name="Text 8"/>
          <p:cNvSpPr/>
          <p:nvPr/>
        </p:nvSpPr>
        <p:spPr>
          <a:xfrm>
            <a:off x="722376" y="4572000"/>
            <a:ext cx="5321808" cy="125272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void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printVector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7FB2FF"/>
                </a:solidFill>
                <a:latin typeface="Courier New" pitchFamily="34" charset="0"/>
                <a:ea typeface="Courier New" pitchFamily="34" charset="-122"/>
                <a:cs typeface="Courier New" pitchFamily="34" charset="-120"/>
              </a:rPr>
              <a:t>const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vector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&gt;&amp;</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values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v</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values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v</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2" name="Shape 9"/>
          <p:cNvSpPr/>
          <p:nvPr/>
        </p:nvSpPr>
        <p:spPr>
          <a:xfrm>
            <a:off x="6903720" y="1691640"/>
            <a:ext cx="4800600" cy="1874520"/>
          </a:xfrm>
          <a:prstGeom prst="roundRect">
            <a:avLst>
              <a:gd name="adj" fmla="val 3902"/>
            </a:avLst>
          </a:prstGeom>
          <a:solidFill>
            <a:srgbClr val="EAFBF4"/>
          </a:solidFill>
          <a:ln w="12700">
            <a:solidFill>
              <a:srgbClr val="16A67C"/>
            </a:solidFill>
            <a:prstDash val="solid"/>
          </a:ln>
        </p:spPr>
      </p:sp>
      <p:sp>
        <p:nvSpPr>
          <p:cNvPr id="13" name="Text 10"/>
          <p:cNvSpPr/>
          <p:nvPr/>
        </p:nvSpPr>
        <p:spPr>
          <a:xfrm>
            <a:off x="7086600" y="177393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Why const vector&lt;int&gt;&amp;</a:t>
            </a:r>
            <a:endParaRPr lang="en-US" sz="1050" dirty="0"/>
          </a:p>
        </p:txBody>
      </p:sp>
      <p:sp>
        <p:nvSpPr>
          <p:cNvPr id="14" name="Text 11"/>
          <p:cNvSpPr/>
          <p:nvPr/>
        </p:nvSpPr>
        <p:spPr>
          <a:xfrm>
            <a:off x="7086600" y="2039112"/>
            <a:ext cx="4434840" cy="143560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Without it, every call copies the entire vector — fine for 5 elements, expensive for 500,000. const &amp; reads the original directly, at zero copy cost.</a:t>
            </a:r>
            <a:endParaRPr lang="en-US" sz="1100" dirty="0"/>
          </a:p>
        </p:txBody>
      </p:sp>
      <p:sp>
        <p:nvSpPr>
          <p:cNvPr id="15" name="Shape 12"/>
          <p:cNvSpPr/>
          <p:nvPr/>
        </p:nvSpPr>
        <p:spPr>
          <a:xfrm>
            <a:off x="6903720" y="3840480"/>
            <a:ext cx="146304" cy="146304"/>
          </a:xfrm>
          <a:prstGeom prst="ellipse">
            <a:avLst/>
          </a:prstGeom>
          <a:solidFill>
            <a:srgbClr val="2FD8A2"/>
          </a:solidFill>
          <a:ln/>
        </p:spPr>
      </p:sp>
      <p:sp>
        <p:nvSpPr>
          <p:cNvPr id="16" name="Text 13"/>
          <p:cNvSpPr/>
          <p:nvPr/>
        </p:nvSpPr>
        <p:spPr>
          <a:xfrm>
            <a:off x="7196328" y="3694176"/>
            <a:ext cx="450799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range-based for (int v : values) — copies each element, fine for small types.</a:t>
            </a:r>
            <a:endParaRPr lang="en-US" sz="1050" dirty="0"/>
          </a:p>
        </p:txBody>
      </p:sp>
      <p:sp>
        <p:nvSpPr>
          <p:cNvPr id="17" name="Shape 14"/>
          <p:cNvSpPr/>
          <p:nvPr/>
        </p:nvSpPr>
        <p:spPr>
          <a:xfrm>
            <a:off x="6903720" y="4297680"/>
            <a:ext cx="146304" cy="146304"/>
          </a:xfrm>
          <a:prstGeom prst="ellipse">
            <a:avLst/>
          </a:prstGeom>
          <a:solidFill>
            <a:srgbClr val="2FD8A2"/>
          </a:solidFill>
          <a:ln/>
        </p:spPr>
      </p:sp>
      <p:sp>
        <p:nvSpPr>
          <p:cNvPr id="18" name="Text 15"/>
          <p:cNvSpPr/>
          <p:nvPr/>
        </p:nvSpPr>
        <p:spPr>
          <a:xfrm>
            <a:off x="7196328" y="4151376"/>
            <a:ext cx="450799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range-based for (int&amp; v : values) — accesses the original, can modify it.</a:t>
            </a:r>
            <a:endParaRPr lang="en-US" sz="1050" dirty="0"/>
          </a:p>
        </p:txBody>
      </p:sp>
      <p:sp>
        <p:nvSpPr>
          <p:cNvPr id="19" name="Shape 16"/>
          <p:cNvSpPr/>
          <p:nvPr/>
        </p:nvSpPr>
        <p:spPr>
          <a:xfrm>
            <a:off x="6903720" y="4754880"/>
            <a:ext cx="146304" cy="146304"/>
          </a:xfrm>
          <a:prstGeom prst="ellipse">
            <a:avLst/>
          </a:prstGeom>
          <a:solidFill>
            <a:srgbClr val="2FD8A2"/>
          </a:solidFill>
          <a:ln/>
        </p:spPr>
      </p:sp>
      <p:sp>
        <p:nvSpPr>
          <p:cNvPr id="20" name="Text 17"/>
          <p:cNvSpPr/>
          <p:nvPr/>
        </p:nvSpPr>
        <p:spPr>
          <a:xfrm>
            <a:off x="7196328" y="4608576"/>
            <a:ext cx="4507992" cy="365760"/>
          </a:xfrm>
          <a:prstGeom prst="rect">
            <a:avLst/>
          </a:prstGeom>
          <a:noFill/>
          <a:ln/>
        </p:spPr>
        <p:txBody>
          <a:bodyPr wrap="square" rtlCol="0" anchor="ctr"/>
          <a:lstStyle/>
          <a:p>
            <a:pPr indent="0" marL="0">
              <a:buNone/>
            </a:pPr>
            <a:r>
              <a:rPr lang="en-US" sz="1050" dirty="0">
                <a:solidFill>
                  <a:srgbClr val="12172B"/>
                </a:solidFill>
                <a:latin typeface="Calibri" pitchFamily="34" charset="0"/>
                <a:ea typeface="Calibri" pitchFamily="34" charset="-122"/>
                <a:cs typeface="Calibri" pitchFamily="34" charset="-120"/>
              </a:rPr>
              <a:t>range-based for (const int&amp; v : values) — reads without copying or risking modification.</a:t>
            </a:r>
            <a:endParaRPr lang="en-US" sz="1050" dirty="0"/>
          </a:p>
        </p:txBody>
      </p:sp>
      <p:sp>
        <p:nvSpPr>
          <p:cNvPr id="22" name="Text 1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3" name="Text 1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25</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Useful Beginner STL Components</a:t>
            </a:r>
            <a:endParaRPr lang="en-US" sz="2800" dirty="0"/>
          </a:p>
        </p:txBody>
      </p:sp>
      <p:sp>
        <p:nvSpPr>
          <p:cNvPr id="4" name="Shape 2"/>
          <p:cNvSpPr/>
          <p:nvPr/>
        </p:nvSpPr>
        <p:spPr>
          <a:xfrm>
            <a:off x="502920" y="1645920"/>
            <a:ext cx="5760720" cy="1874520"/>
          </a:xfrm>
          <a:prstGeom prst="roundRect">
            <a:avLst>
              <a:gd name="adj" fmla="val 4390"/>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45920"/>
            <a:ext cx="5760720" cy="292608"/>
          </a:xfrm>
          <a:prstGeom prst="rect">
            <a:avLst/>
          </a:prstGeom>
          <a:solidFill>
            <a:srgbClr val="141B33"/>
          </a:solidFill>
          <a:ln/>
        </p:spPr>
      </p:sp>
      <p:sp>
        <p:nvSpPr>
          <p:cNvPr id="6" name="Shape 4"/>
          <p:cNvSpPr/>
          <p:nvPr/>
        </p:nvSpPr>
        <p:spPr>
          <a:xfrm>
            <a:off x="649224" y="1737360"/>
            <a:ext cx="109728" cy="109728"/>
          </a:xfrm>
          <a:prstGeom prst="ellipse">
            <a:avLst/>
          </a:prstGeom>
          <a:solidFill>
            <a:srgbClr val="FF6B6B"/>
          </a:solidFill>
          <a:ln/>
        </p:spPr>
      </p:sp>
      <p:sp>
        <p:nvSpPr>
          <p:cNvPr id="7" name="Shape 5"/>
          <p:cNvSpPr/>
          <p:nvPr/>
        </p:nvSpPr>
        <p:spPr>
          <a:xfrm>
            <a:off x="822960" y="1737360"/>
            <a:ext cx="109728" cy="109728"/>
          </a:xfrm>
          <a:prstGeom prst="ellipse">
            <a:avLst/>
          </a:prstGeom>
          <a:solidFill>
            <a:srgbClr val="FFD166"/>
          </a:solidFill>
          <a:ln/>
        </p:spPr>
      </p:sp>
      <p:sp>
        <p:nvSpPr>
          <p:cNvPr id="8" name="Shape 6"/>
          <p:cNvSpPr/>
          <p:nvPr/>
        </p:nvSpPr>
        <p:spPr>
          <a:xfrm>
            <a:off x="996696" y="1737360"/>
            <a:ext cx="109728" cy="109728"/>
          </a:xfrm>
          <a:prstGeom prst="ellipse">
            <a:avLst/>
          </a:prstGeom>
          <a:solidFill>
            <a:srgbClr val="2FD8A2"/>
          </a:solidFill>
          <a:ln/>
        </p:spPr>
      </p:sp>
      <p:sp>
        <p:nvSpPr>
          <p:cNvPr id="9" name="Text 7"/>
          <p:cNvSpPr/>
          <p:nvPr/>
        </p:nvSpPr>
        <p:spPr>
          <a:xfrm>
            <a:off x="502920" y="164592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pair</a:t>
            </a:r>
            <a:endParaRPr lang="en-US" sz="1000" dirty="0"/>
          </a:p>
        </p:txBody>
      </p:sp>
      <p:sp>
        <p:nvSpPr>
          <p:cNvPr id="10" name="Text 8"/>
          <p:cNvSpPr/>
          <p:nvPr/>
        </p:nvSpPr>
        <p:spPr>
          <a:xfrm>
            <a:off x="722376" y="2057400"/>
            <a:ext cx="5321808" cy="1344168"/>
          </a:xfrm>
          <a:prstGeom prst="rect">
            <a:avLst/>
          </a:prstGeom>
          <a:noFill/>
          <a:ln/>
        </p:spPr>
        <p:txBody>
          <a:bodyPr wrap="square" lIns="0" tIns="0" rIns="0" bIns="0" rtlCol="0" anchor="t"/>
          <a:lstStyle/>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pair</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string</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student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C9A6FF"/>
                </a:solidFill>
                <a:latin typeface="Courier New" pitchFamily="34" charset="0"/>
                <a:ea typeface="Courier New" pitchFamily="34" charset="-122"/>
                <a:cs typeface="Courier New" pitchFamily="34" charset="-120"/>
              </a:rPr>
              <a:t>1</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3B778"/>
                </a:solidFill>
                <a:latin typeface="Courier New" pitchFamily="34" charset="0"/>
                <a:ea typeface="Courier New" pitchFamily="34" charset="-122"/>
                <a:cs typeface="Courier New" pitchFamily="34" charset="-120"/>
              </a:rPr>
              <a:t>"Farhaan"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student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first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1</a:t>
            </a:r>
            <a:endParaRPr lang="en-US" sz="1300" dirty="0"/>
          </a:p>
          <a:p>
            <a:pPr algn="l" indent="0" marL="0">
              <a:lnSpc>
                <a:spcPct val="122000"/>
              </a:lnSpc>
              <a:buNone/>
            </a:pPr>
            <a:r>
              <a:rPr lang="en-US" sz="13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student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second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i="1" dirty="0">
                <a:solidFill>
                  <a:srgbClr val="7FA36B"/>
                </a:solidFill>
                <a:latin typeface="Courier New" pitchFamily="34" charset="0"/>
                <a:ea typeface="Courier New" pitchFamily="34" charset="-122"/>
                <a:cs typeface="Courier New" pitchFamily="34" charset="-120"/>
              </a:rPr>
              <a:t>// Farhaan</a:t>
            </a:r>
            <a:endParaRPr lang="en-US" sz="1300" dirty="0"/>
          </a:p>
        </p:txBody>
      </p:sp>
      <p:sp>
        <p:nvSpPr>
          <p:cNvPr id="11" name="Shape 9"/>
          <p:cNvSpPr/>
          <p:nvPr/>
        </p:nvSpPr>
        <p:spPr>
          <a:xfrm>
            <a:off x="502920" y="3657600"/>
            <a:ext cx="5760720" cy="1920240"/>
          </a:xfrm>
          <a:prstGeom prst="roundRect">
            <a:avLst>
              <a:gd name="adj" fmla="val 428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2" name="Shape 10"/>
          <p:cNvSpPr/>
          <p:nvPr/>
        </p:nvSpPr>
        <p:spPr>
          <a:xfrm>
            <a:off x="502920" y="3657600"/>
            <a:ext cx="5760720" cy="292608"/>
          </a:xfrm>
          <a:prstGeom prst="rect">
            <a:avLst/>
          </a:prstGeom>
          <a:solidFill>
            <a:srgbClr val="141B33"/>
          </a:solidFill>
          <a:ln/>
        </p:spPr>
      </p:sp>
      <p:sp>
        <p:nvSpPr>
          <p:cNvPr id="13" name="Shape 11"/>
          <p:cNvSpPr/>
          <p:nvPr/>
        </p:nvSpPr>
        <p:spPr>
          <a:xfrm>
            <a:off x="649224" y="3749040"/>
            <a:ext cx="109728" cy="109728"/>
          </a:xfrm>
          <a:prstGeom prst="ellipse">
            <a:avLst/>
          </a:prstGeom>
          <a:solidFill>
            <a:srgbClr val="FF6B6B"/>
          </a:solidFill>
          <a:ln/>
        </p:spPr>
      </p:sp>
      <p:sp>
        <p:nvSpPr>
          <p:cNvPr id="14" name="Shape 12"/>
          <p:cNvSpPr/>
          <p:nvPr/>
        </p:nvSpPr>
        <p:spPr>
          <a:xfrm>
            <a:off x="822960" y="3749040"/>
            <a:ext cx="109728" cy="109728"/>
          </a:xfrm>
          <a:prstGeom prst="ellipse">
            <a:avLst/>
          </a:prstGeom>
          <a:solidFill>
            <a:srgbClr val="FFD166"/>
          </a:solidFill>
          <a:ln/>
        </p:spPr>
      </p:sp>
      <p:sp>
        <p:nvSpPr>
          <p:cNvPr id="15" name="Shape 13"/>
          <p:cNvSpPr/>
          <p:nvPr/>
        </p:nvSpPr>
        <p:spPr>
          <a:xfrm>
            <a:off x="996696" y="3749040"/>
            <a:ext cx="109728" cy="109728"/>
          </a:xfrm>
          <a:prstGeom prst="ellipse">
            <a:avLst/>
          </a:prstGeom>
          <a:solidFill>
            <a:srgbClr val="2FD8A2"/>
          </a:solidFill>
          <a:ln/>
        </p:spPr>
      </p:sp>
      <p:sp>
        <p:nvSpPr>
          <p:cNvPr id="16" name="Text 14"/>
          <p:cNvSpPr/>
          <p:nvPr/>
        </p:nvSpPr>
        <p:spPr>
          <a:xfrm>
            <a:off x="502920" y="365760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sort · reverse</a:t>
            </a:r>
            <a:endParaRPr lang="en-US" sz="1000" dirty="0"/>
          </a:p>
        </p:txBody>
      </p:sp>
      <p:sp>
        <p:nvSpPr>
          <p:cNvPr id="17" name="Text 15"/>
          <p:cNvSpPr/>
          <p:nvPr/>
        </p:nvSpPr>
        <p:spPr>
          <a:xfrm>
            <a:off x="722376" y="4069080"/>
            <a:ext cx="5321808" cy="1389888"/>
          </a:xfrm>
          <a:prstGeom prst="rect">
            <a:avLst/>
          </a:prstGeom>
          <a:noFill/>
          <a:ln/>
        </p:spPr>
        <p:txBody>
          <a:bodyPr wrap="square" lIns="0" tIns="0" rIns="0" bIns="0" rtlCol="0" anchor="t"/>
          <a:lstStyle/>
          <a:p>
            <a:pPr algn="l" indent="0" marL="0">
              <a:lnSpc>
                <a:spcPct val="122000"/>
              </a:lnSpc>
              <a:buNone/>
            </a:pPr>
            <a:r>
              <a:rPr lang="en-US" sz="1300" dirty="0">
                <a:solidFill>
                  <a:srgbClr val="FF8FB1"/>
                </a:solidFill>
                <a:latin typeface="Courier New" pitchFamily="34" charset="0"/>
                <a:ea typeface="Courier New" pitchFamily="34" charset="-122"/>
                <a:cs typeface="Courier New" pitchFamily="34" charset="-120"/>
              </a:rPr>
              <a:t>#include &lt;algorithm&gt;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sort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begin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end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a:p>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reverse</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begin</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end</a:t>
            </a:r>
            <a:pPr algn="l" indent="0" marL="0">
              <a:lnSpc>
                <a:spcPct val="122000"/>
              </a:lnSpc>
              <a:buNone/>
            </a:pPr>
            <a:r>
              <a:rPr lang="en-US" sz="1300" dirty="0">
                <a:solidFill>
                  <a:srgbClr val="E7ECF5"/>
                </a:solidFill>
                <a:latin typeface="Courier New" pitchFamily="34" charset="0"/>
                <a:ea typeface="Courier New" pitchFamily="34" charset="-122"/>
                <a:cs typeface="Courier New" pitchFamily="34" charset="-120"/>
              </a:rPr>
              <a:t>());</a:t>
            </a:r>
            <a:endParaRPr lang="en-US" sz="1300" dirty="0"/>
          </a:p>
        </p:txBody>
      </p:sp>
      <p:sp>
        <p:nvSpPr>
          <p:cNvPr id="18" name="Shape 16"/>
          <p:cNvSpPr/>
          <p:nvPr/>
        </p:nvSpPr>
        <p:spPr>
          <a:xfrm>
            <a:off x="6903720" y="1645920"/>
            <a:ext cx="4800600" cy="1737360"/>
          </a:xfrm>
          <a:prstGeom prst="roundRect">
            <a:avLst>
              <a:gd name="adj" fmla="val 4737"/>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9" name="Shape 17"/>
          <p:cNvSpPr/>
          <p:nvPr/>
        </p:nvSpPr>
        <p:spPr>
          <a:xfrm>
            <a:off x="6903720" y="1645920"/>
            <a:ext cx="4800600" cy="292608"/>
          </a:xfrm>
          <a:prstGeom prst="rect">
            <a:avLst/>
          </a:prstGeom>
          <a:solidFill>
            <a:srgbClr val="141B33"/>
          </a:solidFill>
          <a:ln/>
        </p:spPr>
      </p:sp>
      <p:sp>
        <p:nvSpPr>
          <p:cNvPr id="20" name="Shape 18"/>
          <p:cNvSpPr/>
          <p:nvPr/>
        </p:nvSpPr>
        <p:spPr>
          <a:xfrm>
            <a:off x="7050024" y="1737360"/>
            <a:ext cx="109728" cy="109728"/>
          </a:xfrm>
          <a:prstGeom prst="ellipse">
            <a:avLst/>
          </a:prstGeom>
          <a:solidFill>
            <a:srgbClr val="FF6B6B"/>
          </a:solidFill>
          <a:ln/>
        </p:spPr>
      </p:sp>
      <p:sp>
        <p:nvSpPr>
          <p:cNvPr id="21" name="Shape 19"/>
          <p:cNvSpPr/>
          <p:nvPr/>
        </p:nvSpPr>
        <p:spPr>
          <a:xfrm>
            <a:off x="7223760" y="1737360"/>
            <a:ext cx="109728" cy="109728"/>
          </a:xfrm>
          <a:prstGeom prst="ellipse">
            <a:avLst/>
          </a:prstGeom>
          <a:solidFill>
            <a:srgbClr val="FFD166"/>
          </a:solidFill>
          <a:ln/>
        </p:spPr>
      </p:sp>
      <p:sp>
        <p:nvSpPr>
          <p:cNvPr id="22" name="Shape 20"/>
          <p:cNvSpPr/>
          <p:nvPr/>
        </p:nvSpPr>
        <p:spPr>
          <a:xfrm>
            <a:off x="7397496" y="1737360"/>
            <a:ext cx="109728" cy="109728"/>
          </a:xfrm>
          <a:prstGeom prst="ellipse">
            <a:avLst/>
          </a:prstGeom>
          <a:solidFill>
            <a:srgbClr val="2FD8A2"/>
          </a:solidFill>
          <a:ln/>
        </p:spPr>
      </p:sp>
      <p:sp>
        <p:nvSpPr>
          <p:cNvPr id="23" name="Text 21"/>
          <p:cNvSpPr/>
          <p:nvPr/>
        </p:nvSpPr>
        <p:spPr>
          <a:xfrm>
            <a:off x="6903720" y="164592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min · max</a:t>
            </a:r>
            <a:endParaRPr lang="en-US" sz="1000" dirty="0"/>
          </a:p>
        </p:txBody>
      </p:sp>
      <p:sp>
        <p:nvSpPr>
          <p:cNvPr id="24" name="Text 22"/>
          <p:cNvSpPr/>
          <p:nvPr/>
        </p:nvSpPr>
        <p:spPr>
          <a:xfrm>
            <a:off x="7123176" y="2057400"/>
            <a:ext cx="4361688" cy="1207008"/>
          </a:xfrm>
          <a:prstGeom prst="rect">
            <a:avLst/>
          </a:prstGeom>
          <a:noFill/>
          <a:ln/>
        </p:spPr>
        <p:txBody>
          <a:bodyPr wrap="square" lIns="0" tIns="0" rIns="0" bIns="0" rtlCol="0" anchor="t"/>
          <a:lstStyle/>
          <a:p>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min</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endParaRPr lang="en-US" sz="1400" dirty="0"/>
          </a:p>
          <a:p>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max</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400" dirty="0">
                <a:solidFill>
                  <a:srgbClr val="E7ECF5"/>
                </a:solidFill>
                <a:latin typeface="Courier New" pitchFamily="34" charset="0"/>
                <a:ea typeface="Courier New" pitchFamily="34" charset="-122"/>
                <a:cs typeface="Courier New" pitchFamily="34" charset="-120"/>
              </a:rPr>
              <a:t>);</a:t>
            </a:r>
            <a:endParaRPr lang="en-US" sz="1400" dirty="0"/>
          </a:p>
        </p:txBody>
      </p:sp>
      <p:sp>
        <p:nvSpPr>
          <p:cNvPr id="25" name="Shape 23"/>
          <p:cNvSpPr/>
          <p:nvPr/>
        </p:nvSpPr>
        <p:spPr>
          <a:xfrm>
            <a:off x="6903720" y="3566160"/>
            <a:ext cx="4800600" cy="2148840"/>
          </a:xfrm>
          <a:prstGeom prst="roundRect">
            <a:avLst>
              <a:gd name="adj" fmla="val 3404"/>
            </a:avLst>
          </a:prstGeom>
          <a:solidFill>
            <a:srgbClr val="FFF6E4"/>
          </a:solidFill>
          <a:ln w="12700">
            <a:solidFill>
              <a:srgbClr val="E08A00"/>
            </a:solidFill>
            <a:prstDash val="solid"/>
          </a:ln>
        </p:spPr>
      </p:sp>
      <p:sp>
        <p:nvSpPr>
          <p:cNvPr id="26" name="Text 24"/>
          <p:cNvSpPr/>
          <p:nvPr/>
        </p:nvSpPr>
        <p:spPr>
          <a:xfrm>
            <a:off x="7086600" y="3648456"/>
            <a:ext cx="44348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One step at a time</a:t>
            </a:r>
            <a:endParaRPr lang="en-US" sz="1050" dirty="0"/>
          </a:p>
        </p:txBody>
      </p:sp>
      <p:sp>
        <p:nvSpPr>
          <p:cNvPr id="27" name="Text 25"/>
          <p:cNvSpPr/>
          <p:nvPr/>
        </p:nvSpPr>
        <p:spPr>
          <a:xfrm>
            <a:off x="7086600" y="3913632"/>
            <a:ext cx="4434840" cy="17099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Maps, sets, stacks, queues, and priority queues are powerful — and deliberately not covered here. They arrive later in the DSA roadmap once these fundamentals are second nature.</a:t>
            </a:r>
            <a:endParaRPr lang="en-US" sz="1100" dirty="0"/>
          </a:p>
        </p:txBody>
      </p:sp>
      <p:sp>
        <p:nvSpPr>
          <p:cNvPr id="29" name="Text 26"/>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0" name="Text 27"/>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26</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Time &amp; Space Complexity — the Basics</a:t>
            </a:r>
            <a:endParaRPr lang="en-US" sz="2800" dirty="0"/>
          </a:p>
        </p:txBody>
      </p:sp>
      <p:sp>
        <p:nvSpPr>
          <p:cNvPr id="4" name="Text 2"/>
          <p:cNvSpPr/>
          <p:nvPr/>
        </p:nvSpPr>
        <p:spPr>
          <a:xfrm>
            <a:off x="502920" y="1508760"/>
            <a:ext cx="11155680" cy="457200"/>
          </a:xfrm>
          <a:prstGeom prst="rect">
            <a:avLst/>
          </a:prstGeom>
          <a:noFill/>
          <a:ln/>
        </p:spPr>
        <p:txBody>
          <a:bodyPr wrap="square" rtlCol="0" anchor="t"/>
          <a:lstStyle/>
          <a:p>
            <a:pPr indent="0" marL="0">
              <a:buNone/>
            </a:pPr>
            <a:r>
              <a:rPr lang="en-US" sz="1150" dirty="0">
                <a:solidFill>
                  <a:srgbClr val="545C7E"/>
                </a:solidFill>
                <a:latin typeface="Calibri" pitchFamily="34" charset="0"/>
                <a:ea typeface="Calibri" pitchFamily="34" charset="-122"/>
                <a:cs typeface="Calibri" pitchFamily="34" charset="-120"/>
              </a:rPr>
              <a:t>Big-O describes how runtime grows as input size n grows — the shape of growth, not an exact stopwatch reading. Constants are ignored at this level.</a:t>
            </a:r>
            <a:endParaRPr lang="en-US" sz="1150" dirty="0"/>
          </a:p>
        </p:txBody>
      </p:sp>
      <p:sp>
        <p:nvSpPr>
          <p:cNvPr id="5" name="Text 3"/>
          <p:cNvSpPr/>
          <p:nvPr/>
        </p:nvSpPr>
        <p:spPr>
          <a:xfrm>
            <a:off x="502920" y="2148840"/>
            <a:ext cx="5394960" cy="292608"/>
          </a:xfrm>
          <a:prstGeom prst="rect">
            <a:avLst/>
          </a:prstGeom>
          <a:noFill/>
          <a:ln/>
        </p:spPr>
        <p:txBody>
          <a:bodyPr wrap="square" rtlCol="0" anchor="ctr"/>
          <a:lstStyle/>
          <a:p>
            <a:pPr indent="0" marL="0">
              <a:buNone/>
            </a:pPr>
            <a:r>
              <a:rPr lang="en-US" sz="1300" b="1" dirty="0">
                <a:solidFill>
                  <a:srgbClr val="16A67C"/>
                </a:solidFill>
                <a:latin typeface="Calibri" pitchFamily="34" charset="0"/>
                <a:ea typeface="Calibri" pitchFamily="34" charset="-122"/>
                <a:cs typeface="Calibri" pitchFamily="34" charset="-120"/>
              </a:rPr>
              <a:t>O(1)  —  constant</a:t>
            </a:r>
            <a:endParaRPr lang="en-US" sz="1300" dirty="0"/>
          </a:p>
        </p:txBody>
      </p:sp>
      <p:sp>
        <p:nvSpPr>
          <p:cNvPr id="6" name="Shape 4"/>
          <p:cNvSpPr/>
          <p:nvPr/>
        </p:nvSpPr>
        <p:spPr>
          <a:xfrm>
            <a:off x="502920" y="2441448"/>
            <a:ext cx="5394960" cy="1673352"/>
          </a:xfrm>
          <a:prstGeom prst="roundRect">
            <a:avLst>
              <a:gd name="adj" fmla="val 4918"/>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7" name="Shape 5"/>
          <p:cNvSpPr/>
          <p:nvPr/>
        </p:nvSpPr>
        <p:spPr>
          <a:xfrm>
            <a:off x="502920" y="2441448"/>
            <a:ext cx="5394960" cy="292608"/>
          </a:xfrm>
          <a:prstGeom prst="rect">
            <a:avLst/>
          </a:prstGeom>
          <a:solidFill>
            <a:srgbClr val="141B33"/>
          </a:solidFill>
          <a:ln/>
        </p:spPr>
      </p:sp>
      <p:sp>
        <p:nvSpPr>
          <p:cNvPr id="8" name="Shape 6"/>
          <p:cNvSpPr/>
          <p:nvPr/>
        </p:nvSpPr>
        <p:spPr>
          <a:xfrm>
            <a:off x="649224" y="2532888"/>
            <a:ext cx="109728" cy="109728"/>
          </a:xfrm>
          <a:prstGeom prst="ellipse">
            <a:avLst/>
          </a:prstGeom>
          <a:solidFill>
            <a:srgbClr val="FF6B6B"/>
          </a:solidFill>
          <a:ln/>
        </p:spPr>
      </p:sp>
      <p:sp>
        <p:nvSpPr>
          <p:cNvPr id="9" name="Shape 7"/>
          <p:cNvSpPr/>
          <p:nvPr/>
        </p:nvSpPr>
        <p:spPr>
          <a:xfrm>
            <a:off x="822960" y="2532888"/>
            <a:ext cx="109728" cy="109728"/>
          </a:xfrm>
          <a:prstGeom prst="ellipse">
            <a:avLst/>
          </a:prstGeom>
          <a:solidFill>
            <a:srgbClr val="FFD166"/>
          </a:solidFill>
          <a:ln/>
        </p:spPr>
      </p:sp>
      <p:sp>
        <p:nvSpPr>
          <p:cNvPr id="10" name="Shape 8"/>
          <p:cNvSpPr/>
          <p:nvPr/>
        </p:nvSpPr>
        <p:spPr>
          <a:xfrm>
            <a:off x="996696" y="2532888"/>
            <a:ext cx="109728" cy="109728"/>
          </a:xfrm>
          <a:prstGeom prst="ellipse">
            <a:avLst/>
          </a:prstGeom>
          <a:solidFill>
            <a:srgbClr val="2FD8A2"/>
          </a:solidFill>
          <a:ln/>
        </p:spPr>
      </p:sp>
      <p:sp>
        <p:nvSpPr>
          <p:cNvPr id="11" name="Text 9"/>
          <p:cNvSpPr/>
          <p:nvPr/>
        </p:nvSpPr>
        <p:spPr>
          <a:xfrm>
            <a:off x="722376" y="2852928"/>
            <a:ext cx="4956048" cy="1143000"/>
          </a:xfrm>
          <a:prstGeom prst="rect">
            <a:avLst/>
          </a:prstGeom>
          <a:noFill/>
          <a:ln/>
        </p:spPr>
        <p:txBody>
          <a:bodyPr wrap="square" lIns="0" tIns="0" rIns="0" bIns="0" rtlCol="0" anchor="t"/>
          <a:lstStyle/>
          <a:p>
            <a:pPr algn="l" indent="0" marL="0">
              <a:lnSpc>
                <a:spcPct val="122000"/>
              </a:lnSpc>
              <a:buNone/>
            </a:pPr>
            <a:r>
              <a:rPr lang="en-US" sz="11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numbers</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endParaRPr lang="en-US" sz="1100" dirty="0"/>
          </a:p>
        </p:txBody>
      </p:sp>
      <p:sp>
        <p:nvSpPr>
          <p:cNvPr id="12" name="Text 10"/>
          <p:cNvSpPr/>
          <p:nvPr/>
        </p:nvSpPr>
        <p:spPr>
          <a:xfrm>
            <a:off x="6172200" y="2148840"/>
            <a:ext cx="5394960" cy="292608"/>
          </a:xfrm>
          <a:prstGeom prst="rect">
            <a:avLst/>
          </a:prstGeom>
          <a:noFill/>
          <a:ln/>
        </p:spPr>
        <p:txBody>
          <a:bodyPr wrap="square" rtlCol="0" anchor="ctr"/>
          <a:lstStyle/>
          <a:p>
            <a:pPr indent="0" marL="0">
              <a:buNone/>
            </a:pPr>
            <a:r>
              <a:rPr lang="en-US" sz="1300" b="1" dirty="0">
                <a:solidFill>
                  <a:srgbClr val="16A67C"/>
                </a:solidFill>
                <a:latin typeface="Calibri" pitchFamily="34" charset="0"/>
                <a:ea typeface="Calibri" pitchFamily="34" charset="-122"/>
                <a:cs typeface="Calibri" pitchFamily="34" charset="-120"/>
              </a:rPr>
              <a:t>O(n)  —  linear</a:t>
            </a:r>
            <a:endParaRPr lang="en-US" sz="1300" dirty="0"/>
          </a:p>
        </p:txBody>
      </p:sp>
      <p:sp>
        <p:nvSpPr>
          <p:cNvPr id="13" name="Shape 11"/>
          <p:cNvSpPr/>
          <p:nvPr/>
        </p:nvSpPr>
        <p:spPr>
          <a:xfrm>
            <a:off x="6172200" y="2441448"/>
            <a:ext cx="5394960" cy="1673352"/>
          </a:xfrm>
          <a:prstGeom prst="roundRect">
            <a:avLst>
              <a:gd name="adj" fmla="val 4918"/>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4" name="Shape 12"/>
          <p:cNvSpPr/>
          <p:nvPr/>
        </p:nvSpPr>
        <p:spPr>
          <a:xfrm>
            <a:off x="6172200" y="2441448"/>
            <a:ext cx="5394960" cy="292608"/>
          </a:xfrm>
          <a:prstGeom prst="rect">
            <a:avLst/>
          </a:prstGeom>
          <a:solidFill>
            <a:srgbClr val="141B33"/>
          </a:solidFill>
          <a:ln/>
        </p:spPr>
      </p:sp>
      <p:sp>
        <p:nvSpPr>
          <p:cNvPr id="15" name="Shape 13"/>
          <p:cNvSpPr/>
          <p:nvPr/>
        </p:nvSpPr>
        <p:spPr>
          <a:xfrm>
            <a:off x="6318504" y="2532888"/>
            <a:ext cx="109728" cy="109728"/>
          </a:xfrm>
          <a:prstGeom prst="ellipse">
            <a:avLst/>
          </a:prstGeom>
          <a:solidFill>
            <a:srgbClr val="FF6B6B"/>
          </a:solidFill>
          <a:ln/>
        </p:spPr>
      </p:sp>
      <p:sp>
        <p:nvSpPr>
          <p:cNvPr id="16" name="Shape 14"/>
          <p:cNvSpPr/>
          <p:nvPr/>
        </p:nvSpPr>
        <p:spPr>
          <a:xfrm>
            <a:off x="6492240" y="2532888"/>
            <a:ext cx="109728" cy="109728"/>
          </a:xfrm>
          <a:prstGeom prst="ellipse">
            <a:avLst/>
          </a:prstGeom>
          <a:solidFill>
            <a:srgbClr val="FFD166"/>
          </a:solidFill>
          <a:ln/>
        </p:spPr>
      </p:sp>
      <p:sp>
        <p:nvSpPr>
          <p:cNvPr id="17" name="Shape 15"/>
          <p:cNvSpPr/>
          <p:nvPr/>
        </p:nvSpPr>
        <p:spPr>
          <a:xfrm>
            <a:off x="6665976" y="2532888"/>
            <a:ext cx="109728" cy="109728"/>
          </a:xfrm>
          <a:prstGeom prst="ellipse">
            <a:avLst/>
          </a:prstGeom>
          <a:solidFill>
            <a:srgbClr val="2FD8A2"/>
          </a:solidFill>
          <a:ln/>
        </p:spPr>
      </p:sp>
      <p:sp>
        <p:nvSpPr>
          <p:cNvPr id="18" name="Text 16"/>
          <p:cNvSpPr/>
          <p:nvPr/>
        </p:nvSpPr>
        <p:spPr>
          <a:xfrm>
            <a:off x="6391656" y="2852928"/>
            <a:ext cx="4956048" cy="1143000"/>
          </a:xfrm>
          <a:prstGeom prst="rect">
            <a:avLst/>
          </a:prstGeom>
          <a:noFill/>
          <a:ln/>
        </p:spPr>
        <p:txBody>
          <a:bodyPr wrap="square" lIns="0" tIns="0" rIns="0" bIns="0" rtlCol="0" anchor="t"/>
          <a:lstStyle/>
          <a:p>
            <a:pPr algn="l" indent="0" marL="0">
              <a:lnSpc>
                <a:spcPct val="122000"/>
              </a:lnSpc>
              <a:buNone/>
            </a:pPr>
            <a:r>
              <a:rPr lang="en-US" sz="11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endParaRPr lang="en-US" sz="1100" dirty="0"/>
          </a:p>
          <a:p>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endParaRPr lang="en-US" sz="1100" dirty="0"/>
          </a:p>
        </p:txBody>
      </p:sp>
      <p:sp>
        <p:nvSpPr>
          <p:cNvPr id="19" name="Text 17"/>
          <p:cNvSpPr/>
          <p:nvPr/>
        </p:nvSpPr>
        <p:spPr>
          <a:xfrm>
            <a:off x="502920" y="4343400"/>
            <a:ext cx="5394960" cy="292608"/>
          </a:xfrm>
          <a:prstGeom prst="rect">
            <a:avLst/>
          </a:prstGeom>
          <a:noFill/>
          <a:ln/>
        </p:spPr>
        <p:txBody>
          <a:bodyPr wrap="square" rtlCol="0" anchor="ctr"/>
          <a:lstStyle/>
          <a:p>
            <a:pPr indent="0" marL="0">
              <a:buNone/>
            </a:pPr>
            <a:r>
              <a:rPr lang="en-US" sz="1300" b="1" dirty="0">
                <a:solidFill>
                  <a:srgbClr val="16A67C"/>
                </a:solidFill>
                <a:latin typeface="Calibri" pitchFamily="34" charset="0"/>
                <a:ea typeface="Calibri" pitchFamily="34" charset="-122"/>
                <a:cs typeface="Calibri" pitchFamily="34" charset="-120"/>
              </a:rPr>
              <a:t>O(n²)  —  quadratic</a:t>
            </a:r>
            <a:endParaRPr lang="en-US" sz="1300" dirty="0"/>
          </a:p>
        </p:txBody>
      </p:sp>
      <p:sp>
        <p:nvSpPr>
          <p:cNvPr id="20" name="Shape 18"/>
          <p:cNvSpPr/>
          <p:nvPr/>
        </p:nvSpPr>
        <p:spPr>
          <a:xfrm>
            <a:off x="502920" y="4636008"/>
            <a:ext cx="5394960" cy="1673352"/>
          </a:xfrm>
          <a:prstGeom prst="roundRect">
            <a:avLst>
              <a:gd name="adj" fmla="val 4918"/>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1" name="Shape 19"/>
          <p:cNvSpPr/>
          <p:nvPr/>
        </p:nvSpPr>
        <p:spPr>
          <a:xfrm>
            <a:off x="502920" y="4636008"/>
            <a:ext cx="5394960" cy="292608"/>
          </a:xfrm>
          <a:prstGeom prst="rect">
            <a:avLst/>
          </a:prstGeom>
          <a:solidFill>
            <a:srgbClr val="141B33"/>
          </a:solidFill>
          <a:ln/>
        </p:spPr>
      </p:sp>
      <p:sp>
        <p:nvSpPr>
          <p:cNvPr id="22" name="Shape 20"/>
          <p:cNvSpPr/>
          <p:nvPr/>
        </p:nvSpPr>
        <p:spPr>
          <a:xfrm>
            <a:off x="649224" y="4727448"/>
            <a:ext cx="109728" cy="109728"/>
          </a:xfrm>
          <a:prstGeom prst="ellipse">
            <a:avLst/>
          </a:prstGeom>
          <a:solidFill>
            <a:srgbClr val="FF6B6B"/>
          </a:solidFill>
          <a:ln/>
        </p:spPr>
      </p:sp>
      <p:sp>
        <p:nvSpPr>
          <p:cNvPr id="23" name="Shape 21"/>
          <p:cNvSpPr/>
          <p:nvPr/>
        </p:nvSpPr>
        <p:spPr>
          <a:xfrm>
            <a:off x="822960" y="4727448"/>
            <a:ext cx="109728" cy="109728"/>
          </a:xfrm>
          <a:prstGeom prst="ellipse">
            <a:avLst/>
          </a:prstGeom>
          <a:solidFill>
            <a:srgbClr val="FFD166"/>
          </a:solidFill>
          <a:ln/>
        </p:spPr>
      </p:sp>
      <p:sp>
        <p:nvSpPr>
          <p:cNvPr id="24" name="Shape 22"/>
          <p:cNvSpPr/>
          <p:nvPr/>
        </p:nvSpPr>
        <p:spPr>
          <a:xfrm>
            <a:off x="996696" y="4727448"/>
            <a:ext cx="109728" cy="109728"/>
          </a:xfrm>
          <a:prstGeom prst="ellipse">
            <a:avLst/>
          </a:prstGeom>
          <a:solidFill>
            <a:srgbClr val="2FD8A2"/>
          </a:solidFill>
          <a:ln/>
        </p:spPr>
      </p:sp>
      <p:sp>
        <p:nvSpPr>
          <p:cNvPr id="25" name="Text 23"/>
          <p:cNvSpPr/>
          <p:nvPr/>
        </p:nvSpPr>
        <p:spPr>
          <a:xfrm>
            <a:off x="722376" y="5047488"/>
            <a:ext cx="4956048" cy="1143000"/>
          </a:xfrm>
          <a:prstGeom prst="rect">
            <a:avLst/>
          </a:prstGeom>
          <a:noFill/>
          <a:ln/>
        </p:spPr>
        <p:txBody>
          <a:bodyPr wrap="square" lIns="0" tIns="0" rIns="0" bIns="0" rtlCol="0" anchor="t"/>
          <a:lstStyle/>
          <a:p>
            <a:pPr algn="l" indent="0" marL="0">
              <a:lnSpc>
                <a:spcPct val="122000"/>
              </a:lnSpc>
              <a:buNone/>
            </a:pPr>
            <a:r>
              <a:rPr lang="en-US" sz="11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endParaRPr lang="en-US" sz="1100" dirty="0"/>
          </a:p>
          <a:p>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j</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j</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j</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endParaRPr lang="en-US" sz="1100" dirty="0"/>
          </a:p>
          <a:p>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j</a:t>
            </a:r>
            <a:pPr algn="l" indent="0" marL="0">
              <a:lnSpc>
                <a:spcPct val="122000"/>
              </a:lnSpc>
              <a:buNone/>
            </a:pPr>
            <a:r>
              <a:rPr lang="en-US" sz="1100" dirty="0">
                <a:solidFill>
                  <a:srgbClr val="E7ECF5"/>
                </a:solidFill>
                <a:latin typeface="Courier New" pitchFamily="34" charset="0"/>
                <a:ea typeface="Courier New" pitchFamily="34" charset="-122"/>
                <a:cs typeface="Courier New" pitchFamily="34" charset="-120"/>
              </a:rPr>
              <a:t>;</a:t>
            </a:r>
            <a:endParaRPr lang="en-US" sz="1100" dirty="0"/>
          </a:p>
        </p:txBody>
      </p:sp>
      <p:sp>
        <p:nvSpPr>
          <p:cNvPr id="26" name="Text 24"/>
          <p:cNvSpPr/>
          <p:nvPr/>
        </p:nvSpPr>
        <p:spPr>
          <a:xfrm>
            <a:off x="6172200" y="4343400"/>
            <a:ext cx="5394960" cy="292608"/>
          </a:xfrm>
          <a:prstGeom prst="rect">
            <a:avLst/>
          </a:prstGeom>
          <a:noFill/>
          <a:ln/>
        </p:spPr>
        <p:txBody>
          <a:bodyPr wrap="square" rtlCol="0" anchor="ctr"/>
          <a:lstStyle/>
          <a:p>
            <a:pPr indent="0" marL="0">
              <a:buNone/>
            </a:pPr>
            <a:r>
              <a:rPr lang="en-US" sz="1300" b="1" dirty="0">
                <a:solidFill>
                  <a:srgbClr val="16A67C"/>
                </a:solidFill>
                <a:latin typeface="Calibri" pitchFamily="34" charset="0"/>
                <a:ea typeface="Calibri" pitchFamily="34" charset="-122"/>
                <a:cs typeface="Calibri" pitchFamily="34" charset="-120"/>
              </a:rPr>
              <a:t>O(log n)  —  logarithmic</a:t>
            </a:r>
            <a:endParaRPr lang="en-US" sz="1300" dirty="0"/>
          </a:p>
        </p:txBody>
      </p:sp>
      <p:sp>
        <p:nvSpPr>
          <p:cNvPr id="27" name="Shape 25"/>
          <p:cNvSpPr/>
          <p:nvPr/>
        </p:nvSpPr>
        <p:spPr>
          <a:xfrm>
            <a:off x="6172200" y="4636008"/>
            <a:ext cx="5394960" cy="1673352"/>
          </a:xfrm>
          <a:prstGeom prst="roundRect">
            <a:avLst>
              <a:gd name="adj" fmla="val 4918"/>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28" name="Shape 26"/>
          <p:cNvSpPr/>
          <p:nvPr/>
        </p:nvSpPr>
        <p:spPr>
          <a:xfrm>
            <a:off x="6172200" y="4636008"/>
            <a:ext cx="5394960" cy="292608"/>
          </a:xfrm>
          <a:prstGeom prst="rect">
            <a:avLst/>
          </a:prstGeom>
          <a:solidFill>
            <a:srgbClr val="141B33"/>
          </a:solidFill>
          <a:ln/>
        </p:spPr>
      </p:sp>
      <p:sp>
        <p:nvSpPr>
          <p:cNvPr id="29" name="Shape 27"/>
          <p:cNvSpPr/>
          <p:nvPr/>
        </p:nvSpPr>
        <p:spPr>
          <a:xfrm>
            <a:off x="6318504" y="4727448"/>
            <a:ext cx="109728" cy="109728"/>
          </a:xfrm>
          <a:prstGeom prst="ellipse">
            <a:avLst/>
          </a:prstGeom>
          <a:solidFill>
            <a:srgbClr val="FF6B6B"/>
          </a:solidFill>
          <a:ln/>
        </p:spPr>
      </p:sp>
      <p:sp>
        <p:nvSpPr>
          <p:cNvPr id="30" name="Shape 28"/>
          <p:cNvSpPr/>
          <p:nvPr/>
        </p:nvSpPr>
        <p:spPr>
          <a:xfrm>
            <a:off x="6492240" y="4727448"/>
            <a:ext cx="109728" cy="109728"/>
          </a:xfrm>
          <a:prstGeom prst="ellipse">
            <a:avLst/>
          </a:prstGeom>
          <a:solidFill>
            <a:srgbClr val="FFD166"/>
          </a:solidFill>
          <a:ln/>
        </p:spPr>
      </p:sp>
      <p:sp>
        <p:nvSpPr>
          <p:cNvPr id="31" name="Shape 29"/>
          <p:cNvSpPr/>
          <p:nvPr/>
        </p:nvSpPr>
        <p:spPr>
          <a:xfrm>
            <a:off x="6665976" y="4727448"/>
            <a:ext cx="109728" cy="109728"/>
          </a:xfrm>
          <a:prstGeom prst="ellipse">
            <a:avLst/>
          </a:prstGeom>
          <a:solidFill>
            <a:srgbClr val="2FD8A2"/>
          </a:solidFill>
          <a:ln/>
        </p:spPr>
      </p:sp>
      <p:sp>
        <p:nvSpPr>
          <p:cNvPr id="32" name="Text 30"/>
          <p:cNvSpPr/>
          <p:nvPr/>
        </p:nvSpPr>
        <p:spPr>
          <a:xfrm>
            <a:off x="6391656" y="5047488"/>
            <a:ext cx="4956048" cy="1143000"/>
          </a:xfrm>
          <a:prstGeom prst="rect">
            <a:avLst/>
          </a:prstGeom>
          <a:noFill/>
          <a:ln/>
        </p:spPr>
        <p:txBody>
          <a:bodyPr wrap="square" lIns="0" tIns="0" rIns="0" bIns="0" rtlCol="0" anchor="t"/>
          <a:lstStyle/>
          <a:p>
            <a:pPr algn="l" indent="0" marL="0">
              <a:lnSpc>
                <a:spcPct val="122000"/>
              </a:lnSpc>
              <a:buNone/>
            </a:pPr>
            <a:r>
              <a:rPr lang="en-US" sz="1100" i="1" dirty="0">
                <a:solidFill>
                  <a:srgbClr val="7FA36B"/>
                </a:solidFill>
                <a:latin typeface="Courier New" pitchFamily="34" charset="0"/>
                <a:ea typeface="Courier New" pitchFamily="34" charset="-122"/>
                <a:cs typeface="Courier New" pitchFamily="34" charset="-120"/>
              </a:rPr>
              <a:t>// e.g. binary search:</a:t>
            </a:r>
            <a:endParaRPr lang="en-US" sz="1100" dirty="0"/>
          </a:p>
          <a:p>
            <a:pPr algn="l" indent="0" marL="0">
              <a:lnSpc>
                <a:spcPct val="122000"/>
              </a:lnSpc>
              <a:buNone/>
            </a:pPr>
            <a:r>
              <a:rPr lang="en-US" sz="1100" i="1" dirty="0">
                <a:solidFill>
                  <a:srgbClr val="7FA36B"/>
                </a:solidFill>
                <a:latin typeface="Courier New" pitchFamily="34" charset="0"/>
                <a:ea typeface="Courier New" pitchFamily="34" charset="-122"/>
                <a:cs typeface="Courier New" pitchFamily="34" charset="-120"/>
              </a:rPr>
              <a:t>// halves the search space</a:t>
            </a:r>
            <a:endParaRPr lang="en-US" sz="1100" dirty="0"/>
          </a:p>
          <a:p>
            <a:pPr algn="l" indent="0" marL="0">
              <a:lnSpc>
                <a:spcPct val="122000"/>
              </a:lnSpc>
              <a:buNone/>
            </a:pPr>
            <a:r>
              <a:rPr lang="en-US" sz="1100" i="1" dirty="0">
                <a:solidFill>
                  <a:srgbClr val="7FA36B"/>
                </a:solidFill>
                <a:latin typeface="Courier New" pitchFamily="34" charset="0"/>
                <a:ea typeface="Courier New" pitchFamily="34" charset="-122"/>
                <a:cs typeface="Courier New" pitchFamily="34" charset="-120"/>
              </a:rPr>
              <a:t>// on every step</a:t>
            </a:r>
            <a:endParaRPr lang="en-US" sz="1100" dirty="0"/>
          </a:p>
        </p:txBody>
      </p:sp>
      <p:sp>
        <p:nvSpPr>
          <p:cNvPr id="34" name="Text 31"/>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5" name="Text 32"/>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39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123444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DAY 7 OF 7</a:t>
            </a:r>
            <a:endParaRPr lang="en-US" sz="1200" dirty="0"/>
          </a:p>
        </p:txBody>
      </p:sp>
      <p:sp>
        <p:nvSpPr>
          <p:cNvPr id="3" name="Text 1"/>
          <p:cNvSpPr/>
          <p:nvPr/>
        </p:nvSpPr>
        <p:spPr>
          <a:xfrm>
            <a:off x="502920" y="1645920"/>
            <a:ext cx="107899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Mistakes, Practice &amp; Interview Readiness</a:t>
            </a:r>
            <a:endParaRPr lang="en-US" sz="3800" dirty="0"/>
          </a:p>
        </p:txBody>
      </p:sp>
      <p:sp>
        <p:nvSpPr>
          <p:cNvPr id="4" name="Text 2"/>
          <p:cNvSpPr/>
          <p:nvPr/>
        </p:nvSpPr>
        <p:spPr>
          <a:xfrm>
            <a:off x="502920" y="2880360"/>
            <a:ext cx="8778240" cy="777240"/>
          </a:xfrm>
          <a:prstGeom prst="rect">
            <a:avLst/>
          </a:prstGeom>
          <a:noFill/>
          <a:ln/>
        </p:spPr>
        <p:txBody>
          <a:bodyPr wrap="square" rtlCol="0" anchor="t"/>
          <a:lstStyle/>
          <a:p>
            <a:pPr indent="0" marL="0">
              <a:buNone/>
            </a:pPr>
            <a:r>
              <a:rPr lang="en-US" sz="1450" dirty="0">
                <a:solidFill>
                  <a:srgbClr val="C7CFE8"/>
                </a:solidFill>
                <a:latin typeface="Calibri" pitchFamily="34" charset="0"/>
                <a:ea typeface="Calibri" pitchFamily="34" charset="-122"/>
                <a:cs typeface="Calibri" pitchFamily="34" charset="-120"/>
              </a:rPr>
              <a:t>Everything from the last six days converges here: the mistakes to watch for, a framework for reading any problem, verified LeetCode practice, and a one-page reference to revise from before an interview.</a:t>
            </a:r>
            <a:endParaRPr lang="en-US" sz="1450" dirty="0"/>
          </a:p>
        </p:txBody>
      </p:sp>
      <p:sp>
        <p:nvSpPr>
          <p:cNvPr id="5" name="Shape 3"/>
          <p:cNvSpPr/>
          <p:nvPr/>
        </p:nvSpPr>
        <p:spPr>
          <a:xfrm>
            <a:off x="502920" y="3977640"/>
            <a:ext cx="1501445" cy="365760"/>
          </a:xfrm>
          <a:prstGeom prst="roundRect">
            <a:avLst>
              <a:gd name="adj" fmla="val 50000"/>
            </a:avLst>
          </a:prstGeom>
          <a:solidFill>
            <a:srgbClr val="16213E"/>
          </a:solidFill>
          <a:ln w="9525">
            <a:solidFill>
              <a:srgbClr val="2FD8A2"/>
            </a:solidFill>
            <a:prstDash val="solid"/>
          </a:ln>
        </p:spPr>
      </p:sp>
      <p:sp>
        <p:nvSpPr>
          <p:cNvPr id="6" name="Text 4"/>
          <p:cNvSpPr/>
          <p:nvPr/>
        </p:nvSpPr>
        <p:spPr>
          <a:xfrm>
            <a:off x="502920" y="3977640"/>
            <a:ext cx="1501445"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C→C++ mistakes</a:t>
            </a:r>
            <a:endParaRPr lang="en-US" sz="1050" dirty="0"/>
          </a:p>
        </p:txBody>
      </p:sp>
      <p:sp>
        <p:nvSpPr>
          <p:cNvPr id="7" name="Shape 5"/>
          <p:cNvSpPr/>
          <p:nvPr/>
        </p:nvSpPr>
        <p:spPr>
          <a:xfrm>
            <a:off x="2168957" y="3977640"/>
            <a:ext cx="1756562" cy="365760"/>
          </a:xfrm>
          <a:prstGeom prst="roundRect">
            <a:avLst>
              <a:gd name="adj" fmla="val 50000"/>
            </a:avLst>
          </a:prstGeom>
          <a:solidFill>
            <a:srgbClr val="16213E"/>
          </a:solidFill>
          <a:ln w="9525">
            <a:solidFill>
              <a:srgbClr val="2FD8A2"/>
            </a:solidFill>
            <a:prstDash val="solid"/>
          </a:ln>
        </p:spPr>
      </p:sp>
      <p:sp>
        <p:nvSpPr>
          <p:cNvPr id="8" name="Text 6"/>
          <p:cNvSpPr/>
          <p:nvPr/>
        </p:nvSpPr>
        <p:spPr>
          <a:xfrm>
            <a:off x="2168957" y="3977640"/>
            <a:ext cx="175656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Problem framework</a:t>
            </a:r>
            <a:endParaRPr lang="en-US" sz="1050" dirty="0"/>
          </a:p>
        </p:txBody>
      </p:sp>
      <p:sp>
        <p:nvSpPr>
          <p:cNvPr id="9" name="Shape 7"/>
          <p:cNvSpPr/>
          <p:nvPr/>
        </p:nvSpPr>
        <p:spPr>
          <a:xfrm>
            <a:off x="4090111" y="3977640"/>
            <a:ext cx="1331366" cy="365760"/>
          </a:xfrm>
          <a:prstGeom prst="roundRect">
            <a:avLst>
              <a:gd name="adj" fmla="val 50000"/>
            </a:avLst>
          </a:prstGeom>
          <a:solidFill>
            <a:srgbClr val="16213E"/>
          </a:solidFill>
          <a:ln w="9525">
            <a:solidFill>
              <a:srgbClr val="2FD8A2"/>
            </a:solidFill>
            <a:prstDash val="solid"/>
          </a:ln>
        </p:spPr>
      </p:sp>
      <p:sp>
        <p:nvSpPr>
          <p:cNvPr id="10" name="Text 8"/>
          <p:cNvSpPr/>
          <p:nvPr/>
        </p:nvSpPr>
        <p:spPr>
          <a:xfrm>
            <a:off x="4090111" y="3977640"/>
            <a:ext cx="1331366"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LeetCode set</a:t>
            </a:r>
            <a:endParaRPr lang="en-US" sz="1050" dirty="0"/>
          </a:p>
        </p:txBody>
      </p:sp>
      <p:sp>
        <p:nvSpPr>
          <p:cNvPr id="11" name="Shape 9"/>
          <p:cNvSpPr/>
          <p:nvPr/>
        </p:nvSpPr>
        <p:spPr>
          <a:xfrm>
            <a:off x="5586070" y="3977640"/>
            <a:ext cx="1586484" cy="365760"/>
          </a:xfrm>
          <a:prstGeom prst="roundRect">
            <a:avLst>
              <a:gd name="adj" fmla="val 50000"/>
            </a:avLst>
          </a:prstGeom>
          <a:solidFill>
            <a:srgbClr val="16213E"/>
          </a:solidFill>
          <a:ln w="9525">
            <a:solidFill>
              <a:srgbClr val="2FD8A2"/>
            </a:solidFill>
            <a:prstDash val="solid"/>
          </a:ln>
        </p:spPr>
      </p:sp>
      <p:sp>
        <p:nvSpPr>
          <p:cNvPr id="12" name="Text 10"/>
          <p:cNvSpPr/>
          <p:nvPr/>
        </p:nvSpPr>
        <p:spPr>
          <a:xfrm>
            <a:off x="5586070" y="3977640"/>
            <a:ext cx="1586484"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Self-assessment</a:t>
            </a:r>
            <a:endParaRPr lang="en-US" sz="1050" dirty="0"/>
          </a:p>
        </p:txBody>
      </p:sp>
      <p:sp>
        <p:nvSpPr>
          <p:cNvPr id="13" name="Shape 11"/>
          <p:cNvSpPr/>
          <p:nvPr/>
        </p:nvSpPr>
        <p:spPr>
          <a:xfrm>
            <a:off x="7337146" y="3977640"/>
            <a:ext cx="1246327" cy="365760"/>
          </a:xfrm>
          <a:prstGeom prst="roundRect">
            <a:avLst>
              <a:gd name="adj" fmla="val 50000"/>
            </a:avLst>
          </a:prstGeom>
          <a:solidFill>
            <a:srgbClr val="16213E"/>
          </a:solidFill>
          <a:ln w="9525">
            <a:solidFill>
              <a:srgbClr val="2FD8A2"/>
            </a:solidFill>
            <a:prstDash val="solid"/>
          </a:ln>
        </p:spPr>
      </p:sp>
      <p:sp>
        <p:nvSpPr>
          <p:cNvPr id="14" name="Text 12"/>
          <p:cNvSpPr/>
          <p:nvPr/>
        </p:nvSpPr>
        <p:spPr>
          <a:xfrm>
            <a:off x="7337146" y="3977640"/>
            <a:ext cx="1246327"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Cheat sheet</a:t>
            </a:r>
            <a:endParaRPr lang="en-US" sz="1050" dirty="0"/>
          </a:p>
        </p:txBody>
      </p:sp>
      <p:sp>
        <p:nvSpPr>
          <p:cNvPr id="15" name="Shape 13"/>
          <p:cNvSpPr/>
          <p:nvPr/>
        </p:nvSpPr>
        <p:spPr>
          <a:xfrm>
            <a:off x="8748065" y="3977640"/>
            <a:ext cx="1161288" cy="365760"/>
          </a:xfrm>
          <a:prstGeom prst="roundRect">
            <a:avLst>
              <a:gd name="adj" fmla="val 50000"/>
            </a:avLst>
          </a:prstGeom>
          <a:solidFill>
            <a:srgbClr val="16213E"/>
          </a:solidFill>
          <a:ln w="9525">
            <a:solidFill>
              <a:srgbClr val="2FD8A2"/>
            </a:solidFill>
            <a:prstDash val="solid"/>
          </a:ln>
        </p:spPr>
      </p:sp>
      <p:sp>
        <p:nvSpPr>
          <p:cNvPr id="16" name="Text 14"/>
          <p:cNvSpPr/>
          <p:nvPr/>
        </p:nvSpPr>
        <p:spPr>
          <a:xfrm>
            <a:off x="8748065" y="3977640"/>
            <a:ext cx="1161288"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Next steps</a:t>
            </a:r>
            <a:endParaRPr lang="en-US" sz="1050" dirty="0"/>
          </a:p>
        </p:txBody>
      </p:sp>
      <p:sp>
        <p:nvSpPr>
          <p:cNvPr id="17" name="Shape 15"/>
          <p:cNvSpPr/>
          <p:nvPr/>
        </p:nvSpPr>
        <p:spPr>
          <a:xfrm>
            <a:off x="8945575" y="4892040"/>
            <a:ext cx="2743200" cy="1417320"/>
          </a:xfrm>
          <a:prstGeom prst="roundRect">
            <a:avLst>
              <a:gd name="adj" fmla="val 5806"/>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8" name="Shape 16"/>
          <p:cNvSpPr/>
          <p:nvPr/>
        </p:nvSpPr>
        <p:spPr>
          <a:xfrm>
            <a:off x="8945575" y="4892040"/>
            <a:ext cx="2743200" cy="292608"/>
          </a:xfrm>
          <a:prstGeom prst="rect">
            <a:avLst/>
          </a:prstGeom>
          <a:solidFill>
            <a:srgbClr val="141B33"/>
          </a:solidFill>
          <a:ln/>
        </p:spPr>
      </p:sp>
      <p:sp>
        <p:nvSpPr>
          <p:cNvPr id="19" name="Shape 17"/>
          <p:cNvSpPr/>
          <p:nvPr/>
        </p:nvSpPr>
        <p:spPr>
          <a:xfrm>
            <a:off x="9091879" y="4983480"/>
            <a:ext cx="109728" cy="109728"/>
          </a:xfrm>
          <a:prstGeom prst="ellipse">
            <a:avLst/>
          </a:prstGeom>
          <a:solidFill>
            <a:srgbClr val="FF6B6B"/>
          </a:solidFill>
          <a:ln/>
        </p:spPr>
      </p:sp>
      <p:sp>
        <p:nvSpPr>
          <p:cNvPr id="20" name="Shape 18"/>
          <p:cNvSpPr/>
          <p:nvPr/>
        </p:nvSpPr>
        <p:spPr>
          <a:xfrm>
            <a:off x="9265615" y="4983480"/>
            <a:ext cx="109728" cy="109728"/>
          </a:xfrm>
          <a:prstGeom prst="ellipse">
            <a:avLst/>
          </a:prstGeom>
          <a:solidFill>
            <a:srgbClr val="FFD166"/>
          </a:solidFill>
          <a:ln/>
        </p:spPr>
      </p:sp>
      <p:sp>
        <p:nvSpPr>
          <p:cNvPr id="21" name="Shape 19"/>
          <p:cNvSpPr/>
          <p:nvPr/>
        </p:nvSpPr>
        <p:spPr>
          <a:xfrm>
            <a:off x="9439351" y="4983480"/>
            <a:ext cx="109728" cy="109728"/>
          </a:xfrm>
          <a:prstGeom prst="ellipse">
            <a:avLst/>
          </a:prstGeom>
          <a:solidFill>
            <a:srgbClr val="2FD8A2"/>
          </a:solidFill>
          <a:ln/>
        </p:spPr>
      </p:sp>
      <p:sp>
        <p:nvSpPr>
          <p:cNvPr id="23" name="Text 20"/>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24" name="Text 21"/>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40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27</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Common C → C++ Transition Mistakes</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5440680" cy="914400"/>
        </p:xfrm>
        <a:graphic>
          <a:graphicData uri="http://schemas.openxmlformats.org/drawingml/2006/table">
            <a:tbl>
              <a:tblPr/>
              <a:tblGrid>
                <a:gridCol w="2880360"/>
                <a:gridCol w="2560320"/>
              </a:tblGrid>
              <a:tr h="512064">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Mistake</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Fix</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printf/scanf out of habit</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Use cout / cin instead</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Forgetting std::</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Add using namespace std; or prefix std::</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 instead of ==</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Use == for comparison, not assignment</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5/2 expecting 2.5</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Cast one operand: static_cast&lt;double&gt;(5)/2</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i &lt;= size in a loop</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Use i &lt; size — last valid index is size-1</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Missing headers</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#include &lt;vector&gt;, &lt;string&gt;, &lt;algorithm&gt;, etc.</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Mixing cin &gt;&gt; and getline()</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Call cin.ignore() before getline()</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bl>
          </a:graphicData>
        </a:graphic>
      </p:graphicFrame>
      <p:graphicFrame>
        <p:nvGraphicFramePr>
          <p:cNvPr id="83" name="Table 1"/>
          <p:cNvGraphicFramePr>
            <a:graphicFrameLocks noGrp="1"/>
          </p:cNvGraphicFramePr>
          <p:nvPr>
            <p:extLst>
              <p:ext uri="{D42A27DB-BD31-4B8C-83A1-F6EECF244321}">
                <p14:modId xmlns:p14="http://schemas.microsoft.com/office/powerpoint/2010/main" val="1579011935"/>
              </p:ext>
            </p:extLst>
          </p:nvPr>
        </p:nvGraphicFramePr>
        <p:xfrm>
          <a:off x="6263640" y="1600200"/>
          <a:ext cx="5440680" cy="914400"/>
        </p:xfrm>
        <a:graphic>
          <a:graphicData uri="http://schemas.openxmlformats.org/drawingml/2006/table">
            <a:tbl>
              <a:tblPr/>
              <a:tblGrid>
                <a:gridCol w="2880360"/>
                <a:gridCol w="2560320"/>
              </a:tblGrid>
              <a:tr h="512064">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Mistake</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Fix</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Passing large vectors by value</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Pass by const vector&lt;int&gt;&amp; to avoid copies</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Confusing pointers &amp; references</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&amp; in a declaration = reference; * = pointer</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Assuming a declared vector has data</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vector&lt;int&gt; v(5); ⚠ reserve() ≠ filled</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char arrays instead of string</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Prefer std::string — safer, more flexible</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Manual new/delete by default</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Prefer vector — it manages memory for you</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Uninitialised variables</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Always give a starting value before reading it</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512064">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Forgetting a trailing ;</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00" dirty="0">
                          <a:solidFill>
                            <a:srgbClr val="12172B"/>
                          </a:solidFill>
                          <a:latin typeface="Calibri" pitchFamily="34" charset="0"/>
                          <a:ea typeface="Calibri" pitchFamily="34" charset="-122"/>
                          <a:cs typeface="Calibri" pitchFamily="34" charset="-120"/>
                        </a:rPr>
                        <a:t>Every statement ends in a semicolon</a:t>
                      </a:r>
                      <a:endParaRPr lang="en-US" sz="90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bl>
          </a:graphicData>
        </a:graphic>
      </p:graphicFrame>
      <p:sp>
        <p:nvSpPr>
          <p:cNvPr id="7" name="Text 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8" name="Text 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41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28</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How to Read a C++ Problem</a:t>
            </a:r>
            <a:endParaRPr lang="en-US" sz="2800" dirty="0"/>
          </a:p>
        </p:txBody>
      </p:sp>
      <p:sp>
        <p:nvSpPr>
          <p:cNvPr id="4" name="Shape 2"/>
          <p:cNvSpPr/>
          <p:nvPr/>
        </p:nvSpPr>
        <p:spPr>
          <a:xfrm>
            <a:off x="502920" y="1691640"/>
            <a:ext cx="292608" cy="292608"/>
          </a:xfrm>
          <a:prstGeom prst="ellipse">
            <a:avLst/>
          </a:prstGeom>
          <a:solidFill>
            <a:srgbClr val="0B132B"/>
          </a:solidFill>
          <a:ln/>
        </p:spPr>
      </p:sp>
      <p:sp>
        <p:nvSpPr>
          <p:cNvPr id="5" name="Text 3"/>
          <p:cNvSpPr/>
          <p:nvPr/>
        </p:nvSpPr>
        <p:spPr>
          <a:xfrm>
            <a:off x="502920" y="169164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914400" y="1700784"/>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Understand the input</a:t>
            </a:r>
            <a:endParaRPr lang="en-US" sz="1100" dirty="0"/>
          </a:p>
        </p:txBody>
      </p:sp>
      <p:sp>
        <p:nvSpPr>
          <p:cNvPr id="7" name="Shape 5"/>
          <p:cNvSpPr/>
          <p:nvPr/>
        </p:nvSpPr>
        <p:spPr>
          <a:xfrm>
            <a:off x="502920" y="2052828"/>
            <a:ext cx="292608" cy="292608"/>
          </a:xfrm>
          <a:prstGeom prst="ellipse">
            <a:avLst/>
          </a:prstGeom>
          <a:solidFill>
            <a:srgbClr val="0B132B"/>
          </a:solidFill>
          <a:ln/>
        </p:spPr>
      </p:sp>
      <p:sp>
        <p:nvSpPr>
          <p:cNvPr id="8" name="Text 6"/>
          <p:cNvSpPr/>
          <p:nvPr/>
        </p:nvSpPr>
        <p:spPr>
          <a:xfrm>
            <a:off x="502920" y="2052828"/>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914400" y="2061972"/>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Understand the required output</a:t>
            </a:r>
            <a:endParaRPr lang="en-US" sz="1100" dirty="0"/>
          </a:p>
        </p:txBody>
      </p:sp>
      <p:sp>
        <p:nvSpPr>
          <p:cNvPr id="10" name="Shape 8"/>
          <p:cNvSpPr/>
          <p:nvPr/>
        </p:nvSpPr>
        <p:spPr>
          <a:xfrm>
            <a:off x="502920" y="2414016"/>
            <a:ext cx="292608" cy="292608"/>
          </a:xfrm>
          <a:prstGeom prst="ellipse">
            <a:avLst/>
          </a:prstGeom>
          <a:solidFill>
            <a:srgbClr val="0B132B"/>
          </a:solidFill>
          <a:ln/>
        </p:spPr>
      </p:sp>
      <p:sp>
        <p:nvSpPr>
          <p:cNvPr id="11" name="Text 9"/>
          <p:cNvSpPr/>
          <p:nvPr/>
        </p:nvSpPr>
        <p:spPr>
          <a:xfrm>
            <a:off x="502920" y="2414016"/>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914400" y="2423160"/>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Identify constraints</a:t>
            </a:r>
            <a:endParaRPr lang="en-US" sz="1100" dirty="0"/>
          </a:p>
        </p:txBody>
      </p:sp>
      <p:sp>
        <p:nvSpPr>
          <p:cNvPr id="13" name="Shape 11"/>
          <p:cNvSpPr/>
          <p:nvPr/>
        </p:nvSpPr>
        <p:spPr>
          <a:xfrm>
            <a:off x="502920" y="2775204"/>
            <a:ext cx="292608" cy="292608"/>
          </a:xfrm>
          <a:prstGeom prst="ellipse">
            <a:avLst/>
          </a:prstGeom>
          <a:solidFill>
            <a:srgbClr val="0B132B"/>
          </a:solidFill>
          <a:ln/>
        </p:spPr>
      </p:sp>
      <p:sp>
        <p:nvSpPr>
          <p:cNvPr id="14" name="Text 12"/>
          <p:cNvSpPr/>
          <p:nvPr/>
        </p:nvSpPr>
        <p:spPr>
          <a:xfrm>
            <a:off x="502920" y="2775204"/>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914400" y="2784348"/>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Work a small example by hand</a:t>
            </a:r>
            <a:endParaRPr lang="en-US" sz="1100" dirty="0"/>
          </a:p>
        </p:txBody>
      </p:sp>
      <p:sp>
        <p:nvSpPr>
          <p:cNvPr id="16" name="Shape 14"/>
          <p:cNvSpPr/>
          <p:nvPr/>
        </p:nvSpPr>
        <p:spPr>
          <a:xfrm>
            <a:off x="502920" y="3136392"/>
            <a:ext cx="292608" cy="292608"/>
          </a:xfrm>
          <a:prstGeom prst="ellipse">
            <a:avLst/>
          </a:prstGeom>
          <a:solidFill>
            <a:srgbClr val="0B132B"/>
          </a:solidFill>
          <a:ln/>
        </p:spPr>
      </p:sp>
      <p:sp>
        <p:nvSpPr>
          <p:cNvPr id="17" name="Text 15"/>
          <p:cNvSpPr/>
          <p:nvPr/>
        </p:nvSpPr>
        <p:spPr>
          <a:xfrm>
            <a:off x="502920" y="313639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914400" y="3145536"/>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Choose variables / containers</a:t>
            </a:r>
            <a:endParaRPr lang="en-US" sz="1100" dirty="0"/>
          </a:p>
        </p:txBody>
      </p:sp>
      <p:sp>
        <p:nvSpPr>
          <p:cNvPr id="19" name="Shape 17"/>
          <p:cNvSpPr/>
          <p:nvPr/>
        </p:nvSpPr>
        <p:spPr>
          <a:xfrm>
            <a:off x="502920" y="3497580"/>
            <a:ext cx="292608" cy="292608"/>
          </a:xfrm>
          <a:prstGeom prst="ellipse">
            <a:avLst/>
          </a:prstGeom>
          <a:solidFill>
            <a:srgbClr val="0B132B"/>
          </a:solidFill>
          <a:ln/>
        </p:spPr>
      </p:sp>
      <p:sp>
        <p:nvSpPr>
          <p:cNvPr id="20" name="Text 18"/>
          <p:cNvSpPr/>
          <p:nvPr/>
        </p:nvSpPr>
        <p:spPr>
          <a:xfrm>
            <a:off x="502920" y="349758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914400" y="3506724"/>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Write pseudocode</a:t>
            </a:r>
            <a:endParaRPr lang="en-US" sz="1100" dirty="0"/>
          </a:p>
        </p:txBody>
      </p:sp>
      <p:sp>
        <p:nvSpPr>
          <p:cNvPr id="22" name="Shape 20"/>
          <p:cNvSpPr/>
          <p:nvPr/>
        </p:nvSpPr>
        <p:spPr>
          <a:xfrm>
            <a:off x="502920" y="3858768"/>
            <a:ext cx="292608" cy="292608"/>
          </a:xfrm>
          <a:prstGeom prst="ellipse">
            <a:avLst/>
          </a:prstGeom>
          <a:solidFill>
            <a:srgbClr val="0B132B"/>
          </a:solidFill>
          <a:ln/>
        </p:spPr>
      </p:sp>
      <p:sp>
        <p:nvSpPr>
          <p:cNvPr id="23" name="Text 21"/>
          <p:cNvSpPr/>
          <p:nvPr/>
        </p:nvSpPr>
        <p:spPr>
          <a:xfrm>
            <a:off x="502920" y="3858768"/>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4" name="Text 22"/>
          <p:cNvSpPr/>
          <p:nvPr/>
        </p:nvSpPr>
        <p:spPr>
          <a:xfrm>
            <a:off x="914400" y="3867912"/>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Convert pseudocode to C++</a:t>
            </a:r>
            <a:endParaRPr lang="en-US" sz="1100" dirty="0"/>
          </a:p>
        </p:txBody>
      </p:sp>
      <p:sp>
        <p:nvSpPr>
          <p:cNvPr id="25" name="Shape 23"/>
          <p:cNvSpPr/>
          <p:nvPr/>
        </p:nvSpPr>
        <p:spPr>
          <a:xfrm>
            <a:off x="502920" y="4219956"/>
            <a:ext cx="292608" cy="292608"/>
          </a:xfrm>
          <a:prstGeom prst="ellipse">
            <a:avLst/>
          </a:prstGeom>
          <a:solidFill>
            <a:srgbClr val="0B132B"/>
          </a:solidFill>
          <a:ln/>
        </p:spPr>
      </p:sp>
      <p:sp>
        <p:nvSpPr>
          <p:cNvPr id="26" name="Text 24"/>
          <p:cNvSpPr/>
          <p:nvPr/>
        </p:nvSpPr>
        <p:spPr>
          <a:xfrm>
            <a:off x="502920" y="4219956"/>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7" name="Text 25"/>
          <p:cNvSpPr/>
          <p:nvPr/>
        </p:nvSpPr>
        <p:spPr>
          <a:xfrm>
            <a:off x="914400" y="4229100"/>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Test edge cases</a:t>
            </a:r>
            <a:endParaRPr lang="en-US" sz="1100" dirty="0"/>
          </a:p>
        </p:txBody>
      </p:sp>
      <p:sp>
        <p:nvSpPr>
          <p:cNvPr id="28" name="Shape 26"/>
          <p:cNvSpPr/>
          <p:nvPr/>
        </p:nvSpPr>
        <p:spPr>
          <a:xfrm>
            <a:off x="502920" y="4581144"/>
            <a:ext cx="292608" cy="292608"/>
          </a:xfrm>
          <a:prstGeom prst="ellipse">
            <a:avLst/>
          </a:prstGeom>
          <a:solidFill>
            <a:srgbClr val="0B132B"/>
          </a:solidFill>
          <a:ln/>
        </p:spPr>
      </p:sp>
      <p:sp>
        <p:nvSpPr>
          <p:cNvPr id="29" name="Text 27"/>
          <p:cNvSpPr/>
          <p:nvPr/>
        </p:nvSpPr>
        <p:spPr>
          <a:xfrm>
            <a:off x="502920" y="4581144"/>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0" name="Text 28"/>
          <p:cNvSpPr/>
          <p:nvPr/>
        </p:nvSpPr>
        <p:spPr>
          <a:xfrm>
            <a:off x="914400" y="4590288"/>
            <a:ext cx="5120640" cy="292608"/>
          </a:xfrm>
          <a:prstGeom prst="rect">
            <a:avLst/>
          </a:prstGeom>
          <a:noFill/>
          <a:ln/>
        </p:spPr>
        <p:txBody>
          <a:bodyPr wrap="square" rtlCol="0" anchor="ctr"/>
          <a:lstStyle/>
          <a:p>
            <a:pPr indent="0" marL="0">
              <a:buNone/>
            </a:pPr>
            <a:r>
              <a:rPr lang="en-US" sz="1100" dirty="0">
                <a:solidFill>
                  <a:srgbClr val="12172B"/>
                </a:solidFill>
                <a:latin typeface="Calibri" pitchFamily="34" charset="0"/>
                <a:ea typeface="Calibri" pitchFamily="34" charset="-122"/>
                <a:cs typeface="Calibri" pitchFamily="34" charset="-120"/>
              </a:rPr>
              <a:t>Analyse time &amp; space complexity</a:t>
            </a:r>
            <a:endParaRPr lang="en-US" sz="1100" dirty="0"/>
          </a:p>
        </p:txBody>
      </p:sp>
      <p:sp>
        <p:nvSpPr>
          <p:cNvPr id="31" name="Shape 29"/>
          <p:cNvSpPr/>
          <p:nvPr/>
        </p:nvSpPr>
        <p:spPr>
          <a:xfrm>
            <a:off x="6903720" y="1600200"/>
            <a:ext cx="4800600" cy="2834640"/>
          </a:xfrm>
          <a:prstGeom prst="roundRect">
            <a:avLst>
              <a:gd name="adj" fmla="val 2903"/>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32" name="Shape 30"/>
          <p:cNvSpPr/>
          <p:nvPr/>
        </p:nvSpPr>
        <p:spPr>
          <a:xfrm>
            <a:off x="6903720" y="1600200"/>
            <a:ext cx="4800600" cy="292608"/>
          </a:xfrm>
          <a:prstGeom prst="rect">
            <a:avLst/>
          </a:prstGeom>
          <a:solidFill>
            <a:srgbClr val="141B33"/>
          </a:solidFill>
          <a:ln/>
        </p:spPr>
      </p:sp>
      <p:sp>
        <p:nvSpPr>
          <p:cNvPr id="33" name="Shape 31"/>
          <p:cNvSpPr/>
          <p:nvPr/>
        </p:nvSpPr>
        <p:spPr>
          <a:xfrm>
            <a:off x="7050024" y="1691640"/>
            <a:ext cx="109728" cy="109728"/>
          </a:xfrm>
          <a:prstGeom prst="ellipse">
            <a:avLst/>
          </a:prstGeom>
          <a:solidFill>
            <a:srgbClr val="FF6B6B"/>
          </a:solidFill>
          <a:ln/>
        </p:spPr>
      </p:sp>
      <p:sp>
        <p:nvSpPr>
          <p:cNvPr id="34" name="Shape 32"/>
          <p:cNvSpPr/>
          <p:nvPr/>
        </p:nvSpPr>
        <p:spPr>
          <a:xfrm>
            <a:off x="7223760" y="1691640"/>
            <a:ext cx="109728" cy="109728"/>
          </a:xfrm>
          <a:prstGeom prst="ellipse">
            <a:avLst/>
          </a:prstGeom>
          <a:solidFill>
            <a:srgbClr val="FFD166"/>
          </a:solidFill>
          <a:ln/>
        </p:spPr>
      </p:sp>
      <p:sp>
        <p:nvSpPr>
          <p:cNvPr id="35" name="Shape 33"/>
          <p:cNvSpPr/>
          <p:nvPr/>
        </p:nvSpPr>
        <p:spPr>
          <a:xfrm>
            <a:off x="7397496" y="1691640"/>
            <a:ext cx="109728" cy="109728"/>
          </a:xfrm>
          <a:prstGeom prst="ellipse">
            <a:avLst/>
          </a:prstGeom>
          <a:solidFill>
            <a:srgbClr val="2FD8A2"/>
          </a:solidFill>
          <a:ln/>
        </p:spPr>
      </p:sp>
      <p:sp>
        <p:nvSpPr>
          <p:cNvPr id="36" name="Text 34"/>
          <p:cNvSpPr/>
          <p:nvPr/>
        </p:nvSpPr>
        <p:spPr>
          <a:xfrm>
            <a:off x="6903720" y="1600200"/>
            <a:ext cx="461772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worked example</a:t>
            </a:r>
            <a:endParaRPr lang="en-US" sz="1000" dirty="0"/>
          </a:p>
        </p:txBody>
      </p:sp>
      <p:sp>
        <p:nvSpPr>
          <p:cNvPr id="37" name="Text 35"/>
          <p:cNvSpPr/>
          <p:nvPr/>
        </p:nvSpPr>
        <p:spPr>
          <a:xfrm>
            <a:off x="7123176" y="2011680"/>
            <a:ext cx="4361688" cy="2304288"/>
          </a:xfrm>
          <a:prstGeom prst="rect">
            <a:avLst/>
          </a:prstGeom>
          <a:noFill/>
          <a:ln/>
        </p:spPr>
        <p:txBody>
          <a:bodyPr wrap="square" lIns="0" tIns="0" rIns="0" bIns="0" rtlCol="0" anchor="t"/>
          <a:lstStyle/>
          <a:p>
            <a:pPr algn="l" indent="0" marL="0">
              <a:lnSpc>
                <a:spcPct val="122000"/>
              </a:lnSpc>
              <a:buNone/>
            </a:pPr>
            <a:r>
              <a:rPr lang="en-US" sz="1150" i="1" dirty="0">
                <a:solidFill>
                  <a:srgbClr val="7FA36B"/>
                </a:solidFill>
                <a:latin typeface="Courier New" pitchFamily="34" charset="0"/>
                <a:ea typeface="Courier New" pitchFamily="34" charset="-122"/>
                <a:cs typeface="Courier New" pitchFamily="34" charset="-120"/>
              </a:rPr>
              <a:t>// Given N integers, print the largest.</a:t>
            </a:r>
            <a:endParaRPr lang="en-US" sz="1150" dirty="0"/>
          </a:p>
          <a:p>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&gt;&gt;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largest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INT_MIN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b="1" dirty="0">
                <a:solidFill>
                  <a:srgbClr val="7FB2FF"/>
                </a:solidFill>
                <a:latin typeface="Courier New" pitchFamily="34" charset="0"/>
                <a:ea typeface="Courier New" pitchFamily="34" charset="-122"/>
                <a:cs typeface="Courier New" pitchFamily="34" charset="-120"/>
              </a:rPr>
              <a:t>for</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i</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&gt;&gt;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&gt;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largest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largest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a:p>
            <a:pPr algn="l" indent="0" marL="0">
              <a:lnSpc>
                <a:spcPct val="122000"/>
              </a:lnSpc>
              <a:buNone/>
            </a:pPr>
            <a:r>
              <a:rPr lang="en-US" sz="11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largest</a:t>
            </a:r>
            <a:pPr algn="l" indent="0" marL="0">
              <a:lnSpc>
                <a:spcPct val="122000"/>
              </a:lnSpc>
              <a:buNone/>
            </a:pPr>
            <a:r>
              <a:rPr lang="en-US" sz="1150" dirty="0">
                <a:solidFill>
                  <a:srgbClr val="E7ECF5"/>
                </a:solidFill>
                <a:latin typeface="Courier New" pitchFamily="34" charset="0"/>
                <a:ea typeface="Courier New" pitchFamily="34" charset="-122"/>
                <a:cs typeface="Courier New" pitchFamily="34" charset="-120"/>
              </a:rPr>
              <a:t>;</a:t>
            </a:r>
            <a:endParaRPr lang="en-US" sz="1150" dirty="0"/>
          </a:p>
        </p:txBody>
      </p:sp>
      <p:sp>
        <p:nvSpPr>
          <p:cNvPr id="38" name="Shape 36"/>
          <p:cNvSpPr/>
          <p:nvPr/>
        </p:nvSpPr>
        <p:spPr>
          <a:xfrm>
            <a:off x="6903720" y="4572000"/>
            <a:ext cx="4800600" cy="1600200"/>
          </a:xfrm>
          <a:prstGeom prst="roundRect">
            <a:avLst>
              <a:gd name="adj" fmla="val 4571"/>
            </a:avLst>
          </a:prstGeom>
          <a:solidFill>
            <a:srgbClr val="EAFBF4"/>
          </a:solidFill>
          <a:ln w="12700">
            <a:solidFill>
              <a:srgbClr val="16A67C"/>
            </a:solidFill>
            <a:prstDash val="solid"/>
          </a:ln>
        </p:spPr>
      </p:sp>
      <p:sp>
        <p:nvSpPr>
          <p:cNvPr id="39" name="Text 37"/>
          <p:cNvSpPr/>
          <p:nvPr/>
        </p:nvSpPr>
        <p:spPr>
          <a:xfrm>
            <a:off x="7086600" y="4654296"/>
            <a:ext cx="443484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Dry run: 3, 7, 2, 9, 4</a:t>
            </a:r>
            <a:endParaRPr lang="en-US" sz="1050" dirty="0"/>
          </a:p>
        </p:txBody>
      </p:sp>
      <p:sp>
        <p:nvSpPr>
          <p:cNvPr id="40" name="Text 38"/>
          <p:cNvSpPr/>
          <p:nvPr/>
        </p:nvSpPr>
        <p:spPr>
          <a:xfrm>
            <a:off x="7086600" y="4919472"/>
            <a:ext cx="4434840" cy="116128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largest starts at INT_MIN, then updates to 3, 7, then 9 (2 and 4 don't beat it). Output: 9. Complexity: O(n) time, O(1) extra space.</a:t>
            </a:r>
            <a:endParaRPr lang="en-US" sz="1100" dirty="0"/>
          </a:p>
        </p:txBody>
      </p:sp>
      <p:sp>
        <p:nvSpPr>
          <p:cNvPr id="42" name="Text 39"/>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43" name="Text 40"/>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42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30</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Easy LeetCode Practice — Verified Set</a:t>
            </a:r>
            <a:endParaRPr lang="en-US" sz="2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201400" cy="914400"/>
        </p:xfrm>
        <a:graphic>
          <a:graphicData uri="http://schemas.openxmlformats.org/drawingml/2006/table">
            <a:tbl>
              <a:tblPr/>
              <a:tblGrid>
                <a:gridCol w="594360"/>
                <a:gridCol w="4343400"/>
                <a:gridCol w="2011680"/>
                <a:gridCol w="4251960"/>
              </a:tblGrid>
              <a:tr h="292608">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Problem</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Concept</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Hint</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2235</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Add Two Integers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Arithmetic</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Just return num1 + num2</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2469</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Convert the Temperature</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Arithmetic</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Apply both given formulas directly</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412</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Fizz Buzz</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Loops, modulus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Check %15, then %3, then %5</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1342</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Number of Steps to Reduce a Number to Zero</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While loop</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Halve if even, subtract 1 if odd</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1480</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Running Sum of 1d Array</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Prefix sum</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Add each element to a running total</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1920</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Build Array from Permutation</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Arrays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ans[i] = nums[nums[i]]</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1672</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Richest Customer Wealth</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2D arrays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Sum each row, track the maximum</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2011</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Final Value of Variable After Performing Operations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Strings, loops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Check for '+' vs '-' in each operation</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2114</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Maximum Number of Words Found in Sentences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Strings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Count spaces, add 1</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344</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Reverse String</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Two-pointer</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Swap from both ends toward the middle</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125</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Valid Palindrome</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Two-pointer, strings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Skip non-alphanumeric characters</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292608">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1</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Two Sum</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Arrays → hashing</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30" dirty="0">
                          <a:solidFill>
                            <a:srgbClr val="12172B"/>
                          </a:solidFill>
                          <a:latin typeface="Calibri" pitchFamily="34" charset="0"/>
                          <a:ea typeface="Calibri" pitchFamily="34" charset="-122"/>
                          <a:cs typeface="Calibri" pitchFamily="34" charset="-120"/>
                        </a:rPr>
                        <a:t>See the spotlight below</a:t>
                      </a:r>
                      <a:endParaRPr lang="en-US" sz="93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bl>
          </a:graphicData>
        </a:graphic>
      </p:graphicFrame>
      <p:sp>
        <p:nvSpPr>
          <p:cNvPr id="5" name="Shape 2"/>
          <p:cNvSpPr/>
          <p:nvPr/>
        </p:nvSpPr>
        <p:spPr>
          <a:xfrm>
            <a:off x="502920" y="5394960"/>
            <a:ext cx="11201400" cy="914400"/>
          </a:xfrm>
          <a:prstGeom prst="roundRect">
            <a:avLst>
              <a:gd name="adj" fmla="val 8000"/>
            </a:avLst>
          </a:prstGeom>
          <a:solidFill>
            <a:srgbClr val="FFF6E4"/>
          </a:solidFill>
          <a:ln w="12700">
            <a:solidFill>
              <a:srgbClr val="E08A00"/>
            </a:solidFill>
            <a:prstDash val="solid"/>
          </a:ln>
        </p:spPr>
      </p:sp>
      <p:sp>
        <p:nvSpPr>
          <p:cNvPr id="6" name="Text 3"/>
          <p:cNvSpPr/>
          <p:nvPr/>
        </p:nvSpPr>
        <p:spPr>
          <a:xfrm>
            <a:off x="685800" y="5477256"/>
            <a:ext cx="10835640" cy="237744"/>
          </a:xfrm>
          <a:prstGeom prst="rect">
            <a:avLst/>
          </a:prstGeom>
          <a:noFill/>
          <a:ln/>
        </p:spPr>
        <p:txBody>
          <a:bodyPr wrap="square" rtlCol="0" anchor="ctr"/>
          <a:lstStyle/>
          <a:p>
            <a:pPr indent="0" marL="0">
              <a:buNone/>
            </a:pPr>
            <a:r>
              <a:rPr lang="en-US" sz="1050" b="1" spc="100" kern="0" dirty="0">
                <a:solidFill>
                  <a:srgbClr val="E08A00"/>
                </a:solidFill>
                <a:latin typeface="Calibri" pitchFamily="34" charset="0"/>
                <a:ea typeface="Calibri" pitchFamily="34" charset="-122"/>
                <a:cs typeface="Calibri" pitchFamily="34" charset="-120"/>
              </a:rPr>
              <a:t>Spotlight: Two Sum (LeetCode 1)</a:t>
            </a:r>
            <a:endParaRPr lang="en-US" sz="1050" dirty="0"/>
          </a:p>
        </p:txBody>
      </p:sp>
      <p:sp>
        <p:nvSpPr>
          <p:cNvPr id="7" name="Text 4"/>
          <p:cNvSpPr/>
          <p:nvPr/>
        </p:nvSpPr>
        <p:spPr>
          <a:xfrm>
            <a:off x="685800" y="5742432"/>
            <a:ext cx="10835640" cy="47548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Try the brute-force O(n²) approach first — two nested loops checking every pair. Once that works, come back with an unordered_map for O(n): store each seen value with its index, then check for the complement as you go.</a:t>
            </a:r>
            <a:endParaRPr lang="en-US" sz="1100" dirty="0"/>
          </a:p>
        </p:txBody>
      </p:sp>
      <p:sp>
        <p:nvSpPr>
          <p:cNvPr id="9" name="Text 5"/>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10" name="Text 6"/>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43</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31</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Mini Self-Assessment</a:t>
            </a:r>
            <a:endParaRPr lang="en-US" sz="2800" dirty="0"/>
          </a:p>
        </p:txBody>
      </p:sp>
      <p:sp>
        <p:nvSpPr>
          <p:cNvPr id="4" name="Text 2"/>
          <p:cNvSpPr/>
          <p:nvPr/>
        </p:nvSpPr>
        <p:spPr>
          <a:xfrm>
            <a:off x="502920" y="1508760"/>
            <a:ext cx="5760720" cy="274320"/>
          </a:xfrm>
          <a:prstGeom prst="rect">
            <a:avLst/>
          </a:prstGeom>
          <a:noFill/>
          <a:ln/>
        </p:spPr>
        <p:txBody>
          <a:bodyPr wrap="square" rtlCol="0" anchor="ctr"/>
          <a:lstStyle/>
          <a:p>
            <a:pPr indent="0" marL="0">
              <a:buNone/>
            </a:pPr>
            <a:r>
              <a:rPr lang="en-US" sz="1200" b="1" dirty="0">
                <a:solidFill>
                  <a:srgbClr val="16A67C"/>
                </a:solidFill>
                <a:latin typeface="Calibri" pitchFamily="34" charset="0"/>
                <a:ea typeface="Calibri" pitchFamily="34" charset="-122"/>
                <a:cs typeface="Calibri" pitchFamily="34" charset="-120"/>
              </a:rPr>
              <a:t>PART A — Predict the output</a:t>
            </a:r>
            <a:endParaRPr lang="en-US" sz="1200" dirty="0"/>
          </a:p>
        </p:txBody>
      </p:sp>
      <p:sp>
        <p:nvSpPr>
          <p:cNvPr id="5" name="Shape 3"/>
          <p:cNvSpPr/>
          <p:nvPr/>
        </p:nvSpPr>
        <p:spPr>
          <a:xfrm>
            <a:off x="502920" y="1810512"/>
            <a:ext cx="5760720" cy="1280160"/>
          </a:xfrm>
          <a:prstGeom prst="roundRect">
            <a:avLst>
              <a:gd name="adj" fmla="val 6429"/>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6" name="Shape 4"/>
          <p:cNvSpPr/>
          <p:nvPr/>
        </p:nvSpPr>
        <p:spPr>
          <a:xfrm>
            <a:off x="502920" y="1810512"/>
            <a:ext cx="5760720" cy="292608"/>
          </a:xfrm>
          <a:prstGeom prst="rect">
            <a:avLst/>
          </a:prstGeom>
          <a:solidFill>
            <a:srgbClr val="141B33"/>
          </a:solidFill>
          <a:ln/>
        </p:spPr>
      </p:sp>
      <p:sp>
        <p:nvSpPr>
          <p:cNvPr id="7" name="Shape 5"/>
          <p:cNvSpPr/>
          <p:nvPr/>
        </p:nvSpPr>
        <p:spPr>
          <a:xfrm>
            <a:off x="649224" y="1901952"/>
            <a:ext cx="109728" cy="109728"/>
          </a:xfrm>
          <a:prstGeom prst="ellipse">
            <a:avLst/>
          </a:prstGeom>
          <a:solidFill>
            <a:srgbClr val="FF6B6B"/>
          </a:solidFill>
          <a:ln/>
        </p:spPr>
      </p:sp>
      <p:sp>
        <p:nvSpPr>
          <p:cNvPr id="8" name="Shape 6"/>
          <p:cNvSpPr/>
          <p:nvPr/>
        </p:nvSpPr>
        <p:spPr>
          <a:xfrm>
            <a:off x="822960" y="1901952"/>
            <a:ext cx="109728" cy="109728"/>
          </a:xfrm>
          <a:prstGeom prst="ellipse">
            <a:avLst/>
          </a:prstGeom>
          <a:solidFill>
            <a:srgbClr val="FFD166"/>
          </a:solidFill>
          <a:ln/>
        </p:spPr>
      </p:sp>
      <p:sp>
        <p:nvSpPr>
          <p:cNvPr id="9" name="Shape 7"/>
          <p:cNvSpPr/>
          <p:nvPr/>
        </p:nvSpPr>
        <p:spPr>
          <a:xfrm>
            <a:off x="996696" y="1901952"/>
            <a:ext cx="109728" cy="109728"/>
          </a:xfrm>
          <a:prstGeom prst="ellipse">
            <a:avLst/>
          </a:prstGeom>
          <a:solidFill>
            <a:srgbClr val="2FD8A2"/>
          </a:solidFill>
          <a:ln/>
        </p:spPr>
      </p:sp>
      <p:sp>
        <p:nvSpPr>
          <p:cNvPr id="10" name="Text 8"/>
          <p:cNvSpPr/>
          <p:nvPr/>
        </p:nvSpPr>
        <p:spPr>
          <a:xfrm>
            <a:off x="722376" y="2221992"/>
            <a:ext cx="5321808" cy="74980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7</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2</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b</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1" name="Text 9"/>
          <p:cNvSpPr/>
          <p:nvPr/>
        </p:nvSpPr>
        <p:spPr>
          <a:xfrm>
            <a:off x="502920" y="3246120"/>
            <a:ext cx="5760720" cy="274320"/>
          </a:xfrm>
          <a:prstGeom prst="rect">
            <a:avLst/>
          </a:prstGeom>
          <a:noFill/>
          <a:ln/>
        </p:spPr>
        <p:txBody>
          <a:bodyPr wrap="square" rtlCol="0" anchor="ctr"/>
          <a:lstStyle/>
          <a:p>
            <a:pPr indent="0" marL="0">
              <a:buNone/>
            </a:pPr>
            <a:r>
              <a:rPr lang="en-US" sz="1200" b="1" dirty="0">
                <a:solidFill>
                  <a:srgbClr val="16A67C"/>
                </a:solidFill>
                <a:latin typeface="Calibri" pitchFamily="34" charset="0"/>
                <a:ea typeface="Calibri" pitchFamily="34" charset="-122"/>
                <a:cs typeface="Calibri" pitchFamily="34" charset="-120"/>
              </a:rPr>
              <a:t>PART B — Find the error</a:t>
            </a:r>
            <a:endParaRPr lang="en-US" sz="1200" dirty="0"/>
          </a:p>
        </p:txBody>
      </p:sp>
      <p:sp>
        <p:nvSpPr>
          <p:cNvPr id="12" name="Shape 10"/>
          <p:cNvSpPr/>
          <p:nvPr/>
        </p:nvSpPr>
        <p:spPr>
          <a:xfrm>
            <a:off x="502920" y="3547872"/>
            <a:ext cx="5760720" cy="1280160"/>
          </a:xfrm>
          <a:prstGeom prst="roundRect">
            <a:avLst>
              <a:gd name="adj" fmla="val 6429"/>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13" name="Shape 11"/>
          <p:cNvSpPr/>
          <p:nvPr/>
        </p:nvSpPr>
        <p:spPr>
          <a:xfrm>
            <a:off x="502920" y="3547872"/>
            <a:ext cx="5760720" cy="292608"/>
          </a:xfrm>
          <a:prstGeom prst="rect">
            <a:avLst/>
          </a:prstGeom>
          <a:solidFill>
            <a:srgbClr val="141B33"/>
          </a:solidFill>
          <a:ln/>
        </p:spPr>
      </p:sp>
      <p:sp>
        <p:nvSpPr>
          <p:cNvPr id="14" name="Shape 12"/>
          <p:cNvSpPr/>
          <p:nvPr/>
        </p:nvSpPr>
        <p:spPr>
          <a:xfrm>
            <a:off x="649224" y="3639312"/>
            <a:ext cx="109728" cy="109728"/>
          </a:xfrm>
          <a:prstGeom prst="ellipse">
            <a:avLst/>
          </a:prstGeom>
          <a:solidFill>
            <a:srgbClr val="FF6B6B"/>
          </a:solidFill>
          <a:ln/>
        </p:spPr>
      </p:sp>
      <p:sp>
        <p:nvSpPr>
          <p:cNvPr id="15" name="Shape 13"/>
          <p:cNvSpPr/>
          <p:nvPr/>
        </p:nvSpPr>
        <p:spPr>
          <a:xfrm>
            <a:off x="822960" y="3639312"/>
            <a:ext cx="109728" cy="109728"/>
          </a:xfrm>
          <a:prstGeom prst="ellipse">
            <a:avLst/>
          </a:prstGeom>
          <a:solidFill>
            <a:srgbClr val="FFD166"/>
          </a:solidFill>
          <a:ln/>
        </p:spPr>
      </p:sp>
      <p:sp>
        <p:nvSpPr>
          <p:cNvPr id="16" name="Shape 14"/>
          <p:cNvSpPr/>
          <p:nvPr/>
        </p:nvSpPr>
        <p:spPr>
          <a:xfrm>
            <a:off x="996696" y="3639312"/>
            <a:ext cx="109728" cy="109728"/>
          </a:xfrm>
          <a:prstGeom prst="ellipse">
            <a:avLst/>
          </a:prstGeom>
          <a:solidFill>
            <a:srgbClr val="2FD8A2"/>
          </a:solidFill>
          <a:ln/>
        </p:spPr>
      </p:sp>
      <p:sp>
        <p:nvSpPr>
          <p:cNvPr id="17" name="Text 15"/>
          <p:cNvSpPr/>
          <p:nvPr/>
        </p:nvSpPr>
        <p:spPr>
          <a:xfrm>
            <a:off x="722376" y="3959352"/>
            <a:ext cx="5321808" cy="749808"/>
          </a:xfrm>
          <a:prstGeom prst="rect">
            <a:avLst/>
          </a:prstGeom>
          <a:noFill/>
          <a:ln/>
        </p:spPr>
        <p:txBody>
          <a:bodyPr wrap="square" lIns="0" tIns="0" rIns="0" bIns="0" rtlCol="0" anchor="t"/>
          <a:lstStyle/>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if</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x</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10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cout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&lt;&lt;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3B778"/>
                </a:solidFill>
                <a:latin typeface="Courier New" pitchFamily="34" charset="0"/>
                <a:ea typeface="Courier New" pitchFamily="34" charset="-122"/>
                <a:cs typeface="Courier New" pitchFamily="34" charset="-120"/>
              </a:rPr>
              <a:t>"ten"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8" name="Shape 16"/>
          <p:cNvSpPr/>
          <p:nvPr/>
        </p:nvSpPr>
        <p:spPr>
          <a:xfrm>
            <a:off x="502920" y="4983480"/>
            <a:ext cx="5760720" cy="1097280"/>
          </a:xfrm>
          <a:prstGeom prst="roundRect">
            <a:avLst>
              <a:gd name="adj" fmla="val 6667"/>
            </a:avLst>
          </a:prstGeom>
          <a:solidFill>
            <a:srgbClr val="EAFBF4"/>
          </a:solidFill>
          <a:ln w="12700">
            <a:solidFill>
              <a:srgbClr val="16A67C"/>
            </a:solidFill>
            <a:prstDash val="solid"/>
          </a:ln>
        </p:spPr>
      </p:sp>
      <p:sp>
        <p:nvSpPr>
          <p:cNvPr id="19" name="Text 17"/>
          <p:cNvSpPr/>
          <p:nvPr/>
        </p:nvSpPr>
        <p:spPr>
          <a:xfrm>
            <a:off x="685800" y="5065776"/>
            <a:ext cx="539496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PART D — Explain in words (sample)</a:t>
            </a:r>
            <a:endParaRPr lang="en-US" sz="1050" dirty="0"/>
          </a:p>
        </p:txBody>
      </p:sp>
      <p:sp>
        <p:nvSpPr>
          <p:cNvPr id="20" name="Text 18"/>
          <p:cNvSpPr/>
          <p:nvPr/>
        </p:nvSpPr>
        <p:spPr>
          <a:xfrm>
            <a:off x="685800" y="5330952"/>
            <a:ext cx="5394960" cy="65836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Why do array indices start at zero? Why is const vector&lt;int&gt;&amp; useful in a function signature?</a:t>
            </a:r>
            <a:endParaRPr lang="en-US" sz="1100" dirty="0"/>
          </a:p>
        </p:txBody>
      </p:sp>
      <p:sp>
        <p:nvSpPr>
          <p:cNvPr id="21" name="Text 19"/>
          <p:cNvSpPr/>
          <p:nvPr/>
        </p:nvSpPr>
        <p:spPr>
          <a:xfrm>
            <a:off x="6903720" y="1508760"/>
            <a:ext cx="4800600" cy="274320"/>
          </a:xfrm>
          <a:prstGeom prst="rect">
            <a:avLst/>
          </a:prstGeom>
          <a:noFill/>
          <a:ln/>
        </p:spPr>
        <p:txBody>
          <a:bodyPr wrap="square" rtlCol="0" anchor="ctr"/>
          <a:lstStyle/>
          <a:p>
            <a:pPr indent="0" marL="0">
              <a:buNone/>
            </a:pPr>
            <a:r>
              <a:rPr lang="en-US" sz="1200" b="1" spc="100" kern="0" dirty="0">
                <a:solidFill>
                  <a:srgbClr val="E08A00"/>
                </a:solidFill>
                <a:latin typeface="Calibri" pitchFamily="34" charset="0"/>
                <a:ea typeface="Calibri" pitchFamily="34" charset="-122"/>
                <a:cs typeface="Calibri" pitchFamily="34" charset="-120"/>
              </a:rPr>
              <a:t>ANSWER KEY</a:t>
            </a:r>
            <a:endParaRPr lang="en-US" sz="1200" dirty="0"/>
          </a:p>
        </p:txBody>
      </p:sp>
      <p:sp>
        <p:nvSpPr>
          <p:cNvPr id="22" name="Shape 20"/>
          <p:cNvSpPr/>
          <p:nvPr/>
        </p:nvSpPr>
        <p:spPr>
          <a:xfrm>
            <a:off x="6903720" y="1874520"/>
            <a:ext cx="146304" cy="146304"/>
          </a:xfrm>
          <a:prstGeom prst="ellipse">
            <a:avLst/>
          </a:prstGeom>
          <a:solidFill>
            <a:srgbClr val="2FD8A2"/>
          </a:solidFill>
          <a:ln/>
        </p:spPr>
      </p:sp>
      <p:sp>
        <p:nvSpPr>
          <p:cNvPr id="23" name="Text 21"/>
          <p:cNvSpPr/>
          <p:nvPr/>
        </p:nvSpPr>
        <p:spPr>
          <a:xfrm>
            <a:off x="7196328" y="1773936"/>
            <a:ext cx="4507992" cy="274320"/>
          </a:xfrm>
          <a:prstGeom prst="rect">
            <a:avLst/>
          </a:prstGeom>
          <a:noFill/>
          <a:ln/>
        </p:spPr>
        <p:txBody>
          <a:bodyPr wrap="square" rtlCol="0" anchor="ctr"/>
          <a:lstStyle/>
          <a:p>
            <a:pPr indent="0" marL="0">
              <a:buNone/>
            </a:pPr>
            <a:r>
              <a:rPr lang="en-US" sz="1150" b="1" dirty="0">
                <a:solidFill>
                  <a:srgbClr val="12172B"/>
                </a:solidFill>
                <a:latin typeface="Calibri" pitchFamily="34" charset="0"/>
                <a:ea typeface="Calibri" pitchFamily="34" charset="-122"/>
                <a:cs typeface="Calibri" pitchFamily="34" charset="-120"/>
              </a:rPr>
              <a:t>Part A</a:t>
            </a:r>
            <a:endParaRPr lang="en-US" sz="1150" dirty="0"/>
          </a:p>
        </p:txBody>
      </p:sp>
      <p:sp>
        <p:nvSpPr>
          <p:cNvPr id="24" name="Text 22"/>
          <p:cNvSpPr/>
          <p:nvPr/>
        </p:nvSpPr>
        <p:spPr>
          <a:xfrm>
            <a:off x="7196328" y="2029968"/>
            <a:ext cx="4507992" cy="457200"/>
          </a:xfrm>
          <a:prstGeom prst="rect">
            <a:avLst/>
          </a:prstGeom>
          <a:noFill/>
          <a:ln/>
        </p:spPr>
        <p:txBody>
          <a:bodyPr wrap="square" rtlCol="0" anchor="t"/>
          <a:lstStyle/>
          <a:p>
            <a:pPr indent="0" marL="0">
              <a:buNone/>
            </a:pPr>
            <a:r>
              <a:rPr lang="en-US" sz="1000" dirty="0">
                <a:solidFill>
                  <a:srgbClr val="545C7E"/>
                </a:solidFill>
                <a:latin typeface="Calibri" pitchFamily="34" charset="0"/>
                <a:ea typeface="Calibri" pitchFamily="34" charset="-122"/>
                <a:cs typeface="Calibri" pitchFamily="34" charset="-120"/>
              </a:rPr>
              <a:t>3 1  —  7/2 truncates to 3 (integer division); 7%2 leaves remainder 1.</a:t>
            </a:r>
            <a:endParaRPr lang="en-US" sz="1000" dirty="0"/>
          </a:p>
        </p:txBody>
      </p:sp>
      <p:sp>
        <p:nvSpPr>
          <p:cNvPr id="25" name="Shape 23"/>
          <p:cNvSpPr/>
          <p:nvPr/>
        </p:nvSpPr>
        <p:spPr>
          <a:xfrm>
            <a:off x="6903720" y="2441448"/>
            <a:ext cx="146304" cy="146304"/>
          </a:xfrm>
          <a:prstGeom prst="ellipse">
            <a:avLst/>
          </a:prstGeom>
          <a:solidFill>
            <a:srgbClr val="2FD8A2"/>
          </a:solidFill>
          <a:ln/>
        </p:spPr>
      </p:sp>
      <p:sp>
        <p:nvSpPr>
          <p:cNvPr id="26" name="Text 24"/>
          <p:cNvSpPr/>
          <p:nvPr/>
        </p:nvSpPr>
        <p:spPr>
          <a:xfrm>
            <a:off x="7196328" y="2340864"/>
            <a:ext cx="4507992" cy="274320"/>
          </a:xfrm>
          <a:prstGeom prst="rect">
            <a:avLst/>
          </a:prstGeom>
          <a:noFill/>
          <a:ln/>
        </p:spPr>
        <p:txBody>
          <a:bodyPr wrap="square" rtlCol="0" anchor="ctr"/>
          <a:lstStyle/>
          <a:p>
            <a:pPr indent="0" marL="0">
              <a:buNone/>
            </a:pPr>
            <a:r>
              <a:rPr lang="en-US" sz="1150" b="1" dirty="0">
                <a:solidFill>
                  <a:srgbClr val="12172B"/>
                </a:solidFill>
                <a:latin typeface="Calibri" pitchFamily="34" charset="0"/>
                <a:ea typeface="Calibri" pitchFamily="34" charset="-122"/>
                <a:cs typeface="Calibri" pitchFamily="34" charset="-120"/>
              </a:rPr>
              <a:t>Part B</a:t>
            </a:r>
            <a:endParaRPr lang="en-US" sz="1150" dirty="0"/>
          </a:p>
        </p:txBody>
      </p:sp>
      <p:sp>
        <p:nvSpPr>
          <p:cNvPr id="27" name="Text 25"/>
          <p:cNvSpPr/>
          <p:nvPr/>
        </p:nvSpPr>
        <p:spPr>
          <a:xfrm>
            <a:off x="7196328" y="2596896"/>
            <a:ext cx="4507992" cy="457200"/>
          </a:xfrm>
          <a:prstGeom prst="rect">
            <a:avLst/>
          </a:prstGeom>
          <a:noFill/>
          <a:ln/>
        </p:spPr>
        <p:txBody>
          <a:bodyPr wrap="square" rtlCol="0" anchor="t"/>
          <a:lstStyle/>
          <a:p>
            <a:pPr indent="0" marL="0">
              <a:buNone/>
            </a:pPr>
            <a:r>
              <a:rPr lang="en-US" sz="1000" dirty="0">
                <a:solidFill>
                  <a:srgbClr val="545C7E"/>
                </a:solidFill>
                <a:latin typeface="Calibri" pitchFamily="34" charset="0"/>
                <a:ea typeface="Calibri" pitchFamily="34" charset="-122"/>
                <a:cs typeface="Calibri" pitchFamily="34" charset="-120"/>
              </a:rPr>
              <a:t>if (x = 10) assigns 10 to x instead of comparing — should be if (x == 10). Also, x is read before being initialised.</a:t>
            </a:r>
            <a:endParaRPr lang="en-US" sz="1000" dirty="0"/>
          </a:p>
        </p:txBody>
      </p:sp>
      <p:sp>
        <p:nvSpPr>
          <p:cNvPr id="28" name="Shape 26"/>
          <p:cNvSpPr/>
          <p:nvPr/>
        </p:nvSpPr>
        <p:spPr>
          <a:xfrm>
            <a:off x="6903720" y="3008376"/>
            <a:ext cx="146304" cy="146304"/>
          </a:xfrm>
          <a:prstGeom prst="ellipse">
            <a:avLst/>
          </a:prstGeom>
          <a:solidFill>
            <a:srgbClr val="2FD8A2"/>
          </a:solidFill>
          <a:ln/>
        </p:spPr>
      </p:sp>
      <p:sp>
        <p:nvSpPr>
          <p:cNvPr id="29" name="Text 27"/>
          <p:cNvSpPr/>
          <p:nvPr/>
        </p:nvSpPr>
        <p:spPr>
          <a:xfrm>
            <a:off x="7196328" y="2907792"/>
            <a:ext cx="4507992" cy="274320"/>
          </a:xfrm>
          <a:prstGeom prst="rect">
            <a:avLst/>
          </a:prstGeom>
          <a:noFill/>
          <a:ln/>
        </p:spPr>
        <p:txBody>
          <a:bodyPr wrap="square" rtlCol="0" anchor="ctr"/>
          <a:lstStyle/>
          <a:p>
            <a:pPr indent="0" marL="0">
              <a:buNone/>
            </a:pPr>
            <a:r>
              <a:rPr lang="en-US" sz="1150" b="1" dirty="0">
                <a:solidFill>
                  <a:srgbClr val="12172B"/>
                </a:solidFill>
                <a:latin typeface="Calibri" pitchFamily="34" charset="0"/>
                <a:ea typeface="Calibri" pitchFamily="34" charset="-122"/>
                <a:cs typeface="Calibri" pitchFamily="34" charset="-120"/>
              </a:rPr>
              <a:t>Part D</a:t>
            </a:r>
            <a:endParaRPr lang="en-US" sz="1150" dirty="0"/>
          </a:p>
        </p:txBody>
      </p:sp>
      <p:sp>
        <p:nvSpPr>
          <p:cNvPr id="30" name="Text 28"/>
          <p:cNvSpPr/>
          <p:nvPr/>
        </p:nvSpPr>
        <p:spPr>
          <a:xfrm>
            <a:off x="7196328" y="3163824"/>
            <a:ext cx="4507992" cy="457200"/>
          </a:xfrm>
          <a:prstGeom prst="rect">
            <a:avLst/>
          </a:prstGeom>
          <a:noFill/>
          <a:ln/>
        </p:spPr>
        <p:txBody>
          <a:bodyPr wrap="square" rtlCol="0" anchor="t"/>
          <a:lstStyle/>
          <a:p>
            <a:pPr indent="0" marL="0">
              <a:buNone/>
            </a:pPr>
            <a:r>
              <a:rPr lang="en-US" sz="1000" dirty="0">
                <a:solidFill>
                  <a:srgbClr val="545C7E"/>
                </a:solidFill>
                <a:latin typeface="Calibri" pitchFamily="34" charset="0"/>
                <a:ea typeface="Calibri" pitchFamily="34" charset="-122"/>
                <a:cs typeface="Calibri" pitchFamily="34" charset="-120"/>
              </a:rPr>
              <a:t>Indexing from 0 matches how offsets are computed from an array's base address. const &amp; avoids copying while blocking accidental changes.</a:t>
            </a:r>
            <a:endParaRPr lang="en-US" sz="1000" dirty="0"/>
          </a:p>
        </p:txBody>
      </p:sp>
      <p:sp>
        <p:nvSpPr>
          <p:cNvPr id="31" name="Text 29"/>
          <p:cNvSpPr/>
          <p:nvPr/>
        </p:nvSpPr>
        <p:spPr>
          <a:xfrm>
            <a:off x="502920" y="6199632"/>
            <a:ext cx="11155680" cy="228600"/>
          </a:xfrm>
          <a:prstGeom prst="rect">
            <a:avLst/>
          </a:prstGeom>
          <a:noFill/>
          <a:ln/>
        </p:spPr>
        <p:txBody>
          <a:bodyPr wrap="square" rtlCol="0" anchor="ctr"/>
          <a:lstStyle/>
          <a:p>
            <a:pPr indent="0" marL="0">
              <a:buNone/>
            </a:pPr>
            <a:r>
              <a:rPr lang="en-US" sz="950" i="1" dirty="0">
                <a:solidFill>
                  <a:srgbClr val="545C7E"/>
                </a:solidFill>
                <a:latin typeface="Calibri" pitchFamily="34" charset="0"/>
                <a:ea typeface="Calibri" pitchFamily="34" charset="-122"/>
                <a:cs typeface="Calibri" pitchFamily="34" charset="-120"/>
              </a:rPr>
              <a:t>Full assessment (Parts A–D) and complete practice ladder are in the companion practice pack.</a:t>
            </a:r>
            <a:endParaRPr lang="en-US" sz="950" dirty="0"/>
          </a:p>
        </p:txBody>
      </p:sp>
      <p:sp>
        <p:nvSpPr>
          <p:cNvPr id="33" name="Text 30"/>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4" name="Text 31"/>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44</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9144000" cy="292608"/>
          </a:xfrm>
          <a:prstGeom prst="rect">
            <a:avLst/>
          </a:prstGeom>
          <a:noFill/>
          <a:ln/>
        </p:spPr>
        <p:txBody>
          <a:bodyPr wrap="square" rtlCol="0" anchor="ctr"/>
          <a:lstStyle/>
          <a:p>
            <a:pPr indent="0" marL="0">
              <a:buNone/>
            </a:pPr>
            <a:r>
              <a:rPr lang="en-US" sz="1200" b="1" spc="200" kern="0" dirty="0">
                <a:solidFill>
                  <a:srgbClr val="16A67C"/>
                </a:solidFill>
                <a:latin typeface="Calibri" pitchFamily="34" charset="0"/>
                <a:ea typeface="Calibri" pitchFamily="34" charset="-122"/>
                <a:cs typeface="Calibri" pitchFamily="34" charset="-120"/>
              </a:rPr>
              <a:t>SECTION 32</a:t>
            </a:r>
            <a:endParaRPr lang="en-US" sz="1200" dirty="0"/>
          </a:p>
        </p:txBody>
      </p:sp>
      <p:sp>
        <p:nvSpPr>
          <p:cNvPr id="3" name="Text 1"/>
          <p:cNvSpPr/>
          <p:nvPr/>
        </p:nvSpPr>
        <p:spPr>
          <a:xfrm>
            <a:off x="502920" y="676656"/>
            <a:ext cx="11155680" cy="777240"/>
          </a:xfrm>
          <a:prstGeom prst="rect">
            <a:avLst/>
          </a:prstGeom>
          <a:noFill/>
          <a:ln/>
        </p:spPr>
        <p:txBody>
          <a:bodyPr wrap="square" rtlCol="0" anchor="ctr"/>
          <a:lstStyle/>
          <a:p>
            <a:pPr indent="0" marL="0">
              <a:buNone/>
            </a:pPr>
            <a:r>
              <a:rPr lang="en-US" sz="2800" b="1" dirty="0">
                <a:solidFill>
                  <a:srgbClr val="12172B"/>
                </a:solidFill>
                <a:latin typeface="Cambria" pitchFamily="34" charset="0"/>
                <a:ea typeface="Cambria" pitchFamily="34" charset="-122"/>
                <a:cs typeface="Cambria" pitchFamily="34" charset="-120"/>
              </a:rPr>
              <a:t>Final Revision Cheat Sheet</a:t>
            </a:r>
            <a:endParaRPr lang="en-US" sz="2800" dirty="0"/>
          </a:p>
        </p:txBody>
      </p:sp>
      <p:sp>
        <p:nvSpPr>
          <p:cNvPr id="4" name="Shape 2"/>
          <p:cNvSpPr/>
          <p:nvPr/>
        </p:nvSpPr>
        <p:spPr>
          <a:xfrm>
            <a:off x="502920" y="1600200"/>
            <a:ext cx="5760720" cy="2880360"/>
          </a:xfrm>
          <a:prstGeom prst="roundRect">
            <a:avLst>
              <a:gd name="adj" fmla="val 2857"/>
            </a:avLst>
          </a:prstGeom>
          <a:solidFill>
            <a:srgbClr val="0B132B"/>
          </a:solidFill>
          <a:ln w="12700">
            <a:solidFill>
              <a:srgbClr val="233158"/>
            </a:solidFill>
            <a:prstDash val="solid"/>
          </a:ln>
          <a:effectLst>
            <a:outerShdw sx="100000" sy="100000" kx="0" ky="0" algn="bl" rotWithShape="0" blurRad="88900" dist="38100" dir="5400000">
              <a:srgbClr val="000000">
                <a:alpha val="30000"/>
              </a:srgbClr>
            </a:outerShdw>
          </a:effectLst>
        </p:spPr>
      </p:sp>
      <p:sp>
        <p:nvSpPr>
          <p:cNvPr id="5" name="Shape 3"/>
          <p:cNvSpPr/>
          <p:nvPr/>
        </p:nvSpPr>
        <p:spPr>
          <a:xfrm>
            <a:off x="502920" y="1600200"/>
            <a:ext cx="5760720" cy="292608"/>
          </a:xfrm>
          <a:prstGeom prst="rect">
            <a:avLst/>
          </a:prstGeom>
          <a:solidFill>
            <a:srgbClr val="141B33"/>
          </a:solidFill>
          <a:ln/>
        </p:spPr>
      </p:sp>
      <p:sp>
        <p:nvSpPr>
          <p:cNvPr id="6" name="Shape 4"/>
          <p:cNvSpPr/>
          <p:nvPr/>
        </p:nvSpPr>
        <p:spPr>
          <a:xfrm>
            <a:off x="649224" y="1691640"/>
            <a:ext cx="109728" cy="109728"/>
          </a:xfrm>
          <a:prstGeom prst="ellipse">
            <a:avLst/>
          </a:prstGeom>
          <a:solidFill>
            <a:srgbClr val="FF6B6B"/>
          </a:solidFill>
          <a:ln/>
        </p:spPr>
      </p:sp>
      <p:sp>
        <p:nvSpPr>
          <p:cNvPr id="7" name="Shape 5"/>
          <p:cNvSpPr/>
          <p:nvPr/>
        </p:nvSpPr>
        <p:spPr>
          <a:xfrm>
            <a:off x="822960" y="1691640"/>
            <a:ext cx="109728" cy="109728"/>
          </a:xfrm>
          <a:prstGeom prst="ellipse">
            <a:avLst/>
          </a:prstGeom>
          <a:solidFill>
            <a:srgbClr val="FFD166"/>
          </a:solidFill>
          <a:ln/>
        </p:spPr>
      </p:sp>
      <p:sp>
        <p:nvSpPr>
          <p:cNvPr id="8" name="Shape 6"/>
          <p:cNvSpPr/>
          <p:nvPr/>
        </p:nvSpPr>
        <p:spPr>
          <a:xfrm>
            <a:off x="996696" y="1691640"/>
            <a:ext cx="109728" cy="109728"/>
          </a:xfrm>
          <a:prstGeom prst="ellipse">
            <a:avLst/>
          </a:prstGeom>
          <a:solidFill>
            <a:srgbClr val="2FD8A2"/>
          </a:solidFill>
          <a:ln/>
        </p:spPr>
      </p:sp>
      <p:sp>
        <p:nvSpPr>
          <p:cNvPr id="9" name="Text 7"/>
          <p:cNvSpPr/>
          <p:nvPr/>
        </p:nvSpPr>
        <p:spPr>
          <a:xfrm>
            <a:off x="502920" y="1600200"/>
            <a:ext cx="5577840" cy="292608"/>
          </a:xfrm>
          <a:prstGeom prst="rect">
            <a:avLst/>
          </a:prstGeom>
          <a:noFill/>
          <a:ln/>
        </p:spPr>
        <p:txBody>
          <a:bodyPr wrap="square" rtlCol="0" anchor="ctr"/>
          <a:lstStyle/>
          <a:p>
            <a:pPr algn="r" indent="0" marL="0">
              <a:buNone/>
            </a:pPr>
            <a:r>
              <a:rPr lang="en-US" sz="1000" dirty="0">
                <a:solidFill>
                  <a:srgbClr val="8B93B8"/>
                </a:solidFill>
                <a:latin typeface="Courier New" pitchFamily="34" charset="0"/>
                <a:ea typeface="Courier New" pitchFamily="34" charset="-122"/>
                <a:cs typeface="Courier New" pitchFamily="34" charset="-120"/>
              </a:rPr>
              <a:t>starter template</a:t>
            </a:r>
            <a:endParaRPr lang="en-US" sz="1000" dirty="0"/>
          </a:p>
        </p:txBody>
      </p:sp>
      <p:sp>
        <p:nvSpPr>
          <p:cNvPr id="10" name="Text 8"/>
          <p:cNvSpPr/>
          <p:nvPr/>
        </p:nvSpPr>
        <p:spPr>
          <a:xfrm>
            <a:off x="722376" y="2011680"/>
            <a:ext cx="5321808" cy="2350008"/>
          </a:xfrm>
          <a:prstGeom prst="rect">
            <a:avLst/>
          </a:prstGeom>
          <a:noFill/>
          <a:ln/>
        </p:spPr>
        <p:txBody>
          <a:bodyPr wrap="square" lIns="0" tIns="0" rIns="0" bIns="0" rtlCol="0" anchor="t"/>
          <a:lstStyle/>
          <a:p>
            <a:pPr algn="l" indent="0" marL="0">
              <a:lnSpc>
                <a:spcPct val="122000"/>
              </a:lnSpc>
              <a:buNone/>
            </a:pPr>
            <a:r>
              <a:rPr lang="en-US" sz="1250" dirty="0">
                <a:solidFill>
                  <a:srgbClr val="FF8FB1"/>
                </a:solidFill>
                <a:latin typeface="Courier New" pitchFamily="34" charset="0"/>
                <a:ea typeface="Courier New" pitchFamily="34" charset="-122"/>
                <a:cs typeface="Courier New" pitchFamily="34" charset="-120"/>
              </a:rPr>
              <a:t>#include &lt;iostream&gt;</a:t>
            </a:r>
            <a:endParaRPr lang="en-US" sz="1250" dirty="0"/>
          </a:p>
          <a:p>
            <a:pPr algn="l" indent="0" marL="0">
              <a:lnSpc>
                <a:spcPct val="122000"/>
              </a:lnSpc>
              <a:buNone/>
            </a:pPr>
            <a:r>
              <a:rPr lang="en-US" sz="1250" dirty="0">
                <a:solidFill>
                  <a:srgbClr val="FF8FB1"/>
                </a:solidFill>
                <a:latin typeface="Courier New" pitchFamily="34" charset="0"/>
                <a:ea typeface="Courier New" pitchFamily="34" charset="-122"/>
                <a:cs typeface="Courier New" pitchFamily="34" charset="-120"/>
              </a:rPr>
              <a:t>#include &lt;vector&gt;</a:t>
            </a:r>
            <a:endParaRPr lang="en-US" sz="1250" dirty="0"/>
          </a:p>
          <a:p>
            <a:pPr algn="l" indent="0" marL="0">
              <a:lnSpc>
                <a:spcPct val="122000"/>
              </a:lnSpc>
              <a:buNone/>
            </a:pPr>
            <a:r>
              <a:rPr lang="en-US" sz="1250" dirty="0">
                <a:solidFill>
                  <a:srgbClr val="FF8FB1"/>
                </a:solidFill>
                <a:latin typeface="Courier New" pitchFamily="34" charset="0"/>
                <a:ea typeface="Courier New" pitchFamily="34" charset="-122"/>
                <a:cs typeface="Courier New" pitchFamily="34" charset="-120"/>
              </a:rPr>
              <a:t>#include &lt;string&gt;</a:t>
            </a:r>
            <a:endParaRPr lang="en-US" sz="1250" dirty="0"/>
          </a:p>
          <a:p>
            <a:pPr algn="l" indent="0" marL="0">
              <a:lnSpc>
                <a:spcPct val="122000"/>
              </a:lnSpc>
              <a:buNone/>
            </a:pPr>
            <a:r>
              <a:rPr lang="en-US" sz="1250" dirty="0">
                <a:solidFill>
                  <a:srgbClr val="FF8FB1"/>
                </a:solidFill>
                <a:latin typeface="Courier New" pitchFamily="34" charset="0"/>
                <a:ea typeface="Courier New" pitchFamily="34" charset="-122"/>
                <a:cs typeface="Courier New" pitchFamily="34" charset="-120"/>
              </a:rPr>
              <a:t>#include &lt;algorithm&gt;</a:t>
            </a:r>
            <a:endParaRPr lang="en-US" sz="1250" dirty="0"/>
          </a:p>
          <a:p>
            <a:pPr algn="l" indent="0" marL="0">
              <a:lnSpc>
                <a:spcPct val="122000"/>
              </a:lnSpc>
              <a:buNone/>
            </a:pPr>
            <a:r>
              <a:rPr lang="en-US" sz="1250" dirty="0">
                <a:solidFill>
                  <a:srgbClr val="7FB2FF"/>
                </a:solidFill>
                <a:latin typeface="Courier New" pitchFamily="34" charset="0"/>
                <a:ea typeface="Courier New" pitchFamily="34" charset="-122"/>
                <a:cs typeface="Courier New" pitchFamily="34" charset="-120"/>
              </a:rPr>
              <a:t>using</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7FB2FF"/>
                </a:solidFill>
                <a:latin typeface="Courier New" pitchFamily="34" charset="0"/>
                <a:ea typeface="Courier New" pitchFamily="34" charset="-122"/>
                <a:cs typeface="Courier New" pitchFamily="34" charset="-120"/>
              </a:rPr>
              <a:t>namespace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std</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int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main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ios</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sync_with_stdio</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false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56D6C4"/>
                </a:solidFill>
                <a:latin typeface="Courier New" pitchFamily="34" charset="0"/>
                <a:ea typeface="Courier New" pitchFamily="34" charset="-122"/>
                <a:cs typeface="Courier New" pitchFamily="34" charset="-120"/>
              </a:rPr>
              <a:t>cin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tie</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nullptr</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b="1" dirty="0">
                <a:solidFill>
                  <a:srgbClr val="7FB2FF"/>
                </a:solidFill>
                <a:latin typeface="Courier New" pitchFamily="34" charset="0"/>
                <a:ea typeface="Courier New" pitchFamily="34" charset="-122"/>
                <a:cs typeface="Courier New" pitchFamily="34" charset="-120"/>
              </a:rPr>
              <a:t>return</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 </a:t>
            </a:r>
            <a:pPr algn="l" indent="0" marL="0">
              <a:lnSpc>
                <a:spcPct val="122000"/>
              </a:lnSpc>
              <a:buNone/>
            </a:pPr>
            <a:r>
              <a:rPr lang="en-US" sz="1250" dirty="0">
                <a:solidFill>
                  <a:srgbClr val="C9A6FF"/>
                </a:solidFill>
                <a:latin typeface="Courier New" pitchFamily="34" charset="0"/>
                <a:ea typeface="Courier New" pitchFamily="34" charset="-122"/>
                <a:cs typeface="Courier New" pitchFamily="34" charset="-120"/>
              </a:rPr>
              <a:t>0</a:t>
            </a:r>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a:p>
            <a:pPr algn="l" indent="0" marL="0">
              <a:lnSpc>
                <a:spcPct val="122000"/>
              </a:lnSpc>
              <a:buNone/>
            </a:pPr>
            <a:r>
              <a:rPr lang="en-US" sz="1250" dirty="0">
                <a:solidFill>
                  <a:srgbClr val="E7ECF5"/>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502920" y="4617720"/>
            <a:ext cx="5760720" cy="1691640"/>
          </a:xfrm>
          <a:prstGeom prst="roundRect">
            <a:avLst>
              <a:gd name="adj" fmla="val 4324"/>
            </a:avLst>
          </a:prstGeom>
          <a:solidFill>
            <a:srgbClr val="EAFBF4"/>
          </a:solidFill>
          <a:ln w="12700">
            <a:solidFill>
              <a:srgbClr val="16A67C"/>
            </a:solidFill>
            <a:prstDash val="solid"/>
          </a:ln>
        </p:spPr>
      </p:sp>
      <p:sp>
        <p:nvSpPr>
          <p:cNvPr id="12" name="Text 10"/>
          <p:cNvSpPr/>
          <p:nvPr/>
        </p:nvSpPr>
        <p:spPr>
          <a:xfrm>
            <a:off x="685800" y="4700016"/>
            <a:ext cx="5394960" cy="237744"/>
          </a:xfrm>
          <a:prstGeom prst="rect">
            <a:avLst/>
          </a:prstGeom>
          <a:noFill/>
          <a:ln/>
        </p:spPr>
        <p:txBody>
          <a:bodyPr wrap="square" rtlCol="0" anchor="ctr"/>
          <a:lstStyle/>
          <a:p>
            <a:pPr indent="0" marL="0">
              <a:buNone/>
            </a:pPr>
            <a:r>
              <a:rPr lang="en-US" sz="1050" b="1" spc="100" kern="0" dirty="0">
                <a:solidFill>
                  <a:srgbClr val="16A67C"/>
                </a:solidFill>
                <a:latin typeface="Calibri" pitchFamily="34" charset="0"/>
                <a:ea typeface="Calibri" pitchFamily="34" charset="-122"/>
                <a:cs typeface="Calibri" pitchFamily="34" charset="-120"/>
              </a:rPr>
              <a:t>Fast I/O — optional, but standard in DSA</a:t>
            </a:r>
            <a:endParaRPr lang="en-US" sz="1050" dirty="0"/>
          </a:p>
        </p:txBody>
      </p:sp>
      <p:sp>
        <p:nvSpPr>
          <p:cNvPr id="13" name="Text 11"/>
          <p:cNvSpPr/>
          <p:nvPr/>
        </p:nvSpPr>
        <p:spPr>
          <a:xfrm>
            <a:off x="685800" y="4965192"/>
            <a:ext cx="5394960" cy="1252728"/>
          </a:xfrm>
          <a:prstGeom prst="rect">
            <a:avLst/>
          </a:prstGeom>
          <a:noFill/>
          <a:ln/>
        </p:spPr>
        <p:txBody>
          <a:bodyPr wrap="square" rtlCol="0" anchor="t"/>
          <a:lstStyle/>
          <a:p>
            <a:pPr indent="0" marL="0">
              <a:buNone/>
            </a:pPr>
            <a:r>
              <a:rPr lang="en-US" sz="1100" dirty="0">
                <a:solidFill>
                  <a:srgbClr val="12172B"/>
                </a:solidFill>
                <a:latin typeface="Calibri" pitchFamily="34" charset="0"/>
                <a:ea typeface="Calibri" pitchFamily="34" charset="-122"/>
                <a:cs typeface="Calibri" pitchFamily="34" charset="-120"/>
              </a:rPr>
              <a:t>ios::sync_with_stdio(false); and cin.tie(nullptr); disconnect C++ streams from C's stdio and stop cin/cout from syncing each other — unnecessary for tiny programs, common practice once loops read or print a lot.</a:t>
            </a:r>
            <a:endParaRPr lang="en-US" sz="11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903720" y="1600200"/>
          <a:ext cx="4800600" cy="914400"/>
        </p:xfrm>
        <a:graphic>
          <a:graphicData uri="http://schemas.openxmlformats.org/drawingml/2006/table">
            <a:tbl>
              <a:tblPr/>
              <a:tblGrid>
                <a:gridCol w="1463040"/>
                <a:gridCol w="3337560"/>
              </a:tblGrid>
              <a:tr h="342900">
                <a:tc>
                  <a:txBody>
                    <a:bodyPr/>
                    <a:lstStyle/>
                    <a:p>
                      <a:pPr algn="l" indent="0" marL="0">
                        <a:buNone/>
                      </a:pPr>
                      <a:r>
                        <a:rPr lang="en-US" sz="980" b="1" dirty="0">
                          <a:solidFill>
                            <a:srgbClr val="FFFFFF"/>
                          </a:solidFill>
                          <a:latin typeface="Calibri" pitchFamily="34" charset="0"/>
                          <a:ea typeface="Calibri" pitchFamily="34" charset="-122"/>
                          <a:cs typeface="Calibri" pitchFamily="34" charset="-120"/>
                        </a:rPr>
                        <a:t>Topic</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c>
                  <a:txBody>
                    <a:bodyPr/>
                    <a:lstStyle/>
                    <a:p>
                      <a:pPr algn="l" indent="0" marL="0">
                        <a:buNone/>
                      </a:pPr>
                      <a:r>
                        <a:rPr lang="en-US" sz="980" b="1" dirty="0">
                          <a:solidFill>
                            <a:srgbClr val="FFFFFF"/>
                          </a:solidFill>
                          <a:latin typeface="Calibri" pitchFamily="34" charset="0"/>
                          <a:ea typeface="Calibri" pitchFamily="34" charset="-122"/>
                          <a:cs typeface="Calibri" pitchFamily="34" charset="-120"/>
                        </a:rPr>
                        <a:t>Quick reference</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0B132B"/>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Condition</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if / else if / else, switch</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Loop</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for (init; cond; update)</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Function</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type name(params) { ... }</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Array</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type arr[n]; index 0..n-1</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Vector</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vector&lt;T&gt; v; v.push_back(x);</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Reference</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type&amp; (modify) · const type&amp; (read)</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Sort</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sort(v.begin(), v.end());</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342900">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Complexity</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c>
                  <a:txBody>
                    <a:bodyPr/>
                    <a:lstStyle/>
                    <a:p>
                      <a:pPr algn="l" indent="0" marL="0">
                        <a:buNone/>
                      </a:pPr>
                      <a:r>
                        <a:rPr lang="en-US" sz="980" dirty="0">
                          <a:solidFill>
                            <a:srgbClr val="12172B"/>
                          </a:solidFill>
                          <a:latin typeface="Calibri" pitchFamily="34" charset="0"/>
                          <a:ea typeface="Calibri" pitchFamily="34" charset="-122"/>
                          <a:cs typeface="Calibri" pitchFamily="34" charset="-120"/>
                        </a:rPr>
                        <a:t>O(1) · O(log n) · O(n) · O(n²)</a:t>
                      </a:r>
                      <a:endParaRPr lang="en-US" sz="980" dirty="0">
                        <a:latin typeface="Calibri" charset="0"/>
                        <a:ea typeface="Calibri" charset="0"/>
                        <a:cs typeface="Calibri" charset="0"/>
                      </a:endParaRPr>
                    </a:p>
                  </a:txBody>
                  <a:tcPr marL="91440" marR="91440" marT="45720" marB="4572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3F6FC"/>
                    </a:solidFill>
                  </a:tcPr>
                </a:tc>
              </a:tr>
            </a:tbl>
          </a:graphicData>
        </a:graphic>
      </p:graphicFrame>
      <p:sp>
        <p:nvSpPr>
          <p:cNvPr id="16" name="Text 12"/>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9AA3C2"/>
                </a:solidFill>
                <a:latin typeface="Calibri" pitchFamily="34" charset="0"/>
                <a:ea typeface="Calibri" pitchFamily="34" charset="-122"/>
                <a:cs typeface="Calibri" pitchFamily="34" charset="-120"/>
              </a:rPr>
              <a:t>C++ FROM SCRATCH  ·  COLLEGE-STYLE FOUNDATIONS FOR DSA</a:t>
            </a:r>
            <a:endParaRPr lang="en-US" sz="850" dirty="0"/>
          </a:p>
        </p:txBody>
      </p:sp>
      <p:sp>
        <p:nvSpPr>
          <p:cNvPr id="17" name="Text 13"/>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9AA3C2"/>
                </a:solidFill>
                <a:latin typeface="Calibri" pitchFamily="34" charset="0"/>
                <a:ea typeface="Calibri" pitchFamily="34" charset="-122"/>
                <a:cs typeface="Calibri" pitchFamily="34" charset="-120"/>
              </a:rPr>
              <a:t>45</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32B"/>
        </a:solidFill>
      </p:bgPr>
    </p:bg>
    <p:spTree>
      <p:nvGrpSpPr>
        <p:cNvPr id="1" name=""/>
        <p:cNvGrpSpPr/>
        <p:nvPr/>
      </p:nvGrpSpPr>
      <p:grpSpPr>
        <a:xfrm>
          <a:off x="0" y="0"/>
          <a:ext cx="0" cy="0"/>
          <a:chOff x="0" y="0"/>
          <a:chExt cx="0" cy="0"/>
        </a:xfrm>
      </p:grpSpPr>
      <p:sp>
        <p:nvSpPr>
          <p:cNvPr id="2" name="Text 0"/>
          <p:cNvSpPr/>
          <p:nvPr/>
        </p:nvSpPr>
        <p:spPr>
          <a:xfrm>
            <a:off x="502920" y="502920"/>
            <a:ext cx="9144000" cy="292608"/>
          </a:xfrm>
          <a:prstGeom prst="rect">
            <a:avLst/>
          </a:prstGeom>
          <a:noFill/>
          <a:ln/>
        </p:spPr>
        <p:txBody>
          <a:bodyPr wrap="square" rtlCol="0" anchor="ctr"/>
          <a:lstStyle/>
          <a:p>
            <a:pPr indent="0" marL="0">
              <a:buNone/>
            </a:pPr>
            <a:r>
              <a:rPr lang="en-US" sz="1200" b="1" spc="200" kern="0" dirty="0">
                <a:solidFill>
                  <a:srgbClr val="2FD8A2"/>
                </a:solidFill>
                <a:latin typeface="Calibri" pitchFamily="34" charset="0"/>
                <a:ea typeface="Calibri" pitchFamily="34" charset="-122"/>
                <a:cs typeface="Calibri" pitchFamily="34" charset="-120"/>
              </a:rPr>
              <a:t>SECTION 33</a:t>
            </a:r>
            <a:endParaRPr lang="en-US" sz="1200" dirty="0"/>
          </a:p>
        </p:txBody>
      </p:sp>
      <p:sp>
        <p:nvSpPr>
          <p:cNvPr id="3" name="Text 1"/>
          <p:cNvSpPr/>
          <p:nvPr/>
        </p:nvSpPr>
        <p:spPr>
          <a:xfrm>
            <a:off x="502920" y="82296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to Learn Next</a:t>
            </a:r>
            <a:endParaRPr lang="en-US" sz="3000" dirty="0"/>
          </a:p>
        </p:txBody>
      </p:sp>
      <p:sp>
        <p:nvSpPr>
          <p:cNvPr id="4" name="Shape 2"/>
          <p:cNvSpPr/>
          <p:nvPr/>
        </p:nvSpPr>
        <p:spPr>
          <a:xfrm>
            <a:off x="502920" y="1691640"/>
            <a:ext cx="2947111" cy="365760"/>
          </a:xfrm>
          <a:prstGeom prst="roundRect">
            <a:avLst>
              <a:gd name="adj" fmla="val 50000"/>
            </a:avLst>
          </a:prstGeom>
          <a:solidFill>
            <a:srgbClr val="16213E"/>
          </a:solidFill>
          <a:ln w="9525">
            <a:solidFill>
              <a:srgbClr val="2FD8A2"/>
            </a:solidFill>
            <a:prstDash val="solid"/>
          </a:ln>
        </p:spPr>
      </p:sp>
      <p:sp>
        <p:nvSpPr>
          <p:cNvPr id="5" name="Text 3"/>
          <p:cNvSpPr/>
          <p:nvPr/>
        </p:nvSpPr>
        <p:spPr>
          <a:xfrm>
            <a:off x="502920" y="1691640"/>
            <a:ext cx="2947111"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1. More array &amp; string problems</a:t>
            </a:r>
            <a:endParaRPr lang="en-US" sz="1050" dirty="0"/>
          </a:p>
        </p:txBody>
      </p:sp>
      <p:sp>
        <p:nvSpPr>
          <p:cNvPr id="6" name="Shape 4"/>
          <p:cNvSpPr/>
          <p:nvPr/>
        </p:nvSpPr>
        <p:spPr>
          <a:xfrm>
            <a:off x="3596335" y="1691640"/>
            <a:ext cx="3882542" cy="365760"/>
          </a:xfrm>
          <a:prstGeom prst="roundRect">
            <a:avLst>
              <a:gd name="adj" fmla="val 50000"/>
            </a:avLst>
          </a:prstGeom>
          <a:solidFill>
            <a:srgbClr val="16213E"/>
          </a:solidFill>
          <a:ln w="9525">
            <a:solidFill>
              <a:srgbClr val="2FD8A2"/>
            </a:solidFill>
            <a:prstDash val="solid"/>
          </a:ln>
        </p:spPr>
      </p:sp>
      <p:sp>
        <p:nvSpPr>
          <p:cNvPr id="7" name="Text 5"/>
          <p:cNvSpPr/>
          <p:nvPr/>
        </p:nvSpPr>
        <p:spPr>
          <a:xfrm>
            <a:off x="3596335" y="1691640"/>
            <a:ext cx="388254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2. STL containers (map, set, stack, queue)</a:t>
            </a:r>
            <a:endParaRPr lang="en-US" sz="1050" dirty="0"/>
          </a:p>
        </p:txBody>
      </p:sp>
      <p:sp>
        <p:nvSpPr>
          <p:cNvPr id="8" name="Shape 6"/>
          <p:cNvSpPr/>
          <p:nvPr/>
        </p:nvSpPr>
        <p:spPr>
          <a:xfrm>
            <a:off x="7625182" y="1691640"/>
            <a:ext cx="1331366" cy="365760"/>
          </a:xfrm>
          <a:prstGeom prst="roundRect">
            <a:avLst>
              <a:gd name="adj" fmla="val 50000"/>
            </a:avLst>
          </a:prstGeom>
          <a:solidFill>
            <a:srgbClr val="16213E"/>
          </a:solidFill>
          <a:ln w="9525">
            <a:solidFill>
              <a:srgbClr val="2FD8A2"/>
            </a:solidFill>
            <a:prstDash val="solid"/>
          </a:ln>
        </p:spPr>
      </p:sp>
      <p:sp>
        <p:nvSpPr>
          <p:cNvPr id="9" name="Text 7"/>
          <p:cNvSpPr/>
          <p:nvPr/>
        </p:nvSpPr>
        <p:spPr>
          <a:xfrm>
            <a:off x="7625182" y="1691640"/>
            <a:ext cx="1331366"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3. Recursion</a:t>
            </a:r>
            <a:endParaRPr lang="en-US" sz="1050" dirty="0"/>
          </a:p>
        </p:txBody>
      </p:sp>
      <p:sp>
        <p:nvSpPr>
          <p:cNvPr id="10" name="Shape 8"/>
          <p:cNvSpPr/>
          <p:nvPr/>
        </p:nvSpPr>
        <p:spPr>
          <a:xfrm>
            <a:off x="9102852" y="1691640"/>
            <a:ext cx="2096719" cy="365760"/>
          </a:xfrm>
          <a:prstGeom prst="roundRect">
            <a:avLst>
              <a:gd name="adj" fmla="val 50000"/>
            </a:avLst>
          </a:prstGeom>
          <a:solidFill>
            <a:srgbClr val="16213E"/>
          </a:solidFill>
          <a:ln w="9525">
            <a:solidFill>
              <a:srgbClr val="2FD8A2"/>
            </a:solidFill>
            <a:prstDash val="solid"/>
          </a:ln>
        </p:spPr>
      </p:sp>
      <p:sp>
        <p:nvSpPr>
          <p:cNvPr id="11" name="Text 9"/>
          <p:cNvSpPr/>
          <p:nvPr/>
        </p:nvSpPr>
        <p:spPr>
          <a:xfrm>
            <a:off x="9102852" y="1691640"/>
            <a:ext cx="2096719"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4. Sorting algorithms</a:t>
            </a:r>
            <a:endParaRPr lang="en-US" sz="1050" dirty="0"/>
          </a:p>
        </p:txBody>
      </p:sp>
      <p:sp>
        <p:nvSpPr>
          <p:cNvPr id="12" name="Shape 10"/>
          <p:cNvSpPr/>
          <p:nvPr/>
        </p:nvSpPr>
        <p:spPr>
          <a:xfrm>
            <a:off x="502920" y="2194560"/>
            <a:ext cx="1671523" cy="365760"/>
          </a:xfrm>
          <a:prstGeom prst="roundRect">
            <a:avLst>
              <a:gd name="adj" fmla="val 50000"/>
            </a:avLst>
          </a:prstGeom>
          <a:solidFill>
            <a:srgbClr val="16213E"/>
          </a:solidFill>
          <a:ln w="9525">
            <a:solidFill>
              <a:srgbClr val="2FD8A2"/>
            </a:solidFill>
            <a:prstDash val="solid"/>
          </a:ln>
        </p:spPr>
      </p:sp>
      <p:sp>
        <p:nvSpPr>
          <p:cNvPr id="13" name="Text 11"/>
          <p:cNvSpPr/>
          <p:nvPr/>
        </p:nvSpPr>
        <p:spPr>
          <a:xfrm>
            <a:off x="502920" y="2194560"/>
            <a:ext cx="1671523"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5. Binary search</a:t>
            </a:r>
            <a:endParaRPr lang="en-US" sz="1050" dirty="0"/>
          </a:p>
        </p:txBody>
      </p:sp>
      <p:sp>
        <p:nvSpPr>
          <p:cNvPr id="14" name="Shape 12"/>
          <p:cNvSpPr/>
          <p:nvPr/>
        </p:nvSpPr>
        <p:spPr>
          <a:xfrm>
            <a:off x="2320747" y="2194560"/>
            <a:ext cx="1586484" cy="365760"/>
          </a:xfrm>
          <a:prstGeom prst="roundRect">
            <a:avLst>
              <a:gd name="adj" fmla="val 50000"/>
            </a:avLst>
          </a:prstGeom>
          <a:solidFill>
            <a:srgbClr val="16213E"/>
          </a:solidFill>
          <a:ln w="9525">
            <a:solidFill>
              <a:srgbClr val="2FD8A2"/>
            </a:solidFill>
            <a:prstDash val="solid"/>
          </a:ln>
        </p:spPr>
      </p:sp>
      <p:sp>
        <p:nvSpPr>
          <p:cNvPr id="15" name="Text 13"/>
          <p:cNvSpPr/>
          <p:nvPr/>
        </p:nvSpPr>
        <p:spPr>
          <a:xfrm>
            <a:off x="2320747" y="2194560"/>
            <a:ext cx="1586484"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6. Linked lists</a:t>
            </a:r>
            <a:endParaRPr lang="en-US" sz="1050" dirty="0"/>
          </a:p>
        </p:txBody>
      </p:sp>
      <p:sp>
        <p:nvSpPr>
          <p:cNvPr id="16" name="Shape 14"/>
          <p:cNvSpPr/>
          <p:nvPr/>
        </p:nvSpPr>
        <p:spPr>
          <a:xfrm>
            <a:off x="4053535" y="2194560"/>
            <a:ext cx="1841602" cy="365760"/>
          </a:xfrm>
          <a:prstGeom prst="roundRect">
            <a:avLst>
              <a:gd name="adj" fmla="val 50000"/>
            </a:avLst>
          </a:prstGeom>
          <a:solidFill>
            <a:srgbClr val="16213E"/>
          </a:solidFill>
          <a:ln w="9525">
            <a:solidFill>
              <a:srgbClr val="2FD8A2"/>
            </a:solidFill>
            <a:prstDash val="solid"/>
          </a:ln>
        </p:spPr>
      </p:sp>
      <p:sp>
        <p:nvSpPr>
          <p:cNvPr id="17" name="Text 15"/>
          <p:cNvSpPr/>
          <p:nvPr/>
        </p:nvSpPr>
        <p:spPr>
          <a:xfrm>
            <a:off x="4053535" y="2194560"/>
            <a:ext cx="1841602"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7. Stacks &amp; queues</a:t>
            </a:r>
            <a:endParaRPr lang="en-US" sz="1050" dirty="0"/>
          </a:p>
        </p:txBody>
      </p:sp>
      <p:sp>
        <p:nvSpPr>
          <p:cNvPr id="18" name="Shape 16"/>
          <p:cNvSpPr/>
          <p:nvPr/>
        </p:nvSpPr>
        <p:spPr>
          <a:xfrm>
            <a:off x="6041441" y="2194560"/>
            <a:ext cx="1161288" cy="365760"/>
          </a:xfrm>
          <a:prstGeom prst="roundRect">
            <a:avLst>
              <a:gd name="adj" fmla="val 50000"/>
            </a:avLst>
          </a:prstGeom>
          <a:solidFill>
            <a:srgbClr val="16213E"/>
          </a:solidFill>
          <a:ln w="9525">
            <a:solidFill>
              <a:srgbClr val="2FD8A2"/>
            </a:solidFill>
            <a:prstDash val="solid"/>
          </a:ln>
        </p:spPr>
      </p:sp>
      <p:sp>
        <p:nvSpPr>
          <p:cNvPr id="19" name="Text 17"/>
          <p:cNvSpPr/>
          <p:nvPr/>
        </p:nvSpPr>
        <p:spPr>
          <a:xfrm>
            <a:off x="6041441" y="2194560"/>
            <a:ext cx="1161288"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8. Hashing</a:t>
            </a:r>
            <a:endParaRPr lang="en-US" sz="1050" dirty="0"/>
          </a:p>
        </p:txBody>
      </p:sp>
      <p:sp>
        <p:nvSpPr>
          <p:cNvPr id="20" name="Shape 18"/>
          <p:cNvSpPr/>
          <p:nvPr/>
        </p:nvSpPr>
        <p:spPr>
          <a:xfrm>
            <a:off x="7349033" y="2194560"/>
            <a:ext cx="991210" cy="365760"/>
          </a:xfrm>
          <a:prstGeom prst="roundRect">
            <a:avLst>
              <a:gd name="adj" fmla="val 50000"/>
            </a:avLst>
          </a:prstGeom>
          <a:solidFill>
            <a:srgbClr val="16213E"/>
          </a:solidFill>
          <a:ln w="9525">
            <a:solidFill>
              <a:srgbClr val="2FD8A2"/>
            </a:solidFill>
            <a:prstDash val="solid"/>
          </a:ln>
        </p:spPr>
      </p:sp>
      <p:sp>
        <p:nvSpPr>
          <p:cNvPr id="21" name="Text 19"/>
          <p:cNvSpPr/>
          <p:nvPr/>
        </p:nvSpPr>
        <p:spPr>
          <a:xfrm>
            <a:off x="7349033" y="2194560"/>
            <a:ext cx="991210"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9. Trees</a:t>
            </a:r>
            <a:endParaRPr lang="en-US" sz="1050" dirty="0"/>
          </a:p>
        </p:txBody>
      </p:sp>
      <p:sp>
        <p:nvSpPr>
          <p:cNvPr id="22" name="Shape 20"/>
          <p:cNvSpPr/>
          <p:nvPr/>
        </p:nvSpPr>
        <p:spPr>
          <a:xfrm>
            <a:off x="8486546" y="2194560"/>
            <a:ext cx="1161288" cy="365760"/>
          </a:xfrm>
          <a:prstGeom prst="roundRect">
            <a:avLst>
              <a:gd name="adj" fmla="val 50000"/>
            </a:avLst>
          </a:prstGeom>
          <a:solidFill>
            <a:srgbClr val="16213E"/>
          </a:solidFill>
          <a:ln w="9525">
            <a:solidFill>
              <a:srgbClr val="2FD8A2"/>
            </a:solidFill>
            <a:prstDash val="solid"/>
          </a:ln>
        </p:spPr>
      </p:sp>
      <p:sp>
        <p:nvSpPr>
          <p:cNvPr id="23" name="Text 21"/>
          <p:cNvSpPr/>
          <p:nvPr/>
        </p:nvSpPr>
        <p:spPr>
          <a:xfrm>
            <a:off x="8486546" y="2194560"/>
            <a:ext cx="1161288"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10. Graphs</a:t>
            </a:r>
            <a:endParaRPr lang="en-US" sz="1050" dirty="0"/>
          </a:p>
        </p:txBody>
      </p:sp>
      <p:sp>
        <p:nvSpPr>
          <p:cNvPr id="24" name="Shape 22"/>
          <p:cNvSpPr/>
          <p:nvPr/>
        </p:nvSpPr>
        <p:spPr>
          <a:xfrm>
            <a:off x="502920" y="2697480"/>
            <a:ext cx="2266798" cy="365760"/>
          </a:xfrm>
          <a:prstGeom prst="roundRect">
            <a:avLst>
              <a:gd name="adj" fmla="val 50000"/>
            </a:avLst>
          </a:prstGeom>
          <a:solidFill>
            <a:srgbClr val="16213E"/>
          </a:solidFill>
          <a:ln w="9525">
            <a:solidFill>
              <a:srgbClr val="2FD8A2"/>
            </a:solidFill>
            <a:prstDash val="solid"/>
          </a:ln>
        </p:spPr>
      </p:sp>
      <p:sp>
        <p:nvSpPr>
          <p:cNvPr id="25" name="Text 23"/>
          <p:cNvSpPr/>
          <p:nvPr/>
        </p:nvSpPr>
        <p:spPr>
          <a:xfrm>
            <a:off x="502920" y="2697480"/>
            <a:ext cx="2266798" cy="365760"/>
          </a:xfrm>
          <a:prstGeom prst="rect">
            <a:avLst/>
          </a:prstGeom>
          <a:noFill/>
          <a:ln/>
        </p:spPr>
        <p:txBody>
          <a:bodyPr wrap="square" rtlCol="0" anchor="ctr"/>
          <a:lstStyle/>
          <a:p>
            <a:pPr algn="ctr" indent="0" marL="0">
              <a:buNone/>
            </a:pPr>
            <a:r>
              <a:rPr lang="en-US" sz="1050" dirty="0">
                <a:solidFill>
                  <a:srgbClr val="E7ECF5"/>
                </a:solidFill>
                <a:latin typeface="Calibri" pitchFamily="34" charset="0"/>
                <a:ea typeface="Calibri" pitchFamily="34" charset="-122"/>
                <a:cs typeface="Calibri" pitchFamily="34" charset="-120"/>
              </a:rPr>
              <a:t>11. Dynamic programming</a:t>
            </a:r>
            <a:endParaRPr lang="en-US" sz="1050" dirty="0"/>
          </a:p>
        </p:txBody>
      </p:sp>
      <p:sp>
        <p:nvSpPr>
          <p:cNvPr id="26" name="Shape 24"/>
          <p:cNvSpPr/>
          <p:nvPr/>
        </p:nvSpPr>
        <p:spPr>
          <a:xfrm>
            <a:off x="502920" y="3383280"/>
            <a:ext cx="11201400" cy="960120"/>
          </a:xfrm>
          <a:prstGeom prst="roundRect">
            <a:avLst>
              <a:gd name="adj" fmla="val 7619"/>
            </a:avLst>
          </a:prstGeom>
          <a:solidFill>
            <a:srgbClr val="141B33"/>
          </a:solidFill>
          <a:ln w="12700">
            <a:solidFill>
              <a:srgbClr val="2FD8A2"/>
            </a:solidFill>
            <a:prstDash val="solid"/>
          </a:ln>
        </p:spPr>
      </p:sp>
      <p:sp>
        <p:nvSpPr>
          <p:cNvPr id="27" name="Text 25"/>
          <p:cNvSpPr/>
          <p:nvPr/>
        </p:nvSpPr>
        <p:spPr>
          <a:xfrm>
            <a:off x="685800" y="3465576"/>
            <a:ext cx="10835640" cy="237744"/>
          </a:xfrm>
          <a:prstGeom prst="rect">
            <a:avLst/>
          </a:prstGeom>
          <a:noFill/>
          <a:ln/>
        </p:spPr>
        <p:txBody>
          <a:bodyPr wrap="square" rtlCol="0" anchor="ctr"/>
          <a:lstStyle/>
          <a:p>
            <a:pPr indent="0" marL="0">
              <a:buNone/>
            </a:pPr>
            <a:r>
              <a:rPr lang="en-US" sz="1050" b="1" spc="100" kern="0" dirty="0">
                <a:solidFill>
                  <a:srgbClr val="2FD8A2"/>
                </a:solidFill>
                <a:latin typeface="Calibri" pitchFamily="34" charset="0"/>
                <a:ea typeface="Calibri" pitchFamily="34" charset="-122"/>
                <a:cs typeface="Calibri" pitchFamily="34" charset="-120"/>
              </a:rPr>
              <a:t>One rule for the road</a:t>
            </a:r>
            <a:endParaRPr lang="en-US" sz="1050" dirty="0"/>
          </a:p>
        </p:txBody>
      </p:sp>
      <p:sp>
        <p:nvSpPr>
          <p:cNvPr id="28" name="Text 26"/>
          <p:cNvSpPr/>
          <p:nvPr/>
        </p:nvSpPr>
        <p:spPr>
          <a:xfrm>
            <a:off x="685800" y="3730752"/>
            <a:ext cx="10835640" cy="521208"/>
          </a:xfrm>
          <a:prstGeom prst="rect">
            <a:avLst/>
          </a:prstGeom>
          <a:noFill/>
          <a:ln/>
        </p:spPr>
        <p:txBody>
          <a:bodyPr wrap="square" rtlCol="0" anchor="t"/>
          <a:lstStyle/>
          <a:p>
            <a:pPr indent="0" marL="0">
              <a:buNone/>
            </a:pPr>
            <a:r>
              <a:rPr lang="en-US" sz="1100" dirty="0">
                <a:solidFill>
                  <a:srgbClr val="E7ECF5"/>
                </a:solidFill>
                <a:latin typeface="Calibri" pitchFamily="34" charset="0"/>
                <a:ea typeface="Calibri" pitchFamily="34" charset="-122"/>
                <a:cs typeface="Calibri" pitchFamily="34" charset="-120"/>
              </a:rPr>
              <a:t>Don't rush into advanced DSA until loops, functions, arrays, strings, vectors, and complexity feel comfortable. Speed comes from a solid foundation, not from skipping it.</a:t>
            </a:r>
            <a:endParaRPr lang="en-US" sz="1100" dirty="0"/>
          </a:p>
        </p:txBody>
      </p:sp>
      <p:sp>
        <p:nvSpPr>
          <p:cNvPr id="29" name="Text 27"/>
          <p:cNvSpPr/>
          <p:nvPr/>
        </p:nvSpPr>
        <p:spPr>
          <a:xfrm>
            <a:off x="502920" y="4572000"/>
            <a:ext cx="11201400" cy="457200"/>
          </a:xfrm>
          <a:prstGeom prst="rect">
            <a:avLst/>
          </a:prstGeom>
          <a:noFill/>
          <a:ln/>
        </p:spPr>
        <p:txBody>
          <a:bodyPr wrap="square" rtlCol="0" anchor="ctr"/>
          <a:lstStyle/>
          <a:p>
            <a:pPr algn="ctr" indent="0" marL="0">
              <a:buNone/>
            </a:pPr>
            <a:r>
              <a:rPr lang="en-US" sz="1800" b="1" dirty="0">
                <a:solidFill>
                  <a:srgbClr val="2FD8A2"/>
                </a:solidFill>
                <a:latin typeface="Cambria" pitchFamily="34" charset="0"/>
                <a:ea typeface="Cambria" pitchFamily="34" charset="-122"/>
                <a:cs typeface="Cambria" pitchFamily="34" charset="-120"/>
              </a:rPr>
              <a:t>You've got this, Farhaan. See you on Day 1.</a:t>
            </a:r>
            <a:endParaRPr lang="en-US" sz="1800" dirty="0"/>
          </a:p>
        </p:txBody>
      </p:sp>
      <p:sp>
        <p:nvSpPr>
          <p:cNvPr id="31" name="Text 28"/>
          <p:cNvSpPr/>
          <p:nvPr/>
        </p:nvSpPr>
        <p:spPr>
          <a:xfrm>
            <a:off x="502920" y="6473952"/>
            <a:ext cx="7315200" cy="274320"/>
          </a:xfrm>
          <a:prstGeom prst="rect">
            <a:avLst/>
          </a:prstGeom>
          <a:noFill/>
          <a:ln/>
        </p:spPr>
        <p:txBody>
          <a:bodyPr wrap="square" rtlCol="0" anchor="ctr"/>
          <a:lstStyle/>
          <a:p>
            <a:pPr indent="0" marL="0">
              <a:buNone/>
            </a:pPr>
            <a:r>
              <a:rPr lang="en-US" sz="850" spc="100" kern="0" dirty="0">
                <a:solidFill>
                  <a:srgbClr val="7C86AD"/>
                </a:solidFill>
                <a:latin typeface="Calibri" pitchFamily="34" charset="0"/>
                <a:ea typeface="Calibri" pitchFamily="34" charset="-122"/>
                <a:cs typeface="Calibri" pitchFamily="34" charset="-120"/>
              </a:rPr>
              <a:t>C++ FROM SCRATCH  ·  COLLEGE-STYLE FOUNDATIONS FOR DSA</a:t>
            </a:r>
            <a:endParaRPr lang="en-US" sz="850" dirty="0"/>
          </a:p>
        </p:txBody>
      </p:sp>
      <p:sp>
        <p:nvSpPr>
          <p:cNvPr id="32" name="Text 29"/>
          <p:cNvSpPr/>
          <p:nvPr/>
        </p:nvSpPr>
        <p:spPr>
          <a:xfrm>
            <a:off x="11140135" y="6473952"/>
            <a:ext cx="548640" cy="274320"/>
          </a:xfrm>
          <a:prstGeom prst="rect">
            <a:avLst/>
          </a:prstGeom>
          <a:noFill/>
          <a:ln/>
        </p:spPr>
        <p:txBody>
          <a:bodyPr wrap="square" rtlCol="0" anchor="ctr"/>
          <a:lstStyle/>
          <a:p>
            <a:pPr algn="r" indent="0" marL="0">
              <a:buNone/>
            </a:pPr>
            <a:r>
              <a:rPr lang="en-US" sz="850" dirty="0">
                <a:solidFill>
                  <a:srgbClr val="7C86AD"/>
                </a:solidFill>
                <a:latin typeface="Calibri" pitchFamily="34" charset="0"/>
                <a:ea typeface="Calibri" pitchFamily="34" charset="-122"/>
                <a:cs typeface="Calibri" pitchFamily="34" charset="-120"/>
              </a:rPr>
              <a:t>46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2026-07-14T06:43:03Z</dcterms:created>
  <dcterms:modified xsi:type="dcterms:W3CDTF">2026-07-14T06:43:03Z</dcterms:modified>
</cp:coreProperties>
</file>